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comment1.xml" ContentType="application/vnd.openxmlformats-officedocument.presentationml.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2" r:id="rId1"/>
  </p:sldMasterIdLst>
  <p:notesMasterIdLst>
    <p:notesMasterId r:id="rId21"/>
  </p:notesMasterIdLst>
  <p:sldIdLst>
    <p:sldId id="256" r:id="rId2"/>
    <p:sldId id="268" r:id="rId3"/>
    <p:sldId id="272" r:id="rId4"/>
    <p:sldId id="279" r:id="rId5"/>
    <p:sldId id="257" r:id="rId6"/>
    <p:sldId id="273" r:id="rId7"/>
    <p:sldId id="258" r:id="rId8"/>
    <p:sldId id="261" r:id="rId9"/>
    <p:sldId id="262" r:id="rId10"/>
    <p:sldId id="274" r:id="rId11"/>
    <p:sldId id="275" r:id="rId12"/>
    <p:sldId id="263" r:id="rId13"/>
    <p:sldId id="276" r:id="rId14"/>
    <p:sldId id="264" r:id="rId15"/>
    <p:sldId id="277" r:id="rId16"/>
    <p:sldId id="270" r:id="rId17"/>
    <p:sldId id="278" r:id="rId18"/>
    <p:sldId id="260" r:id="rId19"/>
    <p:sldId id="259"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ndrey Povaliy" initials="AP" lastIdx="3" clrIdx="0">
    <p:extLst>
      <p:ext uri="{19B8F6BF-5375-455C-9EA6-DF929625EA0E}">
        <p15:presenceInfo xmlns:p15="http://schemas.microsoft.com/office/powerpoint/2012/main" userId="7471c89e4e48ad7c"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71593"/>
  </p:normalViewPr>
  <p:slideViewPr>
    <p:cSldViewPr snapToGrid="0">
      <p:cViewPr varScale="1">
        <p:scale>
          <a:sx n="79" d="100"/>
          <a:sy n="79" d="100"/>
        </p:scale>
        <p:origin x="177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5-06-03T19:43:23.854" idx="2">
    <p:pos x="7569" y="1232"/>
    <p:text/>
    <p:extLst>
      <p:ext uri="{C676402C-5697-4E1C-873F-D02D1690AC5C}">
        <p15:threadingInfo xmlns:p15="http://schemas.microsoft.com/office/powerpoint/2012/main" timeZoneBias="-180"/>
      </p:ext>
    </p:extLst>
  </p:cm>
  <p:cm authorId="1" dt="2025-06-03T19:43:27.804" idx="3">
    <p:pos x="10" y="10"/>
    <p:text/>
    <p:extLst>
      <p:ext uri="{C676402C-5697-4E1C-873F-D02D1690AC5C}">
        <p15:threadingInfo xmlns:p15="http://schemas.microsoft.com/office/powerpoint/2012/main" timeZoneBias="-18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208FC4-7B4C-AE41-A3BE-193FA29A552D}" type="datetimeFigureOut">
              <a:rPr lang="ru-RU" smtClean="0"/>
              <a:t>03.06.2025</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CB01670-C036-3749-AA3F-633594AE6953}" type="slidenum">
              <a:rPr lang="ru-RU" smtClean="0"/>
              <a:t>‹#›</a:t>
            </a:fld>
            <a:endParaRPr lang="ru-RU"/>
          </a:p>
        </p:txBody>
      </p:sp>
    </p:spTree>
    <p:extLst>
      <p:ext uri="{BB962C8B-B14F-4D97-AF65-F5344CB8AC3E}">
        <p14:creationId xmlns:p14="http://schemas.microsoft.com/office/powerpoint/2010/main" val="29737785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217.18.63.8/"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200" kern="0" dirty="0">
                <a:solidFill>
                  <a:srgbClr val="000000"/>
                </a:solidFill>
                <a:effectLst/>
                <a:uFill>
                  <a:solidFill>
                    <a:srgbClr val="000000"/>
                  </a:solidFill>
                </a:uFill>
                <a:latin typeface="Times New Roman" panose="02020603050405020304" pitchFamily="18" charset="0"/>
                <a:ea typeface="Arial Unicode MS" panose="020B0604020202020204" pitchFamily="34" charset="-128"/>
                <a:cs typeface="Arial Unicode MS" panose="020B0604020202020204" pitchFamily="34" charset="-128"/>
              </a:rPr>
              <a:t>Разработка информационной-аналитической системы для исследования данных скрининга рака молочной железы</a:t>
            </a:r>
            <a:endParaRPr lang="ru-RU" sz="24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 dirty="0"/>
          </a:p>
          <a:p>
            <a:endParaRPr lang="ru-RU" dirty="0"/>
          </a:p>
        </p:txBody>
      </p:sp>
      <p:sp>
        <p:nvSpPr>
          <p:cNvPr id="4" name="Номер слайда 3"/>
          <p:cNvSpPr>
            <a:spLocks noGrp="1"/>
          </p:cNvSpPr>
          <p:nvPr>
            <p:ph type="sldNum" sz="quarter" idx="5"/>
          </p:nvPr>
        </p:nvSpPr>
        <p:spPr/>
        <p:txBody>
          <a:bodyPr/>
          <a:lstStyle/>
          <a:p>
            <a:fld id="{ECB01670-C036-3749-AA3F-633594AE6953}" type="slidenum">
              <a:rPr lang="ru-RU" smtClean="0"/>
              <a:t>1</a:t>
            </a:fld>
            <a:endParaRPr lang="ru-RU"/>
          </a:p>
        </p:txBody>
      </p:sp>
    </p:spTree>
    <p:extLst>
      <p:ext uri="{BB962C8B-B14F-4D97-AF65-F5344CB8AC3E}">
        <p14:creationId xmlns:p14="http://schemas.microsoft.com/office/powerpoint/2010/main" val="3103388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algn="just" eaLnBrk="1" hangingPunct="1">
              <a:buFont typeface="Wingdings" panose="05000000000000000000" pitchFamily="2" charset="2"/>
              <a:buChar char="ü"/>
            </a:pPr>
            <a:r>
              <a:rPr lang="ru-RU" altLang="ru-RU" sz="1200" dirty="0">
                <a:latin typeface="Times New Roman" panose="02020603050405020304" pitchFamily="18" charset="0"/>
                <a:cs typeface="Times New Roman" panose="02020603050405020304" pitchFamily="18" charset="0"/>
              </a:rPr>
              <a:t>Рак молочной железы одно из самых распространённых онкологических заболеваний в мире и является основной причиной смертности от злокачественных образований среди женщины(</a:t>
            </a:r>
            <a:r>
              <a:rPr lang="en-US" altLang="ru-RU" sz="1200" dirty="0">
                <a:latin typeface="Times New Roman" panose="02020603050405020304" pitchFamily="18" charset="0"/>
                <a:cs typeface="Times New Roman" panose="02020603050405020304" pitchFamily="18" charset="0"/>
              </a:rPr>
              <a:t> World Cancer Declaration Progress 2021).</a:t>
            </a:r>
          </a:p>
          <a:p>
            <a:pPr algn="just" eaLnBrk="1" hangingPunct="1">
              <a:buFont typeface="Wingdings" panose="05000000000000000000" pitchFamily="2" charset="2"/>
              <a:buChar char="ü"/>
            </a:pPr>
            <a:r>
              <a:rPr lang="ru-RU" altLang="ru-RU" sz="1200" dirty="0">
                <a:latin typeface="Times New Roman" panose="02020603050405020304" pitchFamily="18" charset="0"/>
                <a:cs typeface="Times New Roman" panose="02020603050405020304" pitchFamily="18" charset="0"/>
              </a:rPr>
              <a:t>Маммография является золотым стандартом в обследовании женщин, но имеет значительные недостатки у женщин с высокой рентгенологической плотностью молочных желез.</a:t>
            </a:r>
          </a:p>
          <a:p>
            <a:pPr algn="just" eaLnBrk="1" hangingPunct="1">
              <a:buFont typeface="Wingdings" panose="05000000000000000000" pitchFamily="2" charset="2"/>
              <a:buChar char="ü"/>
            </a:pPr>
            <a:r>
              <a:rPr lang="ru-RU" altLang="ru-RU" sz="1200" dirty="0">
                <a:latin typeface="Times New Roman" panose="02020603050405020304" pitchFamily="18" charset="0"/>
                <a:cs typeface="Times New Roman" panose="02020603050405020304" pitchFamily="18" charset="0"/>
              </a:rPr>
              <a:t>Плотная молочная железа- это преобладание фиброзно-железистой ткани над жировой тканью в строении МЖ, такая ткань плохо пропускает рентгеновские лучи, затрудняет визуализацию патологических изменений.</a:t>
            </a:r>
          </a:p>
          <a:p>
            <a:pPr algn="just" eaLnBrk="1" hangingPunct="1">
              <a:buFont typeface="Wingdings" panose="05000000000000000000" pitchFamily="2" charset="2"/>
              <a:buChar char="ü"/>
            </a:pPr>
            <a:r>
              <a:rPr lang="ru-RU" altLang="ru-RU" sz="1200" dirty="0">
                <a:latin typeface="Times New Roman" panose="02020603050405020304" pitchFamily="18" charset="0"/>
                <a:cs typeface="Times New Roman" panose="02020603050405020304" pitchFamily="18" charset="0"/>
              </a:rPr>
              <a:t>Отдельного освещения требует оценка возможностей скринингового метода для женщин в возрасте до 40 лет, где метод маммографии, золотой стандарт не является эффективным.</a:t>
            </a:r>
          </a:p>
          <a:p>
            <a:pPr marL="0" marR="0" lvl="0" indent="0" algn="just"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ru-RU" altLang="ru-RU" sz="1200" dirty="0">
                <a:latin typeface="Times New Roman" panose="02020603050405020304" pitchFamily="18" charset="0"/>
                <a:cs typeface="Times New Roman" panose="02020603050405020304" pitchFamily="18" charset="0"/>
              </a:rPr>
              <a:t>Скрининг – это ведущий метод борьбы с раком молочной железы</a:t>
            </a:r>
          </a:p>
          <a:p>
            <a:pPr algn="just" eaLnBrk="1" hangingPunct="1">
              <a:buFont typeface="Wingdings" panose="05000000000000000000" pitchFamily="2" charset="2"/>
              <a:buChar char="ü"/>
            </a:pPr>
            <a:endParaRPr lang="ru-RU" altLang="ru-RU" sz="1200" dirty="0">
              <a:latin typeface="Times New Roman" panose="02020603050405020304" pitchFamily="18" charset="0"/>
              <a:cs typeface="Times New Roman" panose="02020603050405020304" pitchFamily="18" charset="0"/>
            </a:endParaRPr>
          </a:p>
          <a:p>
            <a:endParaRPr lang="ru-RU" dirty="0"/>
          </a:p>
        </p:txBody>
      </p:sp>
      <p:sp>
        <p:nvSpPr>
          <p:cNvPr id="4" name="Номер слайда 3"/>
          <p:cNvSpPr>
            <a:spLocks noGrp="1"/>
          </p:cNvSpPr>
          <p:nvPr>
            <p:ph type="sldNum" sz="quarter" idx="5"/>
          </p:nvPr>
        </p:nvSpPr>
        <p:spPr/>
        <p:txBody>
          <a:bodyPr/>
          <a:lstStyle/>
          <a:p>
            <a:fld id="{ECB01670-C036-3749-AA3F-633594AE6953}" type="slidenum">
              <a:rPr lang="ru-RU" smtClean="0"/>
              <a:t>2</a:t>
            </a:fld>
            <a:endParaRPr lang="ru-RU"/>
          </a:p>
        </p:txBody>
      </p:sp>
    </p:spTree>
    <p:extLst>
      <p:ext uri="{BB962C8B-B14F-4D97-AF65-F5344CB8AC3E}">
        <p14:creationId xmlns:p14="http://schemas.microsoft.com/office/powerpoint/2010/main" val="6391095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Среди современных </a:t>
            </a:r>
            <a:r>
              <a:rPr lang="ru-RU" dirty="0" err="1"/>
              <a:t>методоы</a:t>
            </a:r>
            <a:r>
              <a:rPr lang="ru-RU" dirty="0"/>
              <a:t> скрининга рака молочной железы можно выделить </a:t>
            </a:r>
            <a:r>
              <a:rPr lang="ru-RU" dirty="0" err="1"/>
              <a:t>традиционноое</a:t>
            </a:r>
            <a:r>
              <a:rPr lang="ru-RU" dirty="0"/>
              <a:t> УЗИ исследование, время выполнения которого составляет 20-25 мин, обязательно врачом.</a:t>
            </a:r>
          </a:p>
          <a:p>
            <a:r>
              <a:rPr lang="ru-RU" dirty="0" err="1"/>
              <a:t>Автоматизированние</a:t>
            </a:r>
            <a:r>
              <a:rPr lang="ru-RU" dirty="0"/>
              <a:t> объемное УЗИ, время выполнения, которого составляет 10-15 мин. И золотой стандарт скрининга – это маммография.</a:t>
            </a:r>
          </a:p>
          <a:p>
            <a:endParaRPr lang="ru-RU" dirty="0"/>
          </a:p>
        </p:txBody>
      </p:sp>
      <p:sp>
        <p:nvSpPr>
          <p:cNvPr id="4" name="Номер слайда 3"/>
          <p:cNvSpPr>
            <a:spLocks noGrp="1"/>
          </p:cNvSpPr>
          <p:nvPr>
            <p:ph type="sldNum" sz="quarter" idx="5"/>
          </p:nvPr>
        </p:nvSpPr>
        <p:spPr/>
        <p:txBody>
          <a:bodyPr/>
          <a:lstStyle/>
          <a:p>
            <a:fld id="{ECB01670-C036-3749-AA3F-633594AE6953}" type="slidenum">
              <a:rPr lang="ru-RU" smtClean="0"/>
              <a:t>3</a:t>
            </a:fld>
            <a:endParaRPr lang="ru-RU"/>
          </a:p>
        </p:txBody>
      </p:sp>
    </p:spTree>
    <p:extLst>
      <p:ext uri="{BB962C8B-B14F-4D97-AF65-F5344CB8AC3E}">
        <p14:creationId xmlns:p14="http://schemas.microsoft.com/office/powerpoint/2010/main" val="17078051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200" dirty="0">
                <a:effectLst/>
                <a:latin typeface="Times New Roman" panose="02020603050405020304" pitchFamily="18" charset="0"/>
                <a:ea typeface="Calibri" panose="020F0502020204030204" pitchFamily="34" charset="0"/>
                <a:cs typeface="Times New Roman" panose="02020603050405020304" pitchFamily="18" charset="0"/>
              </a:rPr>
              <a:t>В данной работе решение задачи машинного обучения преследует цель оптимизации потоков. Автоматизированная трехмерная УЗИ система позволяет сократить нагрузка на лечебное учреждение без потери качества скрининга. Распределение вероятностей обнаружения ЗНО, то можно обратить внимание, что пациенток, у которых эта вероятность высокая - меньшинство. Из все выборки 256 пациенток имеют вероятность обнаружения более 0.5, что составляет 9.16% от общего числа пациентов. Или если посмотреть на количество верифицированных диагнозов, а именно 226 пациентов, что составляет 8.08%. То есть всего 8.08% - 9.16% пациентов нуждаются в осмотре врачом традиционным методом УЗИ, остальные могут проходить скрининг рака МЖ автоматизированной трехмерной УЗИ системой.</a:t>
            </a:r>
            <a:endParaRPr lang="ru-RU" sz="1200" dirty="0">
              <a:effectLst/>
              <a:latin typeface="Calibri" panose="020F0502020204030204" pitchFamily="34" charset="0"/>
              <a:ea typeface="Calibri" panose="020F0502020204030204" pitchFamily="34" charset="0"/>
              <a:cs typeface="Times New Roman" panose="02020603050405020304" pitchFamily="18" charset="0"/>
            </a:endParaRPr>
          </a:p>
          <a:p>
            <a:endParaRPr lang="ru-RU" dirty="0"/>
          </a:p>
        </p:txBody>
      </p:sp>
      <p:sp>
        <p:nvSpPr>
          <p:cNvPr id="4" name="Номер слайда 3"/>
          <p:cNvSpPr>
            <a:spLocks noGrp="1"/>
          </p:cNvSpPr>
          <p:nvPr>
            <p:ph type="sldNum" sz="quarter" idx="5"/>
          </p:nvPr>
        </p:nvSpPr>
        <p:spPr/>
        <p:txBody>
          <a:bodyPr/>
          <a:lstStyle/>
          <a:p>
            <a:fld id="{ECB01670-C036-3749-AA3F-633594AE6953}" type="slidenum">
              <a:rPr lang="ru-RU" smtClean="0"/>
              <a:t>4</a:t>
            </a:fld>
            <a:endParaRPr lang="ru-RU"/>
          </a:p>
        </p:txBody>
      </p:sp>
    </p:spTree>
    <p:extLst>
      <p:ext uri="{BB962C8B-B14F-4D97-AF65-F5344CB8AC3E}">
        <p14:creationId xmlns:p14="http://schemas.microsoft.com/office/powerpoint/2010/main" val="41040658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800" b="1" dirty="0">
                <a:cs typeface="Times New Roman" panose="02020603050405020304" pitchFamily="18" charset="0"/>
              </a:rPr>
              <a:t>Цель</a:t>
            </a:r>
            <a:r>
              <a:rPr lang="ru-RU" sz="1600" dirty="0">
                <a:cs typeface="Times New Roman" panose="02020603050405020304" pitchFamily="18" charset="0"/>
              </a:rPr>
              <a:t> </a:t>
            </a:r>
            <a:r>
              <a:rPr lang="ru-RU" sz="1200" dirty="0">
                <a:effectLst/>
                <a:ea typeface="Calibri" panose="020F0502020204030204" pitchFamily="34" charset="0"/>
                <a:cs typeface="Times New Roman" panose="02020603050405020304" pitchFamily="18" charset="0"/>
              </a:rPr>
              <a:t>Необходимо разработать информационно-аналитическую систему (интерактивный </a:t>
            </a:r>
            <a:r>
              <a:rPr lang="ru-RU" sz="1200" dirty="0" err="1">
                <a:effectLst/>
                <a:ea typeface="Calibri" panose="020F0502020204030204" pitchFamily="34" charset="0"/>
                <a:cs typeface="Times New Roman" panose="02020603050405020304" pitchFamily="18" charset="0"/>
              </a:rPr>
              <a:t>дашборд</a:t>
            </a:r>
            <a:r>
              <a:rPr lang="ru-RU" sz="1200" dirty="0">
                <a:effectLst/>
                <a:ea typeface="Calibri" panose="020F0502020204030204" pitchFamily="34" charset="0"/>
                <a:cs typeface="Times New Roman" panose="02020603050405020304" pitchFamily="18" charset="0"/>
              </a:rPr>
              <a:t>), позволяющий пользователям получать доступ к результатам исследований рака молочной железы.</a:t>
            </a:r>
          </a:p>
          <a:p>
            <a:endParaRPr lang="ru-RU" dirty="0"/>
          </a:p>
        </p:txBody>
      </p:sp>
      <p:sp>
        <p:nvSpPr>
          <p:cNvPr id="4" name="Номер слайда 3"/>
          <p:cNvSpPr>
            <a:spLocks noGrp="1"/>
          </p:cNvSpPr>
          <p:nvPr>
            <p:ph type="sldNum" sz="quarter" idx="5"/>
          </p:nvPr>
        </p:nvSpPr>
        <p:spPr/>
        <p:txBody>
          <a:bodyPr/>
          <a:lstStyle/>
          <a:p>
            <a:fld id="{ECB01670-C036-3749-AA3F-633594AE6953}" type="slidenum">
              <a:rPr lang="ru-RU" smtClean="0"/>
              <a:t>5</a:t>
            </a:fld>
            <a:endParaRPr lang="ru-RU"/>
          </a:p>
        </p:txBody>
      </p:sp>
    </p:spTree>
    <p:extLst>
      <p:ext uri="{BB962C8B-B14F-4D97-AF65-F5344CB8AC3E}">
        <p14:creationId xmlns:p14="http://schemas.microsoft.com/office/powerpoint/2010/main" val="36436764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342900" lvl="0" indent="-342900" algn="just">
              <a:lnSpc>
                <a:spcPct val="150000"/>
              </a:lnSpc>
              <a:spcBef>
                <a:spcPts val="180"/>
              </a:spcBef>
              <a:spcAft>
                <a:spcPts val="180"/>
              </a:spcAft>
              <a:buFont typeface="+mj-lt"/>
              <a:buAutoNum type="arabicPeriod"/>
            </a:pPr>
            <a:r>
              <a:rPr lang="ru-RU" sz="1200" dirty="0">
                <a:effectLst/>
                <a:ea typeface="Calibri" panose="020F0502020204030204" pitchFamily="34" charset="0"/>
                <a:cs typeface="Times New Roman" panose="02020603050405020304" pitchFamily="18" charset="0"/>
              </a:rPr>
              <a:t>Провести сбор и обработку данных.</a:t>
            </a:r>
          </a:p>
          <a:p>
            <a:pPr marL="342900" lvl="0" indent="-342900" algn="just">
              <a:lnSpc>
                <a:spcPct val="150000"/>
              </a:lnSpc>
              <a:spcBef>
                <a:spcPts val="180"/>
              </a:spcBef>
              <a:spcAft>
                <a:spcPts val="180"/>
              </a:spcAft>
              <a:buFont typeface="+mj-lt"/>
              <a:buAutoNum type="arabicPeriod"/>
            </a:pPr>
            <a:r>
              <a:rPr lang="ru-RU" sz="1200" dirty="0">
                <a:effectLst/>
                <a:ea typeface="Calibri" panose="020F0502020204030204" pitchFamily="34" charset="0"/>
                <a:cs typeface="Times New Roman" panose="02020603050405020304" pitchFamily="18" charset="0"/>
              </a:rPr>
              <a:t>Провести исследовательский анализ данных для выявления тенденций, распределений и аномалий.</a:t>
            </a:r>
          </a:p>
          <a:p>
            <a:pPr marL="342900" lvl="0" indent="-342900" algn="just">
              <a:lnSpc>
                <a:spcPct val="150000"/>
              </a:lnSpc>
              <a:spcBef>
                <a:spcPts val="180"/>
              </a:spcBef>
              <a:spcAft>
                <a:spcPts val="180"/>
              </a:spcAft>
              <a:buFont typeface="+mj-lt"/>
              <a:buAutoNum type="arabicPeriod"/>
            </a:pPr>
            <a:r>
              <a:rPr lang="ru-RU" sz="1200" dirty="0">
                <a:effectLst/>
                <a:ea typeface="Calibri" panose="020F0502020204030204" pitchFamily="34" charset="0"/>
                <a:cs typeface="Times New Roman" panose="02020603050405020304" pitchFamily="18" charset="0"/>
              </a:rPr>
              <a:t>Использовать методы статистического анализа и машинного обучения для определения взаимосвязей между потенциальными факторами маршрутизации пациента.</a:t>
            </a:r>
          </a:p>
          <a:p>
            <a:pPr marL="342900" lvl="0" indent="-342900" algn="just">
              <a:lnSpc>
                <a:spcPct val="150000"/>
              </a:lnSpc>
              <a:spcBef>
                <a:spcPts val="180"/>
              </a:spcBef>
              <a:spcAft>
                <a:spcPts val="180"/>
              </a:spcAft>
              <a:buFont typeface="+mj-lt"/>
              <a:buAutoNum type="arabicPeriod"/>
            </a:pPr>
            <a:r>
              <a:rPr lang="ru-RU" sz="1200" dirty="0">
                <a:effectLst/>
                <a:ea typeface="Calibri" panose="020F0502020204030204" pitchFamily="34" charset="0"/>
                <a:cs typeface="Times New Roman" panose="02020603050405020304" pitchFamily="18" charset="0"/>
              </a:rPr>
              <a:t>Подготовить результаты анализа в виде блокнота </a:t>
            </a:r>
            <a:r>
              <a:rPr lang="en-US" sz="1200" dirty="0" err="1">
                <a:effectLst/>
                <a:ea typeface="Calibri" panose="020F0502020204030204" pitchFamily="34" charset="0"/>
                <a:cs typeface="Times New Roman" panose="02020603050405020304" pitchFamily="18" charset="0"/>
              </a:rPr>
              <a:t>Jupyter</a:t>
            </a:r>
            <a:r>
              <a:rPr lang="en-US" sz="1200" dirty="0">
                <a:effectLst/>
                <a:ea typeface="Calibri" panose="020F0502020204030204" pitchFamily="34" charset="0"/>
                <a:cs typeface="Times New Roman" panose="02020603050405020304" pitchFamily="18" charset="0"/>
              </a:rPr>
              <a:t> Notebook</a:t>
            </a:r>
            <a:r>
              <a:rPr lang="ru-RU" sz="1200" dirty="0">
                <a:effectLst/>
                <a:ea typeface="Calibri" panose="020F0502020204030204" pitchFamily="34" charset="0"/>
                <a:cs typeface="Times New Roman" panose="02020603050405020304" pitchFamily="18" charset="0"/>
              </a:rPr>
              <a:t>.</a:t>
            </a:r>
          </a:p>
          <a:p>
            <a:pPr marL="342900" lvl="0" indent="-342900" algn="just">
              <a:lnSpc>
                <a:spcPct val="150000"/>
              </a:lnSpc>
              <a:spcBef>
                <a:spcPts val="180"/>
              </a:spcBef>
              <a:spcAft>
                <a:spcPts val="180"/>
              </a:spcAft>
              <a:buFont typeface="+mj-lt"/>
              <a:buAutoNum type="arabicPeriod"/>
            </a:pPr>
            <a:r>
              <a:rPr lang="ru-RU" sz="1200" dirty="0">
                <a:effectLst/>
                <a:ea typeface="Calibri" panose="020F0502020204030204" pitchFamily="34" charset="0"/>
                <a:cs typeface="Times New Roman" panose="02020603050405020304" pitchFamily="18" charset="0"/>
              </a:rPr>
              <a:t>Разработать интерактивный </a:t>
            </a:r>
            <a:r>
              <a:rPr lang="ru-RU" sz="1200" dirty="0" err="1">
                <a:effectLst/>
                <a:ea typeface="Calibri" panose="020F0502020204030204" pitchFamily="34" charset="0"/>
                <a:cs typeface="Times New Roman" panose="02020603050405020304" pitchFamily="18" charset="0"/>
              </a:rPr>
              <a:t>дашборд</a:t>
            </a:r>
            <a:r>
              <a:rPr lang="ru-RU" sz="1200" dirty="0">
                <a:effectLst/>
                <a:ea typeface="Calibri" panose="020F0502020204030204" pitchFamily="34" charset="0"/>
                <a:cs typeface="Times New Roman" panose="02020603050405020304" pitchFamily="18" charset="0"/>
              </a:rPr>
              <a:t> для представления результатов исследования средствами </a:t>
            </a:r>
            <a:r>
              <a:rPr lang="en-US" sz="1200" dirty="0">
                <a:effectLst/>
                <a:ea typeface="Calibri" panose="020F0502020204030204" pitchFamily="34" charset="0"/>
                <a:cs typeface="Times New Roman" panose="02020603050405020304" pitchFamily="18" charset="0"/>
              </a:rPr>
              <a:t>Python</a:t>
            </a:r>
            <a:r>
              <a:rPr lang="ru-RU" sz="1200" dirty="0">
                <a:effectLst/>
                <a:ea typeface="Calibri" panose="020F0502020204030204" pitchFamily="34" charset="0"/>
                <a:cs typeface="Times New Roman" panose="02020603050405020304" pitchFamily="18" charset="0"/>
              </a:rPr>
              <a:t> библиотек (</a:t>
            </a:r>
            <a:r>
              <a:rPr lang="en-US" sz="1200" dirty="0">
                <a:effectLst/>
                <a:ea typeface="Calibri" panose="020F0502020204030204" pitchFamily="34" charset="0"/>
                <a:cs typeface="Times New Roman" panose="02020603050405020304" pitchFamily="18" charset="0"/>
              </a:rPr>
              <a:t>Pandas</a:t>
            </a:r>
            <a:r>
              <a:rPr lang="ru-RU" sz="1200" dirty="0">
                <a:effectLst/>
                <a:ea typeface="Calibri" panose="020F0502020204030204" pitchFamily="34" charset="0"/>
                <a:cs typeface="Times New Roman" panose="02020603050405020304" pitchFamily="18" charset="0"/>
              </a:rPr>
              <a:t>, </a:t>
            </a:r>
            <a:r>
              <a:rPr lang="en-US" sz="1200" dirty="0" err="1">
                <a:effectLst/>
                <a:ea typeface="Calibri" panose="020F0502020204030204" pitchFamily="34" charset="0"/>
                <a:cs typeface="Times New Roman" panose="02020603050405020304" pitchFamily="18" charset="0"/>
              </a:rPr>
              <a:t>Numpy</a:t>
            </a:r>
            <a:r>
              <a:rPr lang="ru-RU" sz="1200" dirty="0">
                <a:effectLst/>
                <a:ea typeface="Calibri" panose="020F0502020204030204" pitchFamily="34" charset="0"/>
                <a:cs typeface="Times New Roman" panose="02020603050405020304" pitchFamily="18" charset="0"/>
              </a:rPr>
              <a:t>, </a:t>
            </a:r>
            <a:r>
              <a:rPr lang="en-US" sz="1200" dirty="0">
                <a:effectLst/>
                <a:ea typeface="Calibri" panose="020F0502020204030204" pitchFamily="34" charset="0"/>
                <a:cs typeface="Times New Roman" panose="02020603050405020304" pitchFamily="18" charset="0"/>
              </a:rPr>
              <a:t>Matplotlib</a:t>
            </a:r>
            <a:r>
              <a:rPr lang="ru-RU" sz="1200" dirty="0">
                <a:effectLst/>
                <a:ea typeface="Calibri" panose="020F0502020204030204" pitchFamily="34" charset="0"/>
                <a:cs typeface="Times New Roman" panose="02020603050405020304" pitchFamily="18" charset="0"/>
              </a:rPr>
              <a:t>, </a:t>
            </a:r>
            <a:r>
              <a:rPr lang="en-US" sz="1200" dirty="0">
                <a:effectLst/>
                <a:ea typeface="Calibri" panose="020F0502020204030204" pitchFamily="34" charset="0"/>
                <a:cs typeface="Times New Roman" panose="02020603050405020304" pitchFamily="18" charset="0"/>
              </a:rPr>
              <a:t>Seaborn</a:t>
            </a:r>
            <a:r>
              <a:rPr lang="ru-RU" sz="1200" dirty="0">
                <a:effectLst/>
                <a:ea typeface="Calibri" panose="020F0502020204030204" pitchFamily="34" charset="0"/>
                <a:cs typeface="Times New Roman" panose="02020603050405020304" pitchFamily="18" charset="0"/>
              </a:rPr>
              <a:t>, </a:t>
            </a:r>
            <a:r>
              <a:rPr lang="en-US" sz="1200" dirty="0" err="1">
                <a:effectLst/>
                <a:ea typeface="Calibri" panose="020F0502020204030204" pitchFamily="34" charset="0"/>
                <a:cs typeface="Times New Roman" panose="02020603050405020304" pitchFamily="18" charset="0"/>
              </a:rPr>
              <a:t>Skikit</a:t>
            </a:r>
            <a:r>
              <a:rPr lang="ru-RU" sz="1200" dirty="0">
                <a:effectLst/>
                <a:ea typeface="Calibri" panose="020F0502020204030204" pitchFamily="34" charset="0"/>
                <a:cs typeface="Times New Roman" panose="02020603050405020304" pitchFamily="18" charset="0"/>
              </a:rPr>
              <a:t>-</a:t>
            </a:r>
            <a:r>
              <a:rPr lang="en-US" sz="1200" dirty="0">
                <a:effectLst/>
                <a:ea typeface="Calibri" panose="020F0502020204030204" pitchFamily="34" charset="0"/>
                <a:cs typeface="Times New Roman" panose="02020603050405020304" pitchFamily="18" charset="0"/>
              </a:rPr>
              <a:t>Learn</a:t>
            </a:r>
            <a:r>
              <a:rPr lang="ru-RU" sz="1200" dirty="0">
                <a:effectLst/>
                <a:ea typeface="Calibri" panose="020F0502020204030204" pitchFamily="34" charset="0"/>
                <a:cs typeface="Times New Roman" panose="02020603050405020304" pitchFamily="18" charset="0"/>
              </a:rPr>
              <a:t>, </a:t>
            </a:r>
            <a:r>
              <a:rPr lang="en-US" sz="1200" dirty="0" err="1">
                <a:effectLst/>
                <a:ea typeface="Calibri" panose="020F0502020204030204" pitchFamily="34" charset="0"/>
                <a:cs typeface="Times New Roman" panose="02020603050405020304" pitchFamily="18" charset="0"/>
              </a:rPr>
              <a:t>Statsmodels</a:t>
            </a:r>
            <a:r>
              <a:rPr lang="ru-RU" sz="1200" dirty="0">
                <a:effectLst/>
                <a:ea typeface="Calibri" panose="020F0502020204030204" pitchFamily="34" charset="0"/>
                <a:cs typeface="Times New Roman" panose="02020603050405020304" pitchFamily="18" charset="0"/>
              </a:rPr>
              <a:t>, </a:t>
            </a:r>
            <a:r>
              <a:rPr lang="en-US" sz="1200" dirty="0" err="1">
                <a:effectLst/>
                <a:ea typeface="Calibri" panose="020F0502020204030204" pitchFamily="34" charset="0"/>
                <a:cs typeface="Times New Roman" panose="02020603050405020304" pitchFamily="18" charset="0"/>
              </a:rPr>
              <a:t>Plotly</a:t>
            </a:r>
            <a:r>
              <a:rPr lang="ru-RU" sz="1200" dirty="0">
                <a:effectLst/>
                <a:ea typeface="Calibri" panose="020F0502020204030204" pitchFamily="34" charset="0"/>
                <a:cs typeface="Times New Roman" panose="02020603050405020304" pitchFamily="18" charset="0"/>
              </a:rPr>
              <a:t>, </a:t>
            </a:r>
            <a:r>
              <a:rPr lang="en-US" sz="1200" dirty="0">
                <a:effectLst/>
                <a:ea typeface="Calibri" panose="020F0502020204030204" pitchFamily="34" charset="0"/>
                <a:cs typeface="Times New Roman" panose="02020603050405020304" pitchFamily="18" charset="0"/>
              </a:rPr>
              <a:t>Dash</a:t>
            </a:r>
            <a:r>
              <a:rPr lang="ru-RU" sz="1200" dirty="0">
                <a:effectLst/>
                <a:ea typeface="Calibri" panose="020F0502020204030204" pitchFamily="34" charset="0"/>
                <a:cs typeface="Times New Roman" panose="02020603050405020304" pitchFamily="18" charset="0"/>
              </a:rPr>
              <a:t> и другими).</a:t>
            </a:r>
          </a:p>
          <a:p>
            <a:pPr marL="342900" lvl="0" indent="-342900" algn="just">
              <a:lnSpc>
                <a:spcPct val="150000"/>
              </a:lnSpc>
              <a:spcBef>
                <a:spcPts val="180"/>
              </a:spcBef>
              <a:spcAft>
                <a:spcPts val="180"/>
              </a:spcAft>
              <a:buFont typeface="+mj-lt"/>
              <a:buAutoNum type="arabicPeriod"/>
            </a:pPr>
            <a:r>
              <a:rPr lang="ru-RU" sz="1200" dirty="0">
                <a:effectLst/>
                <a:ea typeface="Calibri" panose="020F0502020204030204" pitchFamily="34" charset="0"/>
                <a:cs typeface="Times New Roman" panose="02020603050405020304" pitchFamily="18" charset="0"/>
              </a:rPr>
              <a:t>Разработать модель машинного обучения, способную определять с минимальной погрешностью маршрутизацию пациента.</a:t>
            </a:r>
          </a:p>
          <a:p>
            <a:pPr marL="342900" lvl="0" indent="-342900" algn="just">
              <a:lnSpc>
                <a:spcPct val="150000"/>
              </a:lnSpc>
              <a:spcBef>
                <a:spcPts val="180"/>
              </a:spcBef>
              <a:spcAft>
                <a:spcPts val="180"/>
              </a:spcAft>
              <a:buFont typeface="+mj-lt"/>
              <a:buAutoNum type="arabicPeriod"/>
            </a:pPr>
            <a:r>
              <a:rPr lang="ru-RU" sz="1200" dirty="0">
                <a:effectLst/>
                <a:ea typeface="Calibri" panose="020F0502020204030204" pitchFamily="34" charset="0"/>
                <a:cs typeface="Times New Roman" panose="02020603050405020304" pitchFamily="18" charset="0"/>
              </a:rPr>
              <a:t>Интегрировать модель машинного обучения в приложение.</a:t>
            </a:r>
          </a:p>
          <a:p>
            <a:pPr marL="342900" lvl="0" indent="-342900" algn="just">
              <a:lnSpc>
                <a:spcPct val="150000"/>
              </a:lnSpc>
              <a:spcBef>
                <a:spcPts val="180"/>
              </a:spcBef>
              <a:spcAft>
                <a:spcPts val="180"/>
              </a:spcAft>
              <a:buFont typeface="+mj-lt"/>
              <a:buAutoNum type="arabicPeriod"/>
            </a:pPr>
            <a:r>
              <a:rPr lang="ru-RU" sz="1200" dirty="0">
                <a:effectLst/>
                <a:ea typeface="Calibri" panose="020F0502020204030204" pitchFamily="34" charset="0"/>
                <a:cs typeface="Times New Roman" panose="02020603050405020304" pitchFamily="18" charset="0"/>
              </a:rPr>
              <a:t>Разработать интерактивную форму (как часть информационно-аналитической системы), для использования предсказательной модели машинного обучения.</a:t>
            </a:r>
          </a:p>
          <a:p>
            <a:pPr marL="342900" lvl="0" indent="-342900" algn="just">
              <a:lnSpc>
                <a:spcPct val="150000"/>
              </a:lnSpc>
              <a:spcBef>
                <a:spcPts val="180"/>
              </a:spcBef>
              <a:spcAft>
                <a:spcPts val="180"/>
              </a:spcAft>
              <a:buFont typeface="+mj-lt"/>
              <a:buAutoNum type="arabicPeriod"/>
            </a:pPr>
            <a:r>
              <a:rPr lang="ru-RU" sz="1200" dirty="0">
                <a:effectLst/>
                <a:ea typeface="Calibri" panose="020F0502020204030204" pitchFamily="34" charset="0"/>
                <a:cs typeface="Times New Roman" panose="02020603050405020304" pitchFamily="18" charset="0"/>
              </a:rPr>
              <a:t>Развернуть приложение в облачном сервисе.</a:t>
            </a:r>
          </a:p>
          <a:p>
            <a:endParaRPr lang="ru-RU" dirty="0"/>
          </a:p>
        </p:txBody>
      </p:sp>
      <p:sp>
        <p:nvSpPr>
          <p:cNvPr id="4" name="Номер слайда 3"/>
          <p:cNvSpPr>
            <a:spLocks noGrp="1"/>
          </p:cNvSpPr>
          <p:nvPr>
            <p:ph type="sldNum" sz="quarter" idx="5"/>
          </p:nvPr>
        </p:nvSpPr>
        <p:spPr/>
        <p:txBody>
          <a:bodyPr/>
          <a:lstStyle/>
          <a:p>
            <a:fld id="{ECB01670-C036-3749-AA3F-633594AE6953}" type="slidenum">
              <a:rPr lang="ru-RU" smtClean="0"/>
              <a:t>6</a:t>
            </a:fld>
            <a:endParaRPr lang="ru-RU"/>
          </a:p>
        </p:txBody>
      </p:sp>
    </p:spTree>
    <p:extLst>
      <p:ext uri="{BB962C8B-B14F-4D97-AF65-F5344CB8AC3E}">
        <p14:creationId xmlns:p14="http://schemas.microsoft.com/office/powerpoint/2010/main" val="37427722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2400" dirty="0"/>
              <a:t>Среди программных средств были:</a:t>
            </a:r>
            <a:endParaRPr lang="en-US" sz="2400" dirty="0"/>
          </a:p>
          <a:p>
            <a:r>
              <a:rPr lang="ru-RU" sz="2400" dirty="0"/>
              <a:t>Языки программирования</a:t>
            </a:r>
            <a:r>
              <a:rPr lang="en-US" sz="2400" dirty="0"/>
              <a:t>:</a:t>
            </a:r>
            <a:r>
              <a:rPr lang="ru-RU" sz="2400" dirty="0"/>
              <a:t> </a:t>
            </a:r>
            <a:r>
              <a:rPr lang="en-US" sz="2400" dirty="0"/>
              <a:t>Python</a:t>
            </a:r>
            <a:r>
              <a:rPr lang="ru-RU" sz="2400" dirty="0"/>
              <a:t>, </a:t>
            </a:r>
            <a:r>
              <a:rPr lang="en-US" sz="2400" dirty="0"/>
              <a:t>R</a:t>
            </a:r>
          </a:p>
          <a:p>
            <a:pPr lvl="1"/>
            <a:r>
              <a:rPr lang="ru-RU" sz="2000" dirty="0"/>
              <a:t>Библиотеки </a:t>
            </a:r>
            <a:r>
              <a:rPr lang="en-US" sz="2000" dirty="0"/>
              <a:t>Python</a:t>
            </a:r>
            <a:r>
              <a:rPr lang="ru-RU" sz="2000" dirty="0"/>
              <a:t>: </a:t>
            </a:r>
            <a:r>
              <a:rPr lang="en-US" sz="2000" dirty="0">
                <a:effectLst/>
                <a:ea typeface="Calibri" panose="020F0502020204030204" pitchFamily="34" charset="0"/>
                <a:cs typeface="Times New Roman" panose="02020603050405020304" pitchFamily="18" charset="0"/>
              </a:rPr>
              <a:t>Pandas</a:t>
            </a:r>
            <a:r>
              <a:rPr lang="ru-RU" sz="2000" dirty="0">
                <a:effectLst/>
                <a:ea typeface="Calibri" panose="020F0502020204030204" pitchFamily="34" charset="0"/>
                <a:cs typeface="Times New Roman" panose="02020603050405020304" pitchFamily="18" charset="0"/>
              </a:rPr>
              <a:t>, </a:t>
            </a:r>
            <a:r>
              <a:rPr lang="en-US" sz="2000" dirty="0" err="1">
                <a:effectLst/>
                <a:ea typeface="Calibri" panose="020F0502020204030204" pitchFamily="34" charset="0"/>
                <a:cs typeface="Times New Roman" panose="02020603050405020304" pitchFamily="18" charset="0"/>
              </a:rPr>
              <a:t>Numpy</a:t>
            </a:r>
            <a:r>
              <a:rPr lang="ru-RU" sz="2000" dirty="0">
                <a:effectLst/>
                <a:ea typeface="Calibri" panose="020F0502020204030204" pitchFamily="34" charset="0"/>
                <a:cs typeface="Times New Roman" panose="02020603050405020304" pitchFamily="18" charset="0"/>
              </a:rPr>
              <a:t>, </a:t>
            </a:r>
            <a:r>
              <a:rPr lang="en-US" sz="2000" dirty="0">
                <a:effectLst/>
                <a:ea typeface="Calibri" panose="020F0502020204030204" pitchFamily="34" charset="0"/>
                <a:cs typeface="Times New Roman" panose="02020603050405020304" pitchFamily="18" charset="0"/>
              </a:rPr>
              <a:t>Matplotlib</a:t>
            </a:r>
            <a:r>
              <a:rPr lang="ru-RU" sz="2000" dirty="0">
                <a:effectLst/>
                <a:ea typeface="Calibri" panose="020F0502020204030204" pitchFamily="34" charset="0"/>
                <a:cs typeface="Times New Roman" panose="02020603050405020304" pitchFamily="18" charset="0"/>
              </a:rPr>
              <a:t>, </a:t>
            </a:r>
            <a:r>
              <a:rPr lang="en-US" sz="2000" dirty="0">
                <a:effectLst/>
                <a:ea typeface="Calibri" panose="020F0502020204030204" pitchFamily="34" charset="0"/>
                <a:cs typeface="Times New Roman" panose="02020603050405020304" pitchFamily="18" charset="0"/>
              </a:rPr>
              <a:t>Seaborn</a:t>
            </a:r>
            <a:r>
              <a:rPr lang="ru-RU" sz="2000" dirty="0">
                <a:effectLst/>
                <a:ea typeface="Calibri" panose="020F0502020204030204" pitchFamily="34" charset="0"/>
                <a:cs typeface="Times New Roman" panose="02020603050405020304" pitchFamily="18" charset="0"/>
              </a:rPr>
              <a:t>, </a:t>
            </a:r>
            <a:r>
              <a:rPr lang="en-US" sz="2000" dirty="0" err="1">
                <a:effectLst/>
                <a:ea typeface="Calibri" panose="020F0502020204030204" pitchFamily="34" charset="0"/>
                <a:cs typeface="Times New Roman" panose="02020603050405020304" pitchFamily="18" charset="0"/>
              </a:rPr>
              <a:t>Skikit</a:t>
            </a:r>
            <a:r>
              <a:rPr lang="ru-RU" sz="2000" dirty="0">
                <a:effectLst/>
                <a:ea typeface="Calibri" panose="020F0502020204030204" pitchFamily="34" charset="0"/>
                <a:cs typeface="Times New Roman" panose="02020603050405020304" pitchFamily="18" charset="0"/>
              </a:rPr>
              <a:t>-</a:t>
            </a:r>
            <a:r>
              <a:rPr lang="en-US" sz="2000" dirty="0">
                <a:effectLst/>
                <a:ea typeface="Calibri" panose="020F0502020204030204" pitchFamily="34" charset="0"/>
                <a:cs typeface="Times New Roman" panose="02020603050405020304" pitchFamily="18" charset="0"/>
              </a:rPr>
              <a:t>Learn</a:t>
            </a:r>
            <a:r>
              <a:rPr lang="ru-RU" sz="2000" dirty="0">
                <a:effectLst/>
                <a:ea typeface="Calibri" panose="020F0502020204030204" pitchFamily="34" charset="0"/>
                <a:cs typeface="Times New Roman" panose="02020603050405020304" pitchFamily="18" charset="0"/>
              </a:rPr>
              <a:t>, </a:t>
            </a:r>
            <a:r>
              <a:rPr lang="en-US" sz="2000" dirty="0" err="1">
                <a:effectLst/>
                <a:ea typeface="Calibri" panose="020F0502020204030204" pitchFamily="34" charset="0"/>
                <a:cs typeface="Times New Roman" panose="02020603050405020304" pitchFamily="18" charset="0"/>
              </a:rPr>
              <a:t>Statsmodels</a:t>
            </a:r>
            <a:r>
              <a:rPr lang="ru-RU" sz="2000" dirty="0">
                <a:effectLst/>
                <a:ea typeface="Calibri" panose="020F0502020204030204" pitchFamily="34" charset="0"/>
                <a:cs typeface="Times New Roman" panose="02020603050405020304" pitchFamily="18" charset="0"/>
              </a:rPr>
              <a:t>, </a:t>
            </a:r>
            <a:r>
              <a:rPr lang="en-US" sz="2000" dirty="0" err="1">
                <a:effectLst/>
                <a:ea typeface="Calibri" panose="020F0502020204030204" pitchFamily="34" charset="0"/>
                <a:cs typeface="Times New Roman" panose="02020603050405020304" pitchFamily="18" charset="0"/>
              </a:rPr>
              <a:t>Plotly</a:t>
            </a:r>
            <a:endParaRPr lang="en-US" sz="2000" dirty="0">
              <a:effectLst/>
              <a:ea typeface="Calibri" panose="020F0502020204030204" pitchFamily="34" charset="0"/>
              <a:cs typeface="Times New Roman" panose="02020603050405020304" pitchFamily="18" charset="0"/>
            </a:endParaRPr>
          </a:p>
          <a:p>
            <a:pPr lvl="1"/>
            <a:r>
              <a:rPr lang="ru-RU" sz="2000" dirty="0"/>
              <a:t>Библиотеки </a:t>
            </a:r>
            <a:r>
              <a:rPr lang="en-US" sz="2000" dirty="0"/>
              <a:t>R</a:t>
            </a:r>
            <a:r>
              <a:rPr lang="ru-RU" sz="2000" dirty="0"/>
              <a:t>: </a:t>
            </a:r>
            <a:r>
              <a:rPr lang="en-US" sz="2000" dirty="0">
                <a:effectLst/>
                <a:ea typeface="Calibri" panose="020F0502020204030204" pitchFamily="34" charset="0"/>
                <a:cs typeface="Times New Roman" panose="02020603050405020304" pitchFamily="18" charset="0"/>
              </a:rPr>
              <a:t>ggplot2</a:t>
            </a:r>
            <a:r>
              <a:rPr lang="ru-RU" sz="2000" dirty="0">
                <a:effectLst/>
                <a:ea typeface="Calibri" panose="020F0502020204030204" pitchFamily="34" charset="0"/>
                <a:cs typeface="Times New Roman" panose="02020603050405020304" pitchFamily="18" charset="0"/>
              </a:rPr>
              <a:t>, </a:t>
            </a:r>
            <a:r>
              <a:rPr lang="en-US" sz="2000" dirty="0">
                <a:effectLst/>
                <a:ea typeface="Calibri" panose="020F0502020204030204" pitchFamily="34" charset="0"/>
                <a:cs typeface="Times New Roman" panose="02020603050405020304" pitchFamily="18" charset="0"/>
              </a:rPr>
              <a:t>caret</a:t>
            </a:r>
            <a:r>
              <a:rPr lang="ru-RU" sz="2000" dirty="0">
                <a:effectLst/>
                <a:ea typeface="Calibri" panose="020F0502020204030204" pitchFamily="34" charset="0"/>
                <a:cs typeface="Times New Roman" panose="02020603050405020304" pitchFamily="18" charset="0"/>
              </a:rPr>
              <a:t>, </a:t>
            </a:r>
            <a:r>
              <a:rPr lang="en-US" sz="2000" dirty="0" err="1">
                <a:effectLst/>
                <a:ea typeface="Calibri" panose="020F0502020204030204" pitchFamily="34" charset="0"/>
                <a:cs typeface="Times New Roman" panose="02020603050405020304" pitchFamily="18" charset="0"/>
              </a:rPr>
              <a:t>tidyverse</a:t>
            </a:r>
            <a:r>
              <a:rPr lang="ru-RU" sz="2000" dirty="0">
                <a:effectLst/>
                <a:ea typeface="Calibri" panose="020F0502020204030204" pitchFamily="34" charset="0"/>
                <a:cs typeface="Times New Roman" panose="02020603050405020304" pitchFamily="18" charset="0"/>
              </a:rPr>
              <a:t>, </a:t>
            </a:r>
            <a:r>
              <a:rPr lang="en-US" sz="2000" dirty="0" err="1">
                <a:effectLst/>
                <a:ea typeface="Calibri" panose="020F0502020204030204" pitchFamily="34" charset="0"/>
                <a:cs typeface="Times New Roman" panose="02020603050405020304" pitchFamily="18" charset="0"/>
              </a:rPr>
              <a:t>tidytext</a:t>
            </a:r>
            <a:endParaRPr lang="en-US" sz="2000" dirty="0"/>
          </a:p>
          <a:p>
            <a:r>
              <a:rPr lang="ru-RU" sz="2400" dirty="0"/>
              <a:t>Фреймворк</a:t>
            </a:r>
            <a:r>
              <a:rPr lang="en-US" sz="2400" dirty="0"/>
              <a:t>:</a:t>
            </a:r>
            <a:r>
              <a:rPr lang="ru-RU" sz="2400" dirty="0"/>
              <a:t> </a:t>
            </a:r>
            <a:r>
              <a:rPr lang="en-US" sz="2400" dirty="0">
                <a:effectLst/>
                <a:ea typeface="Calibri" panose="020F0502020204030204" pitchFamily="34" charset="0"/>
                <a:cs typeface="Times New Roman" panose="02020603050405020304" pitchFamily="18" charset="0"/>
              </a:rPr>
              <a:t>Dash</a:t>
            </a:r>
            <a:r>
              <a:rPr lang="en-US" sz="2400" dirty="0"/>
              <a:t>;</a:t>
            </a:r>
          </a:p>
          <a:p>
            <a:endParaRPr lang="ru-RU" dirty="0"/>
          </a:p>
        </p:txBody>
      </p:sp>
      <p:sp>
        <p:nvSpPr>
          <p:cNvPr id="4" name="Номер слайда 3"/>
          <p:cNvSpPr>
            <a:spLocks noGrp="1"/>
          </p:cNvSpPr>
          <p:nvPr>
            <p:ph type="sldNum" sz="quarter" idx="5"/>
          </p:nvPr>
        </p:nvSpPr>
        <p:spPr/>
        <p:txBody>
          <a:bodyPr/>
          <a:lstStyle/>
          <a:p>
            <a:fld id="{ECB01670-C036-3749-AA3F-633594AE6953}" type="slidenum">
              <a:rPr lang="ru-RU" smtClean="0"/>
              <a:t>7</a:t>
            </a:fld>
            <a:endParaRPr lang="ru-RU"/>
          </a:p>
        </p:txBody>
      </p:sp>
    </p:spTree>
    <p:extLst>
      <p:ext uri="{BB962C8B-B14F-4D97-AF65-F5344CB8AC3E}">
        <p14:creationId xmlns:p14="http://schemas.microsoft.com/office/powerpoint/2010/main" val="29522730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Исходные данные получены при текстовом анализе медицинских карт, заключений УЗИ, ММГ и 3</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D</a:t>
            </a: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 УЗИ. Текстовые данные были оформлены в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dataframe</a:t>
            </a: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 который был записан в файл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csv</a:t>
            </a: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ru-RU"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ru-RU" dirty="0"/>
          </a:p>
          <a:p>
            <a:r>
              <a:rPr lang="ru-RU" sz="1800" dirty="0">
                <a:effectLst/>
                <a:latin typeface="Times New Roman" panose="02020603050405020304" pitchFamily="18" charset="0"/>
                <a:ea typeface="Calibri" panose="020F0502020204030204" pitchFamily="34" charset="0"/>
              </a:rPr>
              <a:t>Всего в исследование вошло 2794 пациенток. Критерии включения были пациенты женского пола в возрасте от 18 до 80 лет; женщина, посетившая врача для обследования рака молочной железы, с отсутствием видимых признаков рака молочной железы. Критериями исключения были: женщины, которые были беременны, кормили грудью или планировали забеременеть; </a:t>
            </a:r>
            <a:endParaRPr lang="ru-RU" dirty="0"/>
          </a:p>
        </p:txBody>
      </p:sp>
      <p:sp>
        <p:nvSpPr>
          <p:cNvPr id="4" name="Номер слайда 3"/>
          <p:cNvSpPr>
            <a:spLocks noGrp="1"/>
          </p:cNvSpPr>
          <p:nvPr>
            <p:ph type="sldNum" sz="quarter" idx="5"/>
          </p:nvPr>
        </p:nvSpPr>
        <p:spPr/>
        <p:txBody>
          <a:bodyPr/>
          <a:lstStyle/>
          <a:p>
            <a:fld id="{ECB01670-C036-3749-AA3F-633594AE6953}" type="slidenum">
              <a:rPr lang="ru-RU" smtClean="0"/>
              <a:t>8</a:t>
            </a:fld>
            <a:endParaRPr lang="ru-RU"/>
          </a:p>
        </p:txBody>
      </p:sp>
    </p:spTree>
    <p:extLst>
      <p:ext uri="{BB962C8B-B14F-4D97-AF65-F5344CB8AC3E}">
        <p14:creationId xmlns:p14="http://schemas.microsoft.com/office/powerpoint/2010/main" val="8253920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Был выполнен анализ категориальных данных, которые преимущественно были представлены, с целью соответствия классификаторам и используемым словам в заключениях и прочей первичной медицинской документации.</a:t>
            </a:r>
            <a:endParaRPr lang="ru-RU"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ru-RU" dirty="0"/>
          </a:p>
        </p:txBody>
      </p:sp>
      <p:sp>
        <p:nvSpPr>
          <p:cNvPr id="4" name="Номер слайда 3"/>
          <p:cNvSpPr>
            <a:spLocks noGrp="1"/>
          </p:cNvSpPr>
          <p:nvPr>
            <p:ph type="sldNum" sz="quarter" idx="5"/>
          </p:nvPr>
        </p:nvSpPr>
        <p:spPr/>
        <p:txBody>
          <a:bodyPr/>
          <a:lstStyle/>
          <a:p>
            <a:fld id="{ECB01670-C036-3749-AA3F-633594AE6953}" type="slidenum">
              <a:rPr lang="ru-RU" smtClean="0"/>
              <a:t>9</a:t>
            </a:fld>
            <a:endParaRPr lang="ru-RU"/>
          </a:p>
        </p:txBody>
      </p:sp>
    </p:spTree>
    <p:extLst>
      <p:ext uri="{BB962C8B-B14F-4D97-AF65-F5344CB8AC3E}">
        <p14:creationId xmlns:p14="http://schemas.microsoft.com/office/powerpoint/2010/main" val="22755822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Был проведен статистического анализа и машинного обучения для определения взаимосвязей между потенциальными факторами маршрутизации пациента с использованием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pandas matplotlib seaborn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sklearn</a:t>
            </a: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 а именно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RandomForestClassifier</a:t>
            </a: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train</a:t>
            </a: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_</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test</a:t>
            </a: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_</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split</a:t>
            </a: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GridSearchCV</a:t>
            </a: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cross</a:t>
            </a: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_</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val</a:t>
            </a: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_</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score</a:t>
            </a: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accuracy</a:t>
            </a: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_</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score</a:t>
            </a: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 Была подобрана наиболее эффективная ансамблевая модель (Рисунок 1а, Рисунок 1б, Приложение №3), которая в дальнейшем была применена для новых данных, вводимых пользователем на </a:t>
            </a:r>
            <a:r>
              <a:rPr lang="ru-RU" sz="1800" dirty="0" err="1">
                <a:effectLst/>
                <a:latin typeface="Times New Roman" panose="02020603050405020304" pitchFamily="18" charset="0"/>
                <a:ea typeface="Calibri" panose="020F0502020204030204" pitchFamily="34" charset="0"/>
                <a:cs typeface="Times New Roman" panose="02020603050405020304" pitchFamily="18" charset="0"/>
              </a:rPr>
              <a:t>дашборде</a:t>
            </a: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ru-RU"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ru-RU" dirty="0"/>
          </a:p>
        </p:txBody>
      </p:sp>
      <p:sp>
        <p:nvSpPr>
          <p:cNvPr id="4" name="Номер слайда 3"/>
          <p:cNvSpPr>
            <a:spLocks noGrp="1"/>
          </p:cNvSpPr>
          <p:nvPr>
            <p:ph type="sldNum" sz="quarter" idx="5"/>
          </p:nvPr>
        </p:nvSpPr>
        <p:spPr/>
        <p:txBody>
          <a:bodyPr/>
          <a:lstStyle/>
          <a:p>
            <a:fld id="{ECB01670-C036-3749-AA3F-633594AE6953}" type="slidenum">
              <a:rPr lang="ru-RU" smtClean="0"/>
              <a:t>10</a:t>
            </a:fld>
            <a:endParaRPr lang="ru-RU"/>
          </a:p>
        </p:txBody>
      </p:sp>
    </p:spTree>
    <p:extLst>
      <p:ext uri="{BB962C8B-B14F-4D97-AF65-F5344CB8AC3E}">
        <p14:creationId xmlns:p14="http://schemas.microsoft.com/office/powerpoint/2010/main" val="33518044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Разработан интерактивный </a:t>
            </a:r>
            <a:r>
              <a:rPr lang="ru-RU"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дашборд</a:t>
            </a:r>
            <a:r>
              <a:rPr lang="ru-RU"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для представления </a:t>
            </a: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результатов исследования средствами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Python</a:t>
            </a: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 библиотек, а именно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Pandas</a:t>
            </a: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Numpy</a:t>
            </a: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Matplotlib</a:t>
            </a: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Seaborn</a:t>
            </a: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Skikit</a:t>
            </a: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Learn</a:t>
            </a: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Statsmodels</a:t>
            </a: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Plotly</a:t>
            </a: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Dash</a:t>
            </a: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 (Рисунок 2, Приложение №1).</a:t>
            </a:r>
            <a:endParaRPr lang="ru-RU"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ru-RU" dirty="0"/>
          </a:p>
        </p:txBody>
      </p:sp>
      <p:sp>
        <p:nvSpPr>
          <p:cNvPr id="4" name="Номер слайда 3"/>
          <p:cNvSpPr>
            <a:spLocks noGrp="1"/>
          </p:cNvSpPr>
          <p:nvPr>
            <p:ph type="sldNum" sz="quarter" idx="5"/>
          </p:nvPr>
        </p:nvSpPr>
        <p:spPr/>
        <p:txBody>
          <a:bodyPr/>
          <a:lstStyle/>
          <a:p>
            <a:fld id="{ECB01670-C036-3749-AA3F-633594AE6953}" type="slidenum">
              <a:rPr lang="ru-RU" smtClean="0"/>
              <a:t>11</a:t>
            </a:fld>
            <a:endParaRPr lang="ru-RU"/>
          </a:p>
        </p:txBody>
      </p:sp>
    </p:spTree>
    <p:extLst>
      <p:ext uri="{BB962C8B-B14F-4D97-AF65-F5344CB8AC3E}">
        <p14:creationId xmlns:p14="http://schemas.microsoft.com/office/powerpoint/2010/main" val="39669731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С токи зрения функциональных возможности реализована панель для выбора показатели по данным анамнеза, УЗИ исследования, исследования ММГ. 3d УЗИ, данных гистологии (Рисунок 3), где имеется возможность выбирать выборку из общей когорты пациентов.</a:t>
            </a:r>
            <a:endParaRPr lang="ru-RU"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ru-RU" dirty="0"/>
          </a:p>
        </p:txBody>
      </p:sp>
      <p:sp>
        <p:nvSpPr>
          <p:cNvPr id="4" name="Номер слайда 3"/>
          <p:cNvSpPr>
            <a:spLocks noGrp="1"/>
          </p:cNvSpPr>
          <p:nvPr>
            <p:ph type="sldNum" sz="quarter" idx="5"/>
          </p:nvPr>
        </p:nvSpPr>
        <p:spPr/>
        <p:txBody>
          <a:bodyPr/>
          <a:lstStyle/>
          <a:p>
            <a:fld id="{ECB01670-C036-3749-AA3F-633594AE6953}" type="slidenum">
              <a:rPr lang="ru-RU" smtClean="0"/>
              <a:t>12</a:t>
            </a:fld>
            <a:endParaRPr lang="ru-RU"/>
          </a:p>
        </p:txBody>
      </p:sp>
    </p:spTree>
    <p:extLst>
      <p:ext uri="{BB962C8B-B14F-4D97-AF65-F5344CB8AC3E}">
        <p14:creationId xmlns:p14="http://schemas.microsoft.com/office/powerpoint/2010/main" val="6192725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Также реализована панель для визуализации основных показателей по данным анамнеза, УЗИ исследования, исследования ММГ. 3d УЗИ, данных гистологии (Рисунок 4).</a:t>
            </a:r>
            <a:endParaRPr lang="ru-RU" sz="1800" dirty="0">
              <a:effectLst/>
              <a:latin typeface="Calibri" panose="020F0502020204030204" pitchFamily="34" charset="0"/>
              <a:ea typeface="Calibri" panose="020F0502020204030204" pitchFamily="34" charset="0"/>
              <a:cs typeface="Times New Roman" panose="02020603050405020304" pitchFamily="18" charset="0"/>
            </a:endParaRPr>
          </a:p>
          <a:p>
            <a:r>
              <a:rPr lang="ru-RU" dirty="0"/>
              <a:t>В основ ном представлены</a:t>
            </a:r>
            <a:r>
              <a:rPr lang="en-US" dirty="0"/>
              <a:t> </a:t>
            </a:r>
            <a:r>
              <a:rPr lang="ru-RU" dirty="0"/>
              <a:t>круговая и</a:t>
            </a:r>
            <a:r>
              <a:rPr lang="en-US" dirty="0"/>
              <a:t> </a:t>
            </a:r>
            <a:r>
              <a:rPr lang="ru-RU" dirty="0"/>
              <a:t>столбчатая</a:t>
            </a:r>
            <a:r>
              <a:rPr lang="en-US" dirty="0"/>
              <a:t> </a:t>
            </a:r>
            <a:r>
              <a:rPr lang="ru-RU" dirty="0"/>
              <a:t>диаграмма.</a:t>
            </a:r>
          </a:p>
        </p:txBody>
      </p:sp>
      <p:sp>
        <p:nvSpPr>
          <p:cNvPr id="4" name="Номер слайда 3"/>
          <p:cNvSpPr>
            <a:spLocks noGrp="1"/>
          </p:cNvSpPr>
          <p:nvPr>
            <p:ph type="sldNum" sz="quarter" idx="5"/>
          </p:nvPr>
        </p:nvSpPr>
        <p:spPr/>
        <p:txBody>
          <a:bodyPr/>
          <a:lstStyle/>
          <a:p>
            <a:fld id="{ECB01670-C036-3749-AA3F-633594AE6953}" type="slidenum">
              <a:rPr lang="ru-RU" smtClean="0"/>
              <a:t>13</a:t>
            </a:fld>
            <a:endParaRPr lang="ru-RU"/>
          </a:p>
        </p:txBody>
      </p:sp>
    </p:spTree>
    <p:extLst>
      <p:ext uri="{BB962C8B-B14F-4D97-AF65-F5344CB8AC3E}">
        <p14:creationId xmlns:p14="http://schemas.microsoft.com/office/powerpoint/2010/main" val="39222077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Отдельно реализованы селекторы (Рисунок 5а) и визуализация (Рисунок 5б), предварительно рассчитанных методом </a:t>
            </a:r>
            <a:r>
              <a:rPr lang="ru-RU" sz="1800" dirty="0" err="1">
                <a:effectLst/>
                <a:latin typeface="Times New Roman" panose="02020603050405020304" pitchFamily="18" charset="0"/>
                <a:ea typeface="Calibri" panose="020F0502020204030204" pitchFamily="34" charset="0"/>
                <a:cs typeface="Times New Roman" panose="02020603050405020304" pitchFamily="18" charset="0"/>
              </a:rPr>
              <a:t>логит</a:t>
            </a: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ru-RU" sz="1800" dirty="0" err="1">
                <a:effectLst/>
                <a:latin typeface="Times New Roman" panose="02020603050405020304" pitchFamily="18" charset="0"/>
                <a:ea typeface="Calibri" panose="020F0502020204030204" pitchFamily="34" charset="0"/>
                <a:cs typeface="Times New Roman" panose="02020603050405020304" pitchFamily="18" charset="0"/>
              </a:rPr>
              <a:t>регресии</a:t>
            </a: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 (Приложение №2), для определения вероятность обнаружения кальцинозов, как важных предикторов рака МЖ и непосредственно злокачественного новообразования.</a:t>
            </a:r>
            <a:endParaRPr lang="ru-RU"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ru-RU" dirty="0"/>
          </a:p>
        </p:txBody>
      </p:sp>
      <p:sp>
        <p:nvSpPr>
          <p:cNvPr id="4" name="Номер слайда 3"/>
          <p:cNvSpPr>
            <a:spLocks noGrp="1"/>
          </p:cNvSpPr>
          <p:nvPr>
            <p:ph type="sldNum" sz="quarter" idx="5"/>
          </p:nvPr>
        </p:nvSpPr>
        <p:spPr/>
        <p:txBody>
          <a:bodyPr/>
          <a:lstStyle/>
          <a:p>
            <a:fld id="{ECB01670-C036-3749-AA3F-633594AE6953}" type="slidenum">
              <a:rPr lang="ru-RU" smtClean="0"/>
              <a:t>14</a:t>
            </a:fld>
            <a:endParaRPr lang="ru-RU"/>
          </a:p>
        </p:txBody>
      </p:sp>
    </p:spTree>
    <p:extLst>
      <p:ext uri="{BB962C8B-B14F-4D97-AF65-F5344CB8AC3E}">
        <p14:creationId xmlns:p14="http://schemas.microsoft.com/office/powerpoint/2010/main" val="37087507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Чтобы сопоставить визуализацию и вероятность определения ЗНО и </a:t>
            </a:r>
            <a:r>
              <a:rPr lang="ru-RU" sz="1800" dirty="0" err="1">
                <a:effectLst/>
                <a:latin typeface="Times New Roman" panose="02020603050405020304" pitchFamily="18" charset="0"/>
                <a:ea typeface="Calibri" panose="020F0502020204030204" pitchFamily="34" charset="0"/>
                <a:cs typeface="Times New Roman" panose="02020603050405020304" pitchFamily="18" charset="0"/>
              </a:rPr>
              <a:t>кальцинатов</a:t>
            </a: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 реализовано информационное табло, где можно наглядно видеть не только графики, но и существующую конфигурацию вероятности обнаружения ЗНО и </a:t>
            </a:r>
            <a:r>
              <a:rPr lang="ru-RU" sz="1800" dirty="0" err="1">
                <a:effectLst/>
                <a:latin typeface="Times New Roman" panose="02020603050405020304" pitchFamily="18" charset="0"/>
                <a:ea typeface="Calibri" panose="020F0502020204030204" pitchFamily="34" charset="0"/>
                <a:cs typeface="Times New Roman" panose="02020603050405020304" pitchFamily="18" charset="0"/>
              </a:rPr>
              <a:t>кальцинатов</a:t>
            </a: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 (Рисунок 6).</a:t>
            </a:r>
            <a:endParaRPr lang="ru-RU"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ru-RU" dirty="0"/>
          </a:p>
        </p:txBody>
      </p:sp>
      <p:sp>
        <p:nvSpPr>
          <p:cNvPr id="4" name="Номер слайда 3"/>
          <p:cNvSpPr>
            <a:spLocks noGrp="1"/>
          </p:cNvSpPr>
          <p:nvPr>
            <p:ph type="sldNum" sz="quarter" idx="5"/>
          </p:nvPr>
        </p:nvSpPr>
        <p:spPr/>
        <p:txBody>
          <a:bodyPr/>
          <a:lstStyle/>
          <a:p>
            <a:fld id="{ECB01670-C036-3749-AA3F-633594AE6953}" type="slidenum">
              <a:rPr lang="ru-RU" smtClean="0"/>
              <a:t>15</a:t>
            </a:fld>
            <a:endParaRPr lang="ru-RU"/>
          </a:p>
        </p:txBody>
      </p:sp>
    </p:spTree>
    <p:extLst>
      <p:ext uri="{BB962C8B-B14F-4D97-AF65-F5344CB8AC3E}">
        <p14:creationId xmlns:p14="http://schemas.microsoft.com/office/powerpoint/2010/main" val="37353928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В настоящем </a:t>
            </a:r>
            <a:r>
              <a:rPr lang="ru-RU" sz="1800" dirty="0" err="1">
                <a:effectLst/>
                <a:latin typeface="Times New Roman" panose="02020603050405020304" pitchFamily="18" charset="0"/>
                <a:ea typeface="Calibri" panose="020F0502020204030204" pitchFamily="34" charset="0"/>
                <a:cs typeface="Times New Roman" panose="02020603050405020304" pitchFamily="18" charset="0"/>
              </a:rPr>
              <a:t>дашборде</a:t>
            </a: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 реализована вкладка для введения данных согласно используемым классификаторам (Рисунок 8).</a:t>
            </a:r>
          </a:p>
          <a:p>
            <a:pPr marL="0" marR="0" lvl="0" indent="0" algn="l" defTabSz="914400" rtl="0" eaLnBrk="1" fontAlgn="auto" latinLnBrk="0" hangingPunct="1">
              <a:lnSpc>
                <a:spcPct val="100000"/>
              </a:lnSpc>
              <a:spcBef>
                <a:spcPts val="0"/>
              </a:spcBef>
              <a:spcAft>
                <a:spcPts val="0"/>
              </a:spcAft>
              <a:buClrTx/>
              <a:buSzTx/>
              <a:buFontTx/>
              <a:buNone/>
              <a:tabLst/>
              <a:defRPr/>
            </a:pP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Результат предсказания можно увидеть в соответствующей вкладке “предсказание” (Рисунок 9).</a:t>
            </a:r>
            <a:endParaRPr lang="ru-RU"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ru-RU"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ru-RU" dirty="0"/>
          </a:p>
        </p:txBody>
      </p:sp>
      <p:sp>
        <p:nvSpPr>
          <p:cNvPr id="4" name="Номер слайда 3"/>
          <p:cNvSpPr>
            <a:spLocks noGrp="1"/>
          </p:cNvSpPr>
          <p:nvPr>
            <p:ph type="sldNum" sz="quarter" idx="5"/>
          </p:nvPr>
        </p:nvSpPr>
        <p:spPr/>
        <p:txBody>
          <a:bodyPr/>
          <a:lstStyle/>
          <a:p>
            <a:fld id="{ECB01670-C036-3749-AA3F-633594AE6953}" type="slidenum">
              <a:rPr lang="ru-RU" smtClean="0"/>
              <a:t>16</a:t>
            </a:fld>
            <a:endParaRPr lang="ru-RU"/>
          </a:p>
        </p:txBody>
      </p:sp>
    </p:spTree>
    <p:extLst>
      <p:ext uri="{BB962C8B-B14F-4D97-AF65-F5344CB8AC3E}">
        <p14:creationId xmlns:p14="http://schemas.microsoft.com/office/powerpoint/2010/main" val="22024009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Настоящее приложение развёрнуто в облачном сервисе и функционирует по адресу </a:t>
            </a:r>
            <a:r>
              <a:rPr lang="ru-RU" sz="1800" u="sng"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hlinkClick r:id="rId3"/>
              </a:rPr>
              <a:t>http://217.18.63.8/</a:t>
            </a: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ru-RU" sz="1800" dirty="0">
              <a:effectLst/>
              <a:latin typeface="Calibri" panose="020F0502020204030204" pitchFamily="34" charset="0"/>
              <a:ea typeface="Calibri" panose="020F0502020204030204" pitchFamily="34" charset="0"/>
              <a:cs typeface="Times New Roman" panose="02020603050405020304" pitchFamily="18" charset="0"/>
            </a:endParaRPr>
          </a:p>
          <a:p>
            <a:r>
              <a:rPr lang="ru-RU" dirty="0"/>
              <a:t>Таким образом выполнены все задачи и цель настоящего дипломного проекта</a:t>
            </a:r>
          </a:p>
        </p:txBody>
      </p:sp>
      <p:sp>
        <p:nvSpPr>
          <p:cNvPr id="4" name="Номер слайда 3"/>
          <p:cNvSpPr>
            <a:spLocks noGrp="1"/>
          </p:cNvSpPr>
          <p:nvPr>
            <p:ph type="sldNum" sz="quarter" idx="5"/>
          </p:nvPr>
        </p:nvSpPr>
        <p:spPr/>
        <p:txBody>
          <a:bodyPr/>
          <a:lstStyle/>
          <a:p>
            <a:fld id="{ECB01670-C036-3749-AA3F-633594AE6953}" type="slidenum">
              <a:rPr lang="ru-RU" smtClean="0"/>
              <a:t>17</a:t>
            </a:fld>
            <a:endParaRPr lang="ru-RU"/>
          </a:p>
        </p:txBody>
      </p:sp>
    </p:spTree>
    <p:extLst>
      <p:ext uri="{BB962C8B-B14F-4D97-AF65-F5344CB8AC3E}">
        <p14:creationId xmlns:p14="http://schemas.microsoft.com/office/powerpoint/2010/main" val="31335995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lvl="0"/>
            <a:r>
              <a:rPr lang="ru-RU" dirty="0"/>
              <a:t>Все поставленные задачи выполнены </a:t>
            </a:r>
          </a:p>
          <a:p>
            <a:pPr lvl="0"/>
            <a:r>
              <a:rPr lang="ru-RU" sz="1200" dirty="0">
                <a:effectLst/>
                <a:latin typeface="Times New Roman" panose="02020603050405020304" pitchFamily="18" charset="0"/>
                <a:ea typeface="Calibri" panose="020F0502020204030204" pitchFamily="34" charset="0"/>
              </a:rPr>
              <a:t>приложение можно охарактеризовать как продукт, обладающий минимальными, но достаточными для удовлетворения первых потребителей функциями</a:t>
            </a:r>
            <a:r>
              <a:rPr lang="ru-RU" dirty="0">
                <a:effectLst/>
              </a:rPr>
              <a:t> </a:t>
            </a:r>
          </a:p>
          <a:p>
            <a:pPr lvl="0"/>
            <a:r>
              <a:rPr lang="ru-RU" sz="1200" dirty="0">
                <a:effectLst/>
                <a:latin typeface="Times New Roman" panose="02020603050405020304" pitchFamily="18" charset="0"/>
                <a:ea typeface="Calibri" panose="020F0502020204030204" pitchFamily="34" charset="0"/>
              </a:rPr>
              <a:t>Для дальнейшего развития проекта требуется замена исходно таблицы .</a:t>
            </a:r>
            <a:r>
              <a:rPr lang="ru-RU" sz="1200" dirty="0" err="1">
                <a:effectLst/>
                <a:latin typeface="Times New Roman" panose="02020603050405020304" pitchFamily="18" charset="0"/>
                <a:ea typeface="Calibri" panose="020F0502020204030204" pitchFamily="34" charset="0"/>
              </a:rPr>
              <a:t>csv</a:t>
            </a:r>
            <a:r>
              <a:rPr lang="ru-RU" sz="1200" dirty="0">
                <a:effectLst/>
                <a:latin typeface="Times New Roman" panose="02020603050405020304" pitchFamily="18" charset="0"/>
                <a:ea typeface="Calibri" panose="020F0502020204030204" pitchFamily="34" charset="0"/>
              </a:rPr>
              <a:t> на реляционную базу данных. </a:t>
            </a:r>
            <a:endParaRPr lang="ru-RU" sz="1200" dirty="0">
              <a:latin typeface="Times New Roman" panose="02020603050405020304" pitchFamily="18" charset="0"/>
              <a:ea typeface="Calibri" panose="020F0502020204030204" pitchFamily="34" charset="0"/>
            </a:endParaRPr>
          </a:p>
          <a:p>
            <a:pPr lvl="0"/>
            <a:r>
              <a:rPr lang="ru-RU" sz="1200" dirty="0">
                <a:effectLst/>
                <a:latin typeface="Times New Roman" panose="02020603050405020304" pitchFamily="18" charset="0"/>
                <a:ea typeface="Calibri" panose="020F0502020204030204" pitchFamily="34" charset="0"/>
              </a:rPr>
              <a:t>Так же перспективным. направлением является разработка систем глубокого обучения изображений</a:t>
            </a:r>
            <a:r>
              <a:rPr lang="ru-RU" dirty="0">
                <a:effectLst/>
              </a:rPr>
              <a:t> </a:t>
            </a:r>
            <a:endParaRPr lang="ru-RU" dirty="0">
              <a:effectLst/>
              <a:latin typeface="Times New Roman" panose="02020603050405020304" pitchFamily="18" charset="0"/>
            </a:endParaRPr>
          </a:p>
          <a:p>
            <a:pPr lvl="0"/>
            <a:r>
              <a:rPr lang="ru-RU" dirty="0">
                <a:latin typeface="Times New Roman" panose="02020603050405020304" pitchFamily="18" charset="0"/>
                <a:ea typeface="Calibri" panose="020F0502020204030204" pitchFamily="34" charset="0"/>
              </a:rPr>
              <a:t>Р</a:t>
            </a:r>
            <a:r>
              <a:rPr lang="ru-RU" sz="1200" dirty="0">
                <a:effectLst/>
                <a:latin typeface="Times New Roman" panose="02020603050405020304" pitchFamily="18" charset="0"/>
                <a:ea typeface="Calibri" panose="020F0502020204030204" pitchFamily="34" charset="0"/>
              </a:rPr>
              <a:t>азвитие автоматизированных систем подсказчиков непосредственного обнаружения интересующего образования </a:t>
            </a:r>
            <a:endParaRPr lang="ru-RU" sz="1200" dirty="0">
              <a:latin typeface="Times New Roman" panose="02020603050405020304" pitchFamily="18" charset="0"/>
              <a:ea typeface="Calibri" panose="020F0502020204030204" pitchFamily="34" charset="0"/>
            </a:endParaRPr>
          </a:p>
          <a:p>
            <a:pPr lvl="0"/>
            <a:r>
              <a:rPr lang="ru-RU" dirty="0">
                <a:latin typeface="Times New Roman" panose="02020603050405020304" pitchFamily="18" charset="0"/>
              </a:rPr>
              <a:t>Развитие </a:t>
            </a:r>
            <a:r>
              <a:rPr lang="ru-RU" sz="1200" dirty="0">
                <a:effectLst/>
                <a:latin typeface="Times New Roman" panose="02020603050405020304" pitchFamily="18" charset="0"/>
                <a:ea typeface="Calibri" panose="020F0502020204030204" pitchFamily="34" charset="0"/>
              </a:rPr>
              <a:t>систем подсказчиков организационной работы</a:t>
            </a:r>
          </a:p>
          <a:p>
            <a:pPr lvl="0"/>
            <a:r>
              <a:rPr lang="ru-RU" dirty="0">
                <a:latin typeface="Times New Roman" panose="02020603050405020304" pitchFamily="18" charset="0"/>
              </a:rPr>
              <a:t>Потенциал для научного применения</a:t>
            </a:r>
            <a:endParaRPr lang="ru-RU" dirty="0"/>
          </a:p>
          <a:p>
            <a:endParaRPr lang="ru-RU" dirty="0"/>
          </a:p>
        </p:txBody>
      </p:sp>
      <p:sp>
        <p:nvSpPr>
          <p:cNvPr id="4" name="Номер слайда 3"/>
          <p:cNvSpPr>
            <a:spLocks noGrp="1"/>
          </p:cNvSpPr>
          <p:nvPr>
            <p:ph type="sldNum" sz="quarter" idx="5"/>
          </p:nvPr>
        </p:nvSpPr>
        <p:spPr/>
        <p:txBody>
          <a:bodyPr/>
          <a:lstStyle/>
          <a:p>
            <a:fld id="{ECB01670-C036-3749-AA3F-633594AE6953}" type="slidenum">
              <a:rPr lang="ru-RU" smtClean="0"/>
              <a:t>18</a:t>
            </a:fld>
            <a:endParaRPr lang="ru-RU"/>
          </a:p>
        </p:txBody>
      </p:sp>
    </p:spTree>
    <p:extLst>
      <p:ext uri="{BB962C8B-B14F-4D97-AF65-F5344CB8AC3E}">
        <p14:creationId xmlns:p14="http://schemas.microsoft.com/office/powerpoint/2010/main" val="41377015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ru-RU"/>
              <a:t>Образец заголовка</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D840B9A4-3D02-8546-A62E-6B7633AEC22B}" type="datetimeFigureOut">
              <a:rPr lang="ru-RU" smtClean="0"/>
              <a:t>03.06.2025</a:t>
            </a:fld>
            <a:endParaRPr lang="ru-RU"/>
          </a:p>
        </p:txBody>
      </p:sp>
      <p:sp>
        <p:nvSpPr>
          <p:cNvPr id="5" name="Footer Placeholder 4"/>
          <p:cNvSpPr>
            <a:spLocks noGrp="1"/>
          </p:cNvSpPr>
          <p:nvPr>
            <p:ph type="ftr" sz="quarter" idx="11"/>
          </p:nvPr>
        </p:nvSpPr>
        <p:spPr/>
        <p:txBody>
          <a:bodyPr/>
          <a:lstStyle/>
          <a:p>
            <a:endParaRPr lang="ru-RU"/>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28559717-3120-6D46-B498-BE885A002AAE}" type="slidenum">
              <a:rPr lang="ru-RU" smtClean="0"/>
              <a:t>‹#›</a:t>
            </a:fld>
            <a:endParaRPr lang="ru-RU"/>
          </a:p>
        </p:txBody>
      </p:sp>
    </p:spTree>
    <p:extLst>
      <p:ext uri="{BB962C8B-B14F-4D97-AF65-F5344CB8AC3E}">
        <p14:creationId xmlns:p14="http://schemas.microsoft.com/office/powerpoint/2010/main" val="33477296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ru-RU"/>
              <a:t>Образец заголовка</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D840B9A4-3D02-8546-A62E-6B7633AEC22B}" type="datetimeFigureOut">
              <a:rPr lang="ru-RU" smtClean="0"/>
              <a:t>03.06.2025</a:t>
            </a:fld>
            <a:endParaRPr lang="ru-RU"/>
          </a:p>
        </p:txBody>
      </p:sp>
      <p:sp>
        <p:nvSpPr>
          <p:cNvPr id="5" name="Footer Placeholder 4"/>
          <p:cNvSpPr>
            <a:spLocks noGrp="1"/>
          </p:cNvSpPr>
          <p:nvPr>
            <p:ph type="ftr" sz="quarter" idx="11"/>
          </p:nvPr>
        </p:nvSpPr>
        <p:spPr/>
        <p:txBody>
          <a:bodyPr/>
          <a:lstStyle/>
          <a:p>
            <a:endParaRPr lang="ru-RU"/>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extLst>
      <p:ext uri="{BB962C8B-B14F-4D97-AF65-F5344CB8AC3E}">
        <p14:creationId xmlns:p14="http://schemas.microsoft.com/office/powerpoint/2010/main" val="39032576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ru-RU"/>
              <a:t>Образец заголовка</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D840B9A4-3D02-8546-A62E-6B7633AEC22B}" type="datetimeFigureOut">
              <a:rPr lang="ru-RU" smtClean="0"/>
              <a:t>03.06.2025</a:t>
            </a:fld>
            <a:endParaRPr lang="ru-RU"/>
          </a:p>
        </p:txBody>
      </p:sp>
      <p:sp>
        <p:nvSpPr>
          <p:cNvPr id="5" name="Footer Placeholder 4"/>
          <p:cNvSpPr>
            <a:spLocks noGrp="1"/>
          </p:cNvSpPr>
          <p:nvPr>
            <p:ph type="ftr" sz="quarter" idx="11"/>
          </p:nvPr>
        </p:nvSpPr>
        <p:spPr/>
        <p:txBody>
          <a:bodyPr/>
          <a:lstStyle/>
          <a:p>
            <a:endParaRPr lang="ru-RU"/>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28559717-3120-6D46-B498-BE885A002AAE}" type="slidenum">
              <a:rPr lang="ru-RU" smtClean="0"/>
              <a:t>‹#›</a:t>
            </a:fld>
            <a:endParaRPr lang="ru-RU"/>
          </a:p>
        </p:txBody>
      </p:sp>
    </p:spTree>
    <p:extLst>
      <p:ext uri="{BB962C8B-B14F-4D97-AF65-F5344CB8AC3E}">
        <p14:creationId xmlns:p14="http://schemas.microsoft.com/office/powerpoint/2010/main" val="369778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D840B9A4-3D02-8546-A62E-6B7633AEC22B}" type="datetimeFigureOut">
              <a:rPr lang="ru-RU" smtClean="0"/>
              <a:t>03.06.2025</a:t>
            </a:fld>
            <a:endParaRPr lang="ru-RU"/>
          </a:p>
        </p:txBody>
      </p:sp>
      <p:sp>
        <p:nvSpPr>
          <p:cNvPr id="6" name="Footer Placeholder 5"/>
          <p:cNvSpPr>
            <a:spLocks noGrp="1"/>
          </p:cNvSpPr>
          <p:nvPr>
            <p:ph type="ftr" sz="quarter" idx="11"/>
          </p:nvPr>
        </p:nvSpPr>
        <p:spPr/>
        <p:txBody>
          <a:bodyPr/>
          <a:lstStyle/>
          <a:p>
            <a:endParaRPr lang="ru-RU"/>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B19B0651-EE4F-4900-A07F-96A6BFA9D0F0}" type="slidenum">
              <a:rPr lang="ru-RU" smtClean="0"/>
              <a:t>‹#›</a:t>
            </a:fld>
            <a:endParaRPr lang="ru-RU"/>
          </a:p>
        </p:txBody>
      </p:sp>
    </p:spTree>
    <p:extLst>
      <p:ext uri="{BB962C8B-B14F-4D97-AF65-F5344CB8AC3E}">
        <p14:creationId xmlns:p14="http://schemas.microsoft.com/office/powerpoint/2010/main" val="694760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ru-RU"/>
              <a:t>Образец заголовка</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D840B9A4-3D02-8546-A62E-6B7633AEC22B}" type="datetimeFigureOut">
              <a:rPr lang="ru-RU" smtClean="0"/>
              <a:t>03.06.2025</a:t>
            </a:fld>
            <a:endParaRPr lang="ru-RU"/>
          </a:p>
        </p:txBody>
      </p:sp>
      <p:sp>
        <p:nvSpPr>
          <p:cNvPr id="8" name="Footer Placeholder 7"/>
          <p:cNvSpPr>
            <a:spLocks noGrp="1"/>
          </p:cNvSpPr>
          <p:nvPr>
            <p:ph type="ftr" sz="quarter" idx="11"/>
          </p:nvPr>
        </p:nvSpPr>
        <p:spPr/>
        <p:txBody>
          <a:bodyPr/>
          <a:lstStyle/>
          <a:p>
            <a:endParaRPr lang="ru-RU"/>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B19B0651-EE4F-4900-A07F-96A6BFA9D0F0}" type="slidenum">
              <a:rPr lang="ru-RU" smtClean="0"/>
              <a:t>‹#›</a:t>
            </a:fld>
            <a:endParaRPr lang="ru-RU"/>
          </a:p>
        </p:txBody>
      </p:sp>
    </p:spTree>
    <p:extLst>
      <p:ext uri="{BB962C8B-B14F-4D97-AF65-F5344CB8AC3E}">
        <p14:creationId xmlns:p14="http://schemas.microsoft.com/office/powerpoint/2010/main" val="11241378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D840B9A4-3D02-8546-A62E-6B7633AEC22B}" type="datetimeFigureOut">
              <a:rPr lang="ru-RU" smtClean="0"/>
              <a:t>03.06.2025</a:t>
            </a:fld>
            <a:endParaRPr lang="ru-RU"/>
          </a:p>
        </p:txBody>
      </p:sp>
      <p:sp>
        <p:nvSpPr>
          <p:cNvPr id="4" name="Footer Placeholder 3"/>
          <p:cNvSpPr>
            <a:spLocks noGrp="1"/>
          </p:cNvSpPr>
          <p:nvPr>
            <p:ph type="ftr" sz="quarter" idx="11"/>
          </p:nvPr>
        </p:nvSpPr>
        <p:spPr/>
        <p:txBody>
          <a:bodyPr/>
          <a:lstStyle/>
          <a:p>
            <a:endParaRPr lang="ru-RU"/>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B19B0651-EE4F-4900-A07F-96A6BFA9D0F0}" type="slidenum">
              <a:rPr lang="ru-RU" smtClean="0"/>
              <a:t>‹#›</a:t>
            </a:fld>
            <a:endParaRPr lang="ru-RU"/>
          </a:p>
        </p:txBody>
      </p:sp>
    </p:spTree>
    <p:extLst>
      <p:ext uri="{BB962C8B-B14F-4D97-AF65-F5344CB8AC3E}">
        <p14:creationId xmlns:p14="http://schemas.microsoft.com/office/powerpoint/2010/main" val="16211002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4C71EC6-210F-42DE-9C53-41977AD35B3D}" type="datetimeFigureOut">
              <a:rPr lang="ru-RU" smtClean="0"/>
              <a:t>03.06.2025</a:t>
            </a:fld>
            <a:endParaRPr lang="ru-RU"/>
          </a:p>
        </p:txBody>
      </p:sp>
      <p:sp>
        <p:nvSpPr>
          <p:cNvPr id="3" name="Footer Placeholder 2"/>
          <p:cNvSpPr>
            <a:spLocks noGrp="1"/>
          </p:cNvSpPr>
          <p:nvPr>
            <p:ph type="ftr" sz="quarter" idx="11"/>
          </p:nvPr>
        </p:nvSpPr>
        <p:spPr/>
        <p:txBody>
          <a:bodyPr/>
          <a:lstStyle/>
          <a:p>
            <a:endParaRPr lang="ru-RU"/>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B19B0651-EE4F-4900-A07F-96A6BFA9D0F0}" type="slidenum">
              <a:rPr lang="ru-RU" smtClean="0"/>
              <a:t>‹#›</a:t>
            </a:fld>
            <a:endParaRPr lang="ru-RU"/>
          </a:p>
        </p:txBody>
      </p:sp>
    </p:spTree>
    <p:extLst>
      <p:ext uri="{BB962C8B-B14F-4D97-AF65-F5344CB8AC3E}">
        <p14:creationId xmlns:p14="http://schemas.microsoft.com/office/powerpoint/2010/main" val="42870893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ru-RU"/>
              <a:t>Образец заголовка</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p:txBody>
          <a:bodyPr/>
          <a:lstStyle/>
          <a:p>
            <a:fld id="{D840B9A4-3D02-8546-A62E-6B7633AEC22B}" type="datetimeFigureOut">
              <a:rPr lang="ru-RU" smtClean="0"/>
              <a:t>03.06.2025</a:t>
            </a:fld>
            <a:endParaRPr lang="ru-RU"/>
          </a:p>
        </p:txBody>
      </p:sp>
      <p:sp>
        <p:nvSpPr>
          <p:cNvPr id="6" name="Footer Placeholder 5"/>
          <p:cNvSpPr>
            <a:spLocks noGrp="1"/>
          </p:cNvSpPr>
          <p:nvPr>
            <p:ph type="ftr" sz="quarter" idx="11"/>
          </p:nvPr>
        </p:nvSpPr>
        <p:spPr/>
        <p:txBody>
          <a:bodyPr/>
          <a:lstStyle/>
          <a:p>
            <a:endParaRPr lang="ru-RU"/>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Tree>
    <p:extLst>
      <p:ext uri="{BB962C8B-B14F-4D97-AF65-F5344CB8AC3E}">
        <p14:creationId xmlns:p14="http://schemas.microsoft.com/office/powerpoint/2010/main" val="17399350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ru-RU"/>
              <a:t>Образец заголовка</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a:t>Вставка рисунка</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p:txBody>
          <a:bodyPr/>
          <a:lstStyle/>
          <a:p>
            <a:fld id="{D840B9A4-3D02-8546-A62E-6B7633AEC22B}" type="datetimeFigureOut">
              <a:rPr lang="ru-RU" smtClean="0"/>
              <a:t>03.06.2025</a:t>
            </a:fld>
            <a:endParaRPr lang="ru-RU"/>
          </a:p>
        </p:txBody>
      </p:sp>
      <p:sp>
        <p:nvSpPr>
          <p:cNvPr id="6" name="Footer Placeholder 5"/>
          <p:cNvSpPr>
            <a:spLocks noGrp="1"/>
          </p:cNvSpPr>
          <p:nvPr>
            <p:ph type="ftr" sz="quarter" idx="11"/>
          </p:nvPr>
        </p:nvSpPr>
        <p:spPr/>
        <p:txBody>
          <a:bodyPr/>
          <a:lstStyle/>
          <a:p>
            <a:endParaRPr lang="ru-RU"/>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19B0651-EE4F-4900-A07F-96A6BFA9D0F0}" type="slidenum">
              <a:rPr lang="ru-RU" smtClean="0"/>
              <a:t>‹#›</a:t>
            </a:fld>
            <a:endParaRPr lang="ru-RU"/>
          </a:p>
        </p:txBody>
      </p:sp>
    </p:spTree>
    <p:extLst>
      <p:ext uri="{BB962C8B-B14F-4D97-AF65-F5344CB8AC3E}">
        <p14:creationId xmlns:p14="http://schemas.microsoft.com/office/powerpoint/2010/main" val="83950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Заголовок и подпись">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ru-RU"/>
              <a:t>Образец заголовка</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D840B9A4-3D02-8546-A62E-6B7633AEC22B}" type="datetimeFigureOut">
              <a:rPr lang="ru-RU" smtClean="0"/>
              <a:t>03.06.2025</a:t>
            </a:fld>
            <a:endParaRPr lang="ru-RU"/>
          </a:p>
        </p:txBody>
      </p:sp>
      <p:sp>
        <p:nvSpPr>
          <p:cNvPr id="5" name="Footer Placeholder 4"/>
          <p:cNvSpPr>
            <a:spLocks noGrp="1"/>
          </p:cNvSpPr>
          <p:nvPr>
            <p:ph type="ftr" sz="quarter" idx="11"/>
          </p:nvPr>
        </p:nvSpPr>
        <p:spPr/>
        <p:txBody>
          <a:bodyPr/>
          <a:lstStyle/>
          <a:p>
            <a:endParaRPr lang="ru-RU"/>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19B0651-EE4F-4900-A07F-96A6BFA9D0F0}" type="slidenum">
              <a:rPr lang="ru-RU" smtClean="0"/>
              <a:t>‹#›</a:t>
            </a:fld>
            <a:endParaRPr lang="ru-RU"/>
          </a:p>
        </p:txBody>
      </p:sp>
    </p:spTree>
    <p:extLst>
      <p:ext uri="{BB962C8B-B14F-4D97-AF65-F5344CB8AC3E}">
        <p14:creationId xmlns:p14="http://schemas.microsoft.com/office/powerpoint/2010/main" val="30144657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Цитата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ru-RU"/>
              <a:t>Образец заголовка</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ru-RU"/>
              <a:t>Образец текста</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D840B9A4-3D02-8546-A62E-6B7633AEC22B}" type="datetimeFigureOut">
              <a:rPr lang="ru-RU" smtClean="0"/>
              <a:t>03.06.2025</a:t>
            </a:fld>
            <a:endParaRPr lang="ru-RU"/>
          </a:p>
        </p:txBody>
      </p:sp>
      <p:sp>
        <p:nvSpPr>
          <p:cNvPr id="5" name="Footer Placeholder 4"/>
          <p:cNvSpPr>
            <a:spLocks noGrp="1"/>
          </p:cNvSpPr>
          <p:nvPr>
            <p:ph type="ftr" sz="quarter" idx="11"/>
          </p:nvPr>
        </p:nvSpPr>
        <p:spPr/>
        <p:txBody>
          <a:bodyPr/>
          <a:lstStyle/>
          <a:p>
            <a:endParaRPr lang="ru-RU"/>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19B0651-EE4F-4900-A07F-96A6BFA9D0F0}" type="slidenum">
              <a:rPr lang="ru-RU" smtClean="0"/>
              <a:t>‹#›</a:t>
            </a:fld>
            <a:endParaRPr lang="ru-RU"/>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96414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Карточка имени">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ru-RU"/>
              <a:t>Образец заголовка</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ru-RU"/>
              <a:t>Образец текста</a:t>
            </a:r>
          </a:p>
        </p:txBody>
      </p:sp>
      <p:sp>
        <p:nvSpPr>
          <p:cNvPr id="5" name="Date Placeholder 4"/>
          <p:cNvSpPr>
            <a:spLocks noGrp="1"/>
          </p:cNvSpPr>
          <p:nvPr>
            <p:ph type="dt" sz="half" idx="10"/>
          </p:nvPr>
        </p:nvSpPr>
        <p:spPr/>
        <p:txBody>
          <a:bodyPr/>
          <a:lstStyle/>
          <a:p>
            <a:fld id="{D840B9A4-3D02-8546-A62E-6B7633AEC22B}" type="datetimeFigureOut">
              <a:rPr lang="ru-RU" smtClean="0"/>
              <a:t>03.06.2025</a:t>
            </a:fld>
            <a:endParaRPr lang="ru-RU"/>
          </a:p>
        </p:txBody>
      </p:sp>
      <p:sp>
        <p:nvSpPr>
          <p:cNvPr id="6" name="Footer Placeholder 5"/>
          <p:cNvSpPr>
            <a:spLocks noGrp="1"/>
          </p:cNvSpPr>
          <p:nvPr>
            <p:ph type="ftr" sz="quarter" idx="11"/>
          </p:nvPr>
        </p:nvSpPr>
        <p:spPr/>
        <p:txBody>
          <a:bodyPr/>
          <a:lstStyle/>
          <a:p>
            <a:endParaRPr lang="ru-RU"/>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19B0651-EE4F-4900-A07F-96A6BFA9D0F0}" type="slidenum">
              <a:rPr lang="ru-RU" smtClean="0"/>
              <a:t>‹#›</a:t>
            </a:fld>
            <a:endParaRPr lang="ru-RU"/>
          </a:p>
        </p:txBody>
      </p:sp>
    </p:spTree>
    <p:extLst>
      <p:ext uri="{BB962C8B-B14F-4D97-AF65-F5344CB8AC3E}">
        <p14:creationId xmlns:p14="http://schemas.microsoft.com/office/powerpoint/2010/main" val="1026397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Цитата карточки имени">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ru-RU"/>
              <a:t>Образец заголовка</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ru-RU"/>
              <a:t>Образец текста</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ru-RU"/>
              <a:t>Образец текста</a:t>
            </a:r>
          </a:p>
        </p:txBody>
      </p:sp>
      <p:sp>
        <p:nvSpPr>
          <p:cNvPr id="5" name="Date Placeholder 4"/>
          <p:cNvSpPr>
            <a:spLocks noGrp="1"/>
          </p:cNvSpPr>
          <p:nvPr>
            <p:ph type="dt" sz="half" idx="10"/>
          </p:nvPr>
        </p:nvSpPr>
        <p:spPr/>
        <p:txBody>
          <a:bodyPr/>
          <a:lstStyle/>
          <a:p>
            <a:fld id="{D840B9A4-3D02-8546-A62E-6B7633AEC22B}" type="datetimeFigureOut">
              <a:rPr lang="ru-RU" smtClean="0"/>
              <a:t>03.06.2025</a:t>
            </a:fld>
            <a:endParaRPr lang="ru-RU"/>
          </a:p>
        </p:txBody>
      </p:sp>
      <p:sp>
        <p:nvSpPr>
          <p:cNvPr id="6" name="Footer Placeholder 5"/>
          <p:cNvSpPr>
            <a:spLocks noGrp="1"/>
          </p:cNvSpPr>
          <p:nvPr>
            <p:ph type="ftr" sz="quarter" idx="11"/>
          </p:nvPr>
        </p:nvSpPr>
        <p:spPr/>
        <p:txBody>
          <a:bodyPr/>
          <a:lstStyle/>
          <a:p>
            <a:endParaRPr lang="ru-RU"/>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19B0651-EE4F-4900-A07F-96A6BFA9D0F0}" type="slidenum">
              <a:rPr lang="ru-RU" smtClean="0"/>
              <a:t>‹#›</a:t>
            </a:fld>
            <a:endParaRPr lang="ru-RU"/>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228850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Истина или ложь">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ru-RU"/>
              <a:t>Образец заголовка</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ru-RU"/>
              <a:t>Образец текста</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ru-RU"/>
              <a:t>Образец текста</a:t>
            </a:r>
          </a:p>
        </p:txBody>
      </p:sp>
      <p:sp>
        <p:nvSpPr>
          <p:cNvPr id="5" name="Date Placeholder 4"/>
          <p:cNvSpPr>
            <a:spLocks noGrp="1"/>
          </p:cNvSpPr>
          <p:nvPr>
            <p:ph type="dt" sz="half" idx="10"/>
          </p:nvPr>
        </p:nvSpPr>
        <p:spPr/>
        <p:txBody>
          <a:bodyPr/>
          <a:lstStyle/>
          <a:p>
            <a:fld id="{D840B9A4-3D02-8546-A62E-6B7633AEC22B}" type="datetimeFigureOut">
              <a:rPr lang="ru-RU" smtClean="0"/>
              <a:t>03.06.2025</a:t>
            </a:fld>
            <a:endParaRPr lang="ru-RU"/>
          </a:p>
        </p:txBody>
      </p:sp>
      <p:sp>
        <p:nvSpPr>
          <p:cNvPr id="6" name="Footer Placeholder 5"/>
          <p:cNvSpPr>
            <a:spLocks noGrp="1"/>
          </p:cNvSpPr>
          <p:nvPr>
            <p:ph type="ftr" sz="quarter" idx="11"/>
          </p:nvPr>
        </p:nvSpPr>
        <p:spPr/>
        <p:txBody>
          <a:bodyPr/>
          <a:lstStyle/>
          <a:p>
            <a:endParaRPr lang="ru-RU"/>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19B0651-EE4F-4900-A07F-96A6BFA9D0F0}" type="slidenum">
              <a:rPr lang="ru-RU" smtClean="0"/>
              <a:t>‹#›</a:t>
            </a:fld>
            <a:endParaRPr lang="ru-RU"/>
          </a:p>
        </p:txBody>
      </p:sp>
    </p:spTree>
    <p:extLst>
      <p:ext uri="{BB962C8B-B14F-4D97-AF65-F5344CB8AC3E}">
        <p14:creationId xmlns:p14="http://schemas.microsoft.com/office/powerpoint/2010/main" val="32537556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ncho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D840B9A4-3D02-8546-A62E-6B7633AEC22B}" type="datetimeFigureOut">
              <a:rPr lang="ru-RU" smtClean="0"/>
              <a:t>03.06.2025</a:t>
            </a:fld>
            <a:endParaRPr lang="ru-RU"/>
          </a:p>
        </p:txBody>
      </p:sp>
      <p:sp>
        <p:nvSpPr>
          <p:cNvPr id="5" name="Footer Placeholder 4"/>
          <p:cNvSpPr>
            <a:spLocks noGrp="1"/>
          </p:cNvSpPr>
          <p:nvPr>
            <p:ph type="ftr" sz="quarter" idx="11"/>
          </p:nvPr>
        </p:nvSpPr>
        <p:spPr/>
        <p:txBody>
          <a:bodyPr/>
          <a:lstStyle/>
          <a:p>
            <a:endParaRPr lang="ru-RU"/>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extLst>
      <p:ext uri="{BB962C8B-B14F-4D97-AF65-F5344CB8AC3E}">
        <p14:creationId xmlns:p14="http://schemas.microsoft.com/office/powerpoint/2010/main" val="10136569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ru-RU"/>
              <a:t>Образец заголовка</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D840B9A4-3D02-8546-A62E-6B7633AEC22B}" type="datetimeFigureOut">
              <a:rPr lang="ru-RU" smtClean="0"/>
              <a:t>03.06.2025</a:t>
            </a:fld>
            <a:endParaRPr lang="ru-RU"/>
          </a:p>
        </p:txBody>
      </p:sp>
      <p:sp>
        <p:nvSpPr>
          <p:cNvPr id="5" name="Footer Placeholder 4"/>
          <p:cNvSpPr>
            <a:spLocks noGrp="1"/>
          </p:cNvSpPr>
          <p:nvPr>
            <p:ph type="ftr" sz="quarter" idx="11"/>
          </p:nvPr>
        </p:nvSpPr>
        <p:spPr/>
        <p:txBody>
          <a:bodyPr/>
          <a:lstStyle/>
          <a:p>
            <a:endParaRPr lang="ru-RU"/>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extLst>
      <p:ext uri="{BB962C8B-B14F-4D97-AF65-F5344CB8AC3E}">
        <p14:creationId xmlns:p14="http://schemas.microsoft.com/office/powerpoint/2010/main" val="29293824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ru-RU"/>
              <a:t>Образец заголовка</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D840B9A4-3D02-8546-A62E-6B7633AEC22B}" type="datetimeFigureOut">
              <a:rPr lang="ru-RU" smtClean="0"/>
              <a:t>03.06.2025</a:t>
            </a:fld>
            <a:endParaRPr lang="ru-RU"/>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ru-RU"/>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B19B0651-EE4F-4900-A07F-96A6BFA9D0F0}" type="slidenum">
              <a:rPr lang="ru-RU" smtClean="0"/>
              <a:t>‹#›</a:t>
            </a:fld>
            <a:endParaRPr lang="ru-RU"/>
          </a:p>
        </p:txBody>
      </p:sp>
    </p:spTree>
    <p:extLst>
      <p:ext uri="{BB962C8B-B14F-4D97-AF65-F5344CB8AC3E}">
        <p14:creationId xmlns:p14="http://schemas.microsoft.com/office/powerpoint/2010/main" val="2486697524"/>
      </p:ext>
    </p:extLst>
  </p:cSld>
  <p:clrMap bg1="lt1" tx1="dk1" bg2="lt2" tx2="dk2" accent1="accent1" accent2="accent2" accent3="accent3" accent4="accent4" accent5="accent5" accent6="accent6" hlink="hlink" folHlink="folHlink"/>
  <p:sldLayoutIdLst>
    <p:sldLayoutId id="2147483843" r:id="rId1"/>
    <p:sldLayoutId id="2147483844" r:id="rId2"/>
    <p:sldLayoutId id="2147483845" r:id="rId3"/>
    <p:sldLayoutId id="2147483846" r:id="rId4"/>
    <p:sldLayoutId id="2147483847" r:id="rId5"/>
    <p:sldLayoutId id="2147483848" r:id="rId6"/>
    <p:sldLayoutId id="2147483849" r:id="rId7"/>
    <p:sldLayoutId id="2147483850" r:id="rId8"/>
    <p:sldLayoutId id="2147483851" r:id="rId9"/>
    <p:sldLayoutId id="2147483852" r:id="rId10"/>
    <p:sldLayoutId id="2147483853" r:id="rId11"/>
    <p:sldLayoutId id="2147483854" r:id="rId12"/>
    <p:sldLayoutId id="2147483855" r:id="rId13"/>
    <p:sldLayoutId id="2147483856" r:id="rId14"/>
    <p:sldLayoutId id="2147483857" r:id="rId15"/>
    <p:sldLayoutId id="2147483858"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comments" Target="../comments/comment1.xml"/><Relationship Id="rId5" Type="http://schemas.openxmlformats.org/officeDocument/2006/relationships/image" Target="../media/image5.png"/><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hyperlink" Target="http://217.18.63.8/"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1600" y="1993751"/>
            <a:ext cx="12192000" cy="830997"/>
          </a:xfrm>
          <a:prstGeom prst="rect">
            <a:avLst/>
          </a:prstGeom>
          <a:noFill/>
        </p:spPr>
        <p:txBody>
          <a:bodyPr wrap="square" rtlCol="0">
            <a:spAutoFit/>
          </a:bodyPr>
          <a:lstStyle/>
          <a:p>
            <a:pPr algn="ctr"/>
            <a:r>
              <a:rPr lang="ru-RU" sz="4800" dirty="0">
                <a:latin typeface="Times New Roman" panose="02020603050405020304" pitchFamily="18" charset="0"/>
                <a:cs typeface="Times New Roman" panose="02020603050405020304" pitchFamily="18" charset="0"/>
              </a:rPr>
              <a:t>ДИПЛОМНЫЙ ПРОЕКТ</a:t>
            </a:r>
          </a:p>
        </p:txBody>
      </p:sp>
      <p:sp>
        <p:nvSpPr>
          <p:cNvPr id="5" name="TextBox 4"/>
          <p:cNvSpPr txBox="1"/>
          <p:nvPr/>
        </p:nvSpPr>
        <p:spPr>
          <a:xfrm>
            <a:off x="2765778" y="3051155"/>
            <a:ext cx="6773333" cy="707886"/>
          </a:xfrm>
          <a:prstGeom prst="rect">
            <a:avLst/>
          </a:prstGeom>
          <a:noFill/>
        </p:spPr>
        <p:txBody>
          <a:bodyPr wrap="square" rtlCol="0">
            <a:spAutoFit/>
          </a:bodyPr>
          <a:lstStyle/>
          <a:p>
            <a:pPr algn="ctr"/>
            <a:r>
              <a:rPr lang="ru-RU" sz="2000" kern="0" dirty="0">
                <a:solidFill>
                  <a:srgbClr val="000000"/>
                </a:solidFill>
                <a:effectLst/>
                <a:uFill>
                  <a:solidFill>
                    <a:srgbClr val="000000"/>
                  </a:solidFill>
                </a:uFill>
                <a:latin typeface="Times New Roman" panose="02020603050405020304" pitchFamily="18" charset="0"/>
                <a:ea typeface="Arial Unicode MS" panose="020B0604020202020204" pitchFamily="34" charset="-128"/>
                <a:cs typeface="Arial Unicode MS" panose="020B0604020202020204" pitchFamily="34" charset="-128"/>
              </a:rPr>
              <a:t>Разработка информационной-аналитической системы для исследования данных скрининга рака молочной железы</a:t>
            </a:r>
            <a:endParaRPr lang="ru-RU" sz="4000" dirty="0">
              <a:latin typeface="Times New Roman" panose="02020603050405020304" pitchFamily="18" charset="0"/>
              <a:cs typeface="Times New Roman" panose="02020603050405020304" pitchFamily="18" charset="0"/>
            </a:endParaRPr>
          </a:p>
        </p:txBody>
      </p:sp>
      <p:sp>
        <p:nvSpPr>
          <p:cNvPr id="6" name="Rectangle 3" descr="Rectangle: Click to edit Master text styles&#10;Second level&#10;Third level&#10;Fourth level&#10;Fifth level"/>
          <p:cNvSpPr>
            <a:spLocks noGrp="1" noChangeArrowheads="1"/>
          </p:cNvSpPr>
          <p:nvPr>
            <p:ph type="subTitle" idx="1"/>
          </p:nvPr>
        </p:nvSpPr>
        <p:spPr>
          <a:xfrm>
            <a:off x="4441371" y="5783283"/>
            <a:ext cx="7750629" cy="1074717"/>
          </a:xfrm>
        </p:spPr>
        <p:txBody>
          <a:bodyPr>
            <a:normAutofit/>
          </a:bodyPr>
          <a:lstStyle/>
          <a:p>
            <a:pPr>
              <a:spcBef>
                <a:spcPct val="0"/>
              </a:spcBef>
            </a:pPr>
            <a:r>
              <a:rPr lang="ru-RU" altLang="ru-RU" sz="2800" b="1" dirty="0">
                <a:latin typeface="Times New Roman" panose="02020603050405020304" pitchFamily="18" charset="0"/>
                <a:cs typeface="Times New Roman" panose="02020603050405020304" pitchFamily="18" charset="0"/>
              </a:rPr>
              <a:t>Руководитель</a:t>
            </a:r>
            <a:r>
              <a:rPr lang="en-US" altLang="ru-RU" sz="2800" b="1" dirty="0">
                <a:latin typeface="Times New Roman" panose="02020603050405020304" pitchFamily="18" charset="0"/>
                <a:cs typeface="Times New Roman" panose="02020603050405020304" pitchFamily="18" charset="0"/>
              </a:rPr>
              <a:t>:</a:t>
            </a:r>
            <a:r>
              <a:rPr lang="ru-RU" altLang="ru-RU" sz="2800" b="1" dirty="0">
                <a:latin typeface="Times New Roman" panose="02020603050405020304" pitchFamily="18" charset="0"/>
                <a:cs typeface="Times New Roman" panose="02020603050405020304" pitchFamily="18" charset="0"/>
              </a:rPr>
              <a:t> </a:t>
            </a:r>
            <a:r>
              <a:rPr lang="ru-RU" sz="1800" u="sng" dirty="0">
                <a:effectLst/>
                <a:latin typeface="Times New Roman" panose="02020603050405020304" pitchFamily="18" charset="0"/>
                <a:ea typeface="Times New Roman" panose="02020603050405020304" pitchFamily="18" charset="0"/>
              </a:rPr>
              <a:t>Гайдукевич Иван Е</a:t>
            </a:r>
            <a:r>
              <a:rPr lang="ru-RU" u="sng" dirty="0">
                <a:latin typeface="Times New Roman" panose="02020603050405020304" pitchFamily="18" charset="0"/>
                <a:ea typeface="Times New Roman" panose="02020603050405020304" pitchFamily="18" charset="0"/>
              </a:rPr>
              <a:t>вгеньевич</a:t>
            </a:r>
            <a:r>
              <a:rPr lang="ru-RU" sz="1800" dirty="0">
                <a:effectLst/>
                <a:latin typeface="Times New Roman" panose="02020603050405020304" pitchFamily="18" charset="0"/>
                <a:ea typeface="Times New Roman" panose="02020603050405020304" pitchFamily="18" charset="0"/>
              </a:rPr>
              <a:t> </a:t>
            </a:r>
          </a:p>
          <a:p>
            <a:pPr>
              <a:spcBef>
                <a:spcPct val="0"/>
              </a:spcBef>
            </a:pPr>
            <a:r>
              <a:rPr lang="ru-RU" altLang="ru-RU" sz="2800" b="1" dirty="0">
                <a:latin typeface="Times New Roman" panose="02020603050405020304" pitchFamily="18" charset="0"/>
                <a:cs typeface="Times New Roman" panose="02020603050405020304" pitchFamily="18" charset="0"/>
              </a:rPr>
              <a:t>Выполнил</a:t>
            </a:r>
            <a:r>
              <a:rPr lang="en-US" altLang="ru-RU" sz="2800" b="1" dirty="0">
                <a:latin typeface="Times New Roman" panose="02020603050405020304" pitchFamily="18" charset="0"/>
                <a:cs typeface="Times New Roman" panose="02020603050405020304" pitchFamily="18" charset="0"/>
              </a:rPr>
              <a:t>:</a:t>
            </a:r>
            <a:r>
              <a:rPr lang="ru-RU" altLang="ru-RU" sz="2800" b="1" dirty="0">
                <a:latin typeface="Times New Roman" panose="02020603050405020304" pitchFamily="18" charset="0"/>
                <a:cs typeface="Times New Roman" panose="02020603050405020304" pitchFamily="18" charset="0"/>
              </a:rPr>
              <a:t> </a:t>
            </a:r>
            <a:r>
              <a:rPr lang="ru-RU" altLang="ru-RU" u="sng" dirty="0">
                <a:latin typeface="Times New Roman" panose="02020603050405020304" pitchFamily="18" charset="0"/>
                <a:cs typeface="Times New Roman" panose="02020603050405020304" pitchFamily="18" charset="0"/>
              </a:rPr>
              <a:t>Повалий Андрей Александрович</a:t>
            </a:r>
          </a:p>
        </p:txBody>
      </p:sp>
      <p:sp>
        <p:nvSpPr>
          <p:cNvPr id="7" name="TextBox 6"/>
          <p:cNvSpPr txBox="1"/>
          <p:nvPr/>
        </p:nvSpPr>
        <p:spPr>
          <a:xfrm>
            <a:off x="2148840" y="163027"/>
            <a:ext cx="8097520" cy="2031325"/>
          </a:xfrm>
          <a:prstGeom prst="rect">
            <a:avLst/>
          </a:prstGeom>
          <a:noFill/>
        </p:spPr>
        <p:txBody>
          <a:bodyPr wrap="square" rtlCol="0">
            <a:spAutoFit/>
          </a:bodyPr>
          <a:lstStyle/>
          <a:p>
            <a:pPr algn="ctr"/>
            <a:r>
              <a:rPr lang="ru-RU" b="1" dirty="0">
                <a:latin typeface="Times New Roman" panose="02020603050405020304" pitchFamily="18" charset="0"/>
                <a:cs typeface="Times New Roman" panose="02020603050405020304" pitchFamily="18" charset="0"/>
              </a:rPr>
              <a:t> </a:t>
            </a:r>
            <a:br>
              <a:rPr lang="ru-RU" b="1" dirty="0">
                <a:latin typeface="Times New Roman" panose="02020603050405020304" pitchFamily="18" charset="0"/>
                <a:cs typeface="Times New Roman" panose="02020603050405020304" pitchFamily="18" charset="0"/>
              </a:rPr>
            </a:br>
            <a:r>
              <a:rPr lang="ru-RU" b="1" dirty="0">
                <a:latin typeface="Times New Roman" panose="02020603050405020304" pitchFamily="18" charset="0"/>
                <a:cs typeface="Times New Roman" panose="02020603050405020304" pitchFamily="18" charset="0"/>
              </a:rPr>
              <a:t>НАЦИОНАЛЬНЫЙ ИССЛЕДОВАТЕЛЬСКИЙ УНИВЕРСИТЕТ </a:t>
            </a:r>
            <a:br>
              <a:rPr lang="ru-RU" b="1" dirty="0">
                <a:latin typeface="Times New Roman" panose="02020603050405020304" pitchFamily="18" charset="0"/>
                <a:cs typeface="Times New Roman" panose="02020603050405020304" pitchFamily="18" charset="0"/>
              </a:rPr>
            </a:br>
            <a:r>
              <a:rPr lang="ru-RU" b="1" dirty="0">
                <a:latin typeface="Times New Roman" panose="02020603050405020304" pitchFamily="18" charset="0"/>
                <a:cs typeface="Times New Roman" panose="02020603050405020304" pitchFamily="18" charset="0"/>
              </a:rPr>
              <a:t>ИТМО</a:t>
            </a:r>
            <a:endParaRPr lang="ru-RU" dirty="0">
              <a:latin typeface="Times New Roman" panose="02020603050405020304" pitchFamily="18" charset="0"/>
              <a:cs typeface="Times New Roman" panose="02020603050405020304" pitchFamily="18" charset="0"/>
            </a:endParaRPr>
          </a:p>
          <a:p>
            <a:pPr algn="ctr"/>
            <a:r>
              <a:rPr lang="ru-RU" b="1" dirty="0">
                <a:latin typeface="Times New Roman" panose="02020603050405020304" pitchFamily="18" charset="0"/>
                <a:cs typeface="Times New Roman" panose="02020603050405020304" pitchFamily="18" charset="0"/>
              </a:rPr>
              <a:t>  </a:t>
            </a:r>
            <a:endParaRPr lang="ru-RU" dirty="0">
              <a:latin typeface="Times New Roman" panose="02020603050405020304" pitchFamily="18" charset="0"/>
              <a:cs typeface="Times New Roman" panose="02020603050405020304" pitchFamily="18" charset="0"/>
            </a:endParaRPr>
          </a:p>
          <a:p>
            <a:pPr algn="ctr"/>
            <a:r>
              <a:rPr lang="ru-RU" b="1" dirty="0">
                <a:latin typeface="Times New Roman" panose="02020603050405020304" pitchFamily="18" charset="0"/>
                <a:cs typeface="Times New Roman" panose="02020603050405020304" pitchFamily="18" charset="0"/>
              </a:rPr>
              <a:t>ЦЕНТР АВТОРИЗОВАННОГО ОБУЧЕНИЯ ИНФОРМАЦИОННЫМ ТЕХНОЛОГИЯМ </a:t>
            </a:r>
            <a:endParaRPr lang="ru-RU" dirty="0">
              <a:latin typeface="Times New Roman" panose="02020603050405020304" pitchFamily="18" charset="0"/>
              <a:cs typeface="Times New Roman" panose="02020603050405020304" pitchFamily="18" charset="0"/>
            </a:endParaRPr>
          </a:p>
          <a:p>
            <a:pPr algn="ctr"/>
            <a:endParaRPr lang="ru-RU"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B18902B5-5E50-F74F-D754-D03BA78699CD}"/>
              </a:ext>
            </a:extLst>
          </p:cNvPr>
          <p:cNvSpPr txBox="1"/>
          <p:nvPr/>
        </p:nvSpPr>
        <p:spPr>
          <a:xfrm>
            <a:off x="6045200" y="4025076"/>
            <a:ext cx="6146800" cy="458074"/>
          </a:xfrm>
          <a:prstGeom prst="rect">
            <a:avLst/>
          </a:prstGeom>
          <a:noFill/>
        </p:spPr>
        <p:txBody>
          <a:bodyPr wrap="square">
            <a:spAutoFit/>
          </a:bodyPr>
          <a:lstStyle/>
          <a:p>
            <a:pPr>
              <a:lnSpc>
                <a:spcPct val="150000"/>
              </a:lnSpc>
              <a:tabLst>
                <a:tab pos="800100" algn="l"/>
              </a:tabLst>
            </a:pPr>
            <a:r>
              <a:rPr lang="ru-RU" sz="1800" b="1" dirty="0">
                <a:solidFill>
                  <a:srgbClr val="000000"/>
                </a:solidFill>
                <a:effectLst/>
                <a:uFill>
                  <a:solidFill>
                    <a:srgbClr val="000000"/>
                  </a:solidFill>
                </a:uFill>
                <a:latin typeface="Times New Roman" panose="02020603050405020304" pitchFamily="18" charset="0"/>
                <a:ea typeface="Arial Unicode MS" panose="020B0604020202020204" pitchFamily="34" charset="-128"/>
                <a:cs typeface="Arial Unicode MS" panose="020B0604020202020204" pitchFamily="34" charset="-128"/>
              </a:rPr>
              <a:t>Наименование программы </a:t>
            </a:r>
            <a:r>
              <a:rPr lang="ru-RU" sz="1800" u="sng" dirty="0">
                <a:solidFill>
                  <a:srgbClr val="000000"/>
                </a:solidFill>
                <a:effectLst/>
                <a:uFill>
                  <a:solidFill>
                    <a:srgbClr val="000000"/>
                  </a:solidFill>
                </a:uFill>
                <a:latin typeface="Times New Roman" panose="02020603050405020304" pitchFamily="18" charset="0"/>
                <a:ea typeface="Arial Unicode MS" panose="020B0604020202020204" pitchFamily="34" charset="-128"/>
                <a:cs typeface="Arial Unicode MS" panose="020B0604020202020204" pitchFamily="34" charset="-128"/>
              </a:rPr>
              <a:t>«</a:t>
            </a:r>
            <a:r>
              <a:rPr lang="en-US" sz="1800" u="sng" dirty="0">
                <a:solidFill>
                  <a:srgbClr val="000000"/>
                </a:solidFill>
                <a:effectLst/>
                <a:uFill>
                  <a:solidFill>
                    <a:srgbClr val="000000"/>
                  </a:solidFill>
                </a:uFill>
                <a:latin typeface="Times New Roman" panose="02020603050405020304" pitchFamily="18" charset="0"/>
                <a:ea typeface="Arial Unicode MS" panose="020B0604020202020204" pitchFamily="34" charset="-128"/>
                <a:cs typeface="Arial Unicode MS" panose="020B0604020202020204" pitchFamily="34" charset="-128"/>
              </a:rPr>
              <a:t>Python</a:t>
            </a:r>
            <a:r>
              <a:rPr lang="ru-RU" sz="1800" u="sng" dirty="0">
                <a:solidFill>
                  <a:srgbClr val="000000"/>
                </a:solidFill>
                <a:effectLst/>
                <a:uFill>
                  <a:solidFill>
                    <a:srgbClr val="000000"/>
                  </a:solidFill>
                </a:uFill>
                <a:latin typeface="Times New Roman" panose="02020603050405020304" pitchFamily="18" charset="0"/>
                <a:ea typeface="Arial Unicode MS" panose="020B0604020202020204" pitchFamily="34" charset="-128"/>
                <a:cs typeface="Arial Unicode MS" panose="020B0604020202020204" pitchFamily="34" charset="-128"/>
              </a:rPr>
              <a:t> для анализа данных»</a:t>
            </a:r>
            <a:endParaRPr lang="ru-RU" sz="1800" dirty="0">
              <a:solidFill>
                <a:srgbClr val="000000"/>
              </a:solidFill>
              <a:effectLst/>
              <a:uFill>
                <a:solidFill>
                  <a:srgbClr val="000000"/>
                </a:solidFill>
              </a:uFill>
              <a:latin typeface="Times New Roman" panose="02020603050405020304" pitchFamily="18" charset="0"/>
              <a:ea typeface="Arial Unicode MS" panose="020B0604020202020204" pitchFamily="34" charset="-128"/>
              <a:cs typeface="Arial Unicode MS" panose="020B0604020202020204" pitchFamily="34" charset="-128"/>
            </a:endParaRPr>
          </a:p>
        </p:txBody>
      </p:sp>
      <p:sp>
        <p:nvSpPr>
          <p:cNvPr id="9" name="TextBox 8">
            <a:extLst>
              <a:ext uri="{FF2B5EF4-FFF2-40B4-BE49-F238E27FC236}">
                <a16:creationId xmlns:a16="http://schemas.microsoft.com/office/drawing/2014/main" id="{EC085512-4096-3B11-4AA0-4F894C296A0D}"/>
              </a:ext>
            </a:extLst>
          </p:cNvPr>
          <p:cNvSpPr txBox="1"/>
          <p:nvPr/>
        </p:nvSpPr>
        <p:spPr>
          <a:xfrm>
            <a:off x="6096000" y="4556975"/>
            <a:ext cx="6146800" cy="369332"/>
          </a:xfrm>
          <a:prstGeom prst="rect">
            <a:avLst/>
          </a:prstGeom>
          <a:noFill/>
        </p:spPr>
        <p:txBody>
          <a:bodyPr wrap="square">
            <a:spAutoFit/>
          </a:bodyPr>
          <a:lstStyle/>
          <a:p>
            <a:r>
              <a:rPr lang="ru-RU" sz="1800" b="1" kern="0" dirty="0">
                <a:solidFill>
                  <a:srgbClr val="000000"/>
                </a:solidFill>
                <a:effectLst/>
                <a:latin typeface="Times New Roman" panose="02020603050405020304" pitchFamily="18" charset="0"/>
                <a:ea typeface="Arial Unicode MS" panose="020B0604020202020204" pitchFamily="34" charset="-128"/>
                <a:cs typeface="Arial Unicode MS" panose="020B0604020202020204" pitchFamily="34" charset="-128"/>
              </a:rPr>
              <a:t>Группа </a:t>
            </a:r>
            <a:r>
              <a:rPr lang="ru-RU" sz="1800" b="1" u="sng" kern="0" dirty="0">
                <a:solidFill>
                  <a:srgbClr val="000000"/>
                </a:solidFill>
                <a:effectLst/>
                <a:uFill>
                  <a:solidFill>
                    <a:srgbClr val="000000"/>
                  </a:solidFill>
                </a:uFill>
                <a:latin typeface="Times New Roman" panose="02020603050405020304" pitchFamily="18" charset="0"/>
                <a:ea typeface="Arial Unicode MS" panose="020B0604020202020204" pitchFamily="34" charset="-128"/>
                <a:cs typeface="Arial Unicode MS" panose="020B0604020202020204" pitchFamily="34" charset="-128"/>
              </a:rPr>
              <a:t>124/14</a:t>
            </a:r>
            <a:r>
              <a:rPr lang="ru-RU" dirty="0">
                <a:effectLst/>
              </a:rPr>
              <a:t> </a:t>
            </a:r>
            <a:endParaRPr lang="ru-RU" dirty="0"/>
          </a:p>
        </p:txBody>
      </p:sp>
    </p:spTree>
    <p:extLst>
      <p:ext uri="{BB962C8B-B14F-4D97-AF65-F5344CB8AC3E}">
        <p14:creationId xmlns:p14="http://schemas.microsoft.com/office/powerpoint/2010/main" val="32495908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1625542" y="6009538"/>
            <a:ext cx="389850" cy="584775"/>
          </a:xfrm>
          <a:prstGeom prst="rect">
            <a:avLst/>
          </a:prstGeom>
        </p:spPr>
        <p:txBody>
          <a:bodyPr wrap="none">
            <a:spAutoFit/>
          </a:bodyPr>
          <a:lstStyle/>
          <a:p>
            <a:r>
              <a:rPr lang="ru-RU" sz="3200" dirty="0">
                <a:latin typeface="Times New Roman" panose="02020603050405020304" pitchFamily="18" charset="0"/>
                <a:cs typeface="Times New Roman" panose="02020603050405020304" pitchFamily="18" charset="0"/>
              </a:rPr>
              <a:t>2</a:t>
            </a:r>
            <a:endParaRPr lang="ru-RU" sz="3200" dirty="0"/>
          </a:p>
        </p:txBody>
      </p:sp>
      <p:pic>
        <p:nvPicPr>
          <p:cNvPr id="1030" name="Picture 6" descr="Early Detection Of Breast Cancer Saves Lives">
            <a:extLst>
              <a:ext uri="{FF2B5EF4-FFF2-40B4-BE49-F238E27FC236}">
                <a16:creationId xmlns:a16="http://schemas.microsoft.com/office/drawing/2014/main" id="{158219EF-4A74-E5EF-0020-6058E6E049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270" y="2057400"/>
            <a:ext cx="5423701" cy="3403601"/>
          </a:xfrm>
          <a:prstGeom prst="rect">
            <a:avLst/>
          </a:prstGeom>
          <a:noFill/>
          <a:extLst>
            <a:ext uri="{909E8E84-426E-40DD-AFC4-6F175D3DCCD1}">
              <a14:hiddenFill xmlns:a14="http://schemas.microsoft.com/office/drawing/2010/main">
                <a:solidFill>
                  <a:srgbClr val="FFFFFF"/>
                </a:solidFill>
              </a14:hiddenFill>
            </a:ext>
          </a:extLst>
        </p:spPr>
      </p:pic>
      <p:pic>
        <p:nvPicPr>
          <p:cNvPr id="7" name="Рисунок 6">
            <a:extLst>
              <a:ext uri="{FF2B5EF4-FFF2-40B4-BE49-F238E27FC236}">
                <a16:creationId xmlns:a16="http://schemas.microsoft.com/office/drawing/2014/main" id="{3ACFB593-1744-E8D8-C59C-114BBC09373F}"/>
              </a:ext>
            </a:extLst>
          </p:cNvPr>
          <p:cNvPicPr>
            <a:picLocks noChangeAspect="1"/>
          </p:cNvPicPr>
          <p:nvPr/>
        </p:nvPicPr>
        <p:blipFill>
          <a:blip r:embed="rId4"/>
          <a:stretch>
            <a:fillRect/>
          </a:stretch>
        </p:blipFill>
        <p:spPr>
          <a:xfrm>
            <a:off x="6159749" y="2346783"/>
            <a:ext cx="5597981" cy="2930071"/>
          </a:xfrm>
          <a:prstGeom prst="rect">
            <a:avLst/>
          </a:prstGeom>
        </p:spPr>
      </p:pic>
      <p:sp>
        <p:nvSpPr>
          <p:cNvPr id="6" name="Rectangle 4">
            <a:extLst>
              <a:ext uri="{FF2B5EF4-FFF2-40B4-BE49-F238E27FC236}">
                <a16:creationId xmlns:a16="http://schemas.microsoft.com/office/drawing/2014/main" id="{4D89DE1A-3223-5EAA-457C-40D3C14FBE3E}"/>
              </a:ext>
            </a:extLst>
          </p:cNvPr>
          <p:cNvSpPr>
            <a:spLocks noChangeArrowheads="1"/>
          </p:cNvSpPr>
          <p:nvPr/>
        </p:nvSpPr>
        <p:spPr bwMode="auto">
          <a:xfrm>
            <a:off x="1662037" y="374693"/>
            <a:ext cx="743665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kumimoji="1" lang="ru-RU" altLang="ru-RU" sz="3600" b="1" dirty="0">
                <a:solidFill>
                  <a:schemeClr val="tx2"/>
                </a:solidFill>
                <a:latin typeface="+mn-lt"/>
              </a:rPr>
              <a:t>Проблематика и актуальность</a:t>
            </a:r>
          </a:p>
        </p:txBody>
      </p:sp>
    </p:spTree>
    <p:extLst>
      <p:ext uri="{BB962C8B-B14F-4D97-AF65-F5344CB8AC3E}">
        <p14:creationId xmlns:p14="http://schemas.microsoft.com/office/powerpoint/2010/main" val="19442610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1625542" y="6009538"/>
            <a:ext cx="389850" cy="584775"/>
          </a:xfrm>
          <a:prstGeom prst="rect">
            <a:avLst/>
          </a:prstGeom>
        </p:spPr>
        <p:txBody>
          <a:bodyPr wrap="none">
            <a:spAutoFit/>
          </a:bodyPr>
          <a:lstStyle/>
          <a:p>
            <a:r>
              <a:rPr lang="ru-RU" sz="3200" dirty="0">
                <a:latin typeface="Times New Roman" panose="02020603050405020304" pitchFamily="18" charset="0"/>
                <a:cs typeface="Times New Roman" panose="02020603050405020304" pitchFamily="18" charset="0"/>
              </a:rPr>
              <a:t>2</a:t>
            </a:r>
            <a:endParaRPr lang="ru-RU" sz="3200" dirty="0"/>
          </a:p>
        </p:txBody>
      </p:sp>
      <p:sp>
        <p:nvSpPr>
          <p:cNvPr id="5" name="TextBox 4">
            <a:extLst>
              <a:ext uri="{FF2B5EF4-FFF2-40B4-BE49-F238E27FC236}">
                <a16:creationId xmlns:a16="http://schemas.microsoft.com/office/drawing/2014/main" id="{4EFED115-06BE-BD0F-B900-267B216BD8A7}"/>
              </a:ext>
            </a:extLst>
          </p:cNvPr>
          <p:cNvSpPr txBox="1"/>
          <p:nvPr/>
        </p:nvSpPr>
        <p:spPr>
          <a:xfrm>
            <a:off x="665776" y="1192280"/>
            <a:ext cx="4031569" cy="646331"/>
          </a:xfrm>
          <a:prstGeom prst="rect">
            <a:avLst/>
          </a:prstGeom>
          <a:noFill/>
        </p:spPr>
        <p:txBody>
          <a:bodyPr wrap="square">
            <a:spAutoFit/>
          </a:bodyPr>
          <a:lstStyle/>
          <a:p>
            <a:r>
              <a:rPr lang="ru-RU" sz="1800" b="1" dirty="0">
                <a:effectLst/>
                <a:latin typeface="+mj-lt"/>
                <a:ea typeface="Calibri" panose="020F0502020204030204" pitchFamily="34" charset="0"/>
                <a:cs typeface="Times New Roman" panose="02020603050405020304" pitchFamily="18" charset="0"/>
              </a:rPr>
              <a:t>Ультразвуковое исследование</a:t>
            </a:r>
            <a:r>
              <a:rPr lang="en-US" sz="1800" b="1" dirty="0">
                <a:effectLst/>
                <a:latin typeface="+mj-lt"/>
                <a:ea typeface="Calibri" panose="020F0502020204030204" pitchFamily="34" charset="0"/>
                <a:cs typeface="Times New Roman" panose="02020603050405020304" pitchFamily="18" charset="0"/>
              </a:rPr>
              <a:t> (2D </a:t>
            </a:r>
            <a:r>
              <a:rPr lang="ru-RU" sz="1800" b="1" dirty="0">
                <a:effectLst/>
                <a:latin typeface="+mj-lt"/>
                <a:ea typeface="Calibri" panose="020F0502020204030204" pitchFamily="34" charset="0"/>
                <a:cs typeface="Times New Roman" panose="02020603050405020304" pitchFamily="18" charset="0"/>
              </a:rPr>
              <a:t>УЗИ</a:t>
            </a:r>
            <a:r>
              <a:rPr lang="en-US" sz="1800" b="1" dirty="0">
                <a:effectLst/>
                <a:latin typeface="+mj-lt"/>
                <a:ea typeface="Calibri" panose="020F0502020204030204" pitchFamily="34" charset="0"/>
                <a:cs typeface="Times New Roman" panose="02020603050405020304" pitchFamily="18" charset="0"/>
              </a:rPr>
              <a:t>)</a:t>
            </a:r>
            <a:endParaRPr lang="ru-RU" dirty="0"/>
          </a:p>
        </p:txBody>
      </p:sp>
      <p:pic>
        <p:nvPicPr>
          <p:cNvPr id="6" name="Рисунок 5">
            <a:extLst>
              <a:ext uri="{FF2B5EF4-FFF2-40B4-BE49-F238E27FC236}">
                <a16:creationId xmlns:a16="http://schemas.microsoft.com/office/drawing/2014/main" id="{D65459E0-8BB9-7272-5D4C-B60A57182F2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5400000">
            <a:off x="131949" y="2377055"/>
            <a:ext cx="4271372" cy="3203718"/>
          </a:xfrm>
          <a:prstGeom prst="rect">
            <a:avLst/>
          </a:prstGeom>
        </p:spPr>
      </p:pic>
      <p:pic>
        <p:nvPicPr>
          <p:cNvPr id="9" name="Рисунок 8">
            <a:extLst>
              <a:ext uri="{FF2B5EF4-FFF2-40B4-BE49-F238E27FC236}">
                <a16:creationId xmlns:a16="http://schemas.microsoft.com/office/drawing/2014/main" id="{D345B387-B395-00C1-2F23-5A49C1879BC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16151" y="2139032"/>
            <a:ext cx="4303606" cy="3896725"/>
          </a:xfrm>
          <a:prstGeom prst="rect">
            <a:avLst/>
          </a:prstGeom>
        </p:spPr>
      </p:pic>
      <p:sp>
        <p:nvSpPr>
          <p:cNvPr id="11" name="TextBox 10">
            <a:extLst>
              <a:ext uri="{FF2B5EF4-FFF2-40B4-BE49-F238E27FC236}">
                <a16:creationId xmlns:a16="http://schemas.microsoft.com/office/drawing/2014/main" id="{915405D0-F9BB-FAD4-486D-AFDFF8DEC9B1}"/>
              </a:ext>
            </a:extLst>
          </p:cNvPr>
          <p:cNvSpPr txBox="1"/>
          <p:nvPr/>
        </p:nvSpPr>
        <p:spPr>
          <a:xfrm>
            <a:off x="4441213" y="1321445"/>
            <a:ext cx="4425201" cy="923330"/>
          </a:xfrm>
          <a:prstGeom prst="rect">
            <a:avLst/>
          </a:prstGeom>
          <a:noFill/>
        </p:spPr>
        <p:txBody>
          <a:bodyPr wrap="square">
            <a:spAutoFit/>
          </a:bodyPr>
          <a:lstStyle/>
          <a:p>
            <a:r>
              <a:rPr lang="ru-RU" sz="1800" b="1" kern="0" dirty="0">
                <a:solidFill>
                  <a:schemeClr val="tx1"/>
                </a:solidFill>
                <a:effectLst/>
                <a:latin typeface="+mj-lt"/>
                <a:ea typeface="Calibri" panose="020F0502020204030204" pitchFamily="34" charset="0"/>
              </a:rPr>
              <a:t>Автоматизированное объемное ультразвуковое сканирование (3D УЗИ</a:t>
            </a:r>
            <a:endParaRPr lang="ru-RU" dirty="0"/>
          </a:p>
        </p:txBody>
      </p:sp>
      <p:pic>
        <p:nvPicPr>
          <p:cNvPr id="12" name="Picture 11">
            <a:extLst>
              <a:ext uri="{FF2B5EF4-FFF2-40B4-BE49-F238E27FC236}">
                <a16:creationId xmlns:a16="http://schemas.microsoft.com/office/drawing/2014/main" id="{1208E616-DA1C-C06D-E00E-52D3D3050D5D}"/>
              </a:ext>
            </a:extLst>
          </p:cNvPr>
          <p:cNvPicPr>
            <a:picLocks noGrp="1" noChangeAspect="1"/>
          </p:cNvPicPr>
          <p:nvPr>
            <p:ph idx="1"/>
          </p:nvPr>
        </p:nvPicPr>
        <p:blipFill>
          <a:blip r:embed="rId5"/>
          <a:srcRect/>
          <a:stretch>
            <a:fillRect/>
          </a:stretch>
        </p:blipFill>
        <p:spPr>
          <a:xfrm>
            <a:off x="8769853" y="1955795"/>
            <a:ext cx="3245539" cy="3237524"/>
          </a:xfrm>
          <a:prstGeom prst="rect">
            <a:avLst/>
          </a:prstGeom>
        </p:spPr>
      </p:pic>
      <p:sp>
        <p:nvSpPr>
          <p:cNvPr id="13" name="Прямоугольник 12">
            <a:extLst>
              <a:ext uri="{FF2B5EF4-FFF2-40B4-BE49-F238E27FC236}">
                <a16:creationId xmlns:a16="http://schemas.microsoft.com/office/drawing/2014/main" id="{E7716232-9F2B-50DD-062F-DB05776496DE}"/>
              </a:ext>
            </a:extLst>
          </p:cNvPr>
          <p:cNvSpPr/>
          <p:nvPr/>
        </p:nvSpPr>
        <p:spPr>
          <a:xfrm>
            <a:off x="8866413" y="1375578"/>
            <a:ext cx="3412545" cy="461665"/>
          </a:xfrm>
          <a:prstGeom prst="rect">
            <a:avLst/>
          </a:prstGeom>
        </p:spPr>
        <p:txBody>
          <a:bodyPr wrap="square">
            <a:spAutoFit/>
          </a:bodyPr>
          <a:lstStyle/>
          <a:p>
            <a:r>
              <a:rPr lang="ru-RU" sz="2400" dirty="0">
                <a:ea typeface="Calibri" panose="020F0502020204030204" pitchFamily="34" charset="0"/>
                <a:cs typeface="Times New Roman" panose="02020603050405020304" pitchFamily="18" charset="0"/>
              </a:rPr>
              <a:t>Маммография</a:t>
            </a:r>
            <a:endParaRPr lang="ru-RU" sz="2400" dirty="0"/>
          </a:p>
        </p:txBody>
      </p:sp>
      <p:sp>
        <p:nvSpPr>
          <p:cNvPr id="8" name="Rectangle 4">
            <a:extLst>
              <a:ext uri="{FF2B5EF4-FFF2-40B4-BE49-F238E27FC236}">
                <a16:creationId xmlns:a16="http://schemas.microsoft.com/office/drawing/2014/main" id="{B891E81C-C00B-ADC8-ABC5-A904BD6E7C6E}"/>
              </a:ext>
            </a:extLst>
          </p:cNvPr>
          <p:cNvSpPr>
            <a:spLocks noChangeArrowheads="1"/>
          </p:cNvSpPr>
          <p:nvPr/>
        </p:nvSpPr>
        <p:spPr bwMode="auto">
          <a:xfrm>
            <a:off x="1662037" y="374693"/>
            <a:ext cx="743665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kumimoji="1" lang="ru-RU" altLang="ru-RU" sz="3600" b="1" dirty="0">
                <a:solidFill>
                  <a:schemeClr val="tx2"/>
                </a:solidFill>
                <a:latin typeface="+mn-lt"/>
              </a:rPr>
              <a:t>Проблематика и актуальность</a:t>
            </a:r>
          </a:p>
        </p:txBody>
      </p:sp>
    </p:spTree>
    <p:extLst>
      <p:ext uri="{BB962C8B-B14F-4D97-AF65-F5344CB8AC3E}">
        <p14:creationId xmlns:p14="http://schemas.microsoft.com/office/powerpoint/2010/main" val="4530357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FA63600-D506-5682-D7A2-C34D94C6CBD3}"/>
              </a:ext>
            </a:extLst>
          </p:cNvPr>
          <p:cNvSpPr>
            <a:spLocks noChangeArrowheads="1"/>
          </p:cNvSpPr>
          <p:nvPr/>
        </p:nvSpPr>
        <p:spPr bwMode="auto">
          <a:xfrm>
            <a:off x="1613051" y="586964"/>
            <a:ext cx="743665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kumimoji="1" lang="ru-RU" altLang="ru-RU" sz="3600" b="1" dirty="0">
                <a:solidFill>
                  <a:schemeClr val="tx2"/>
                </a:solidFill>
                <a:latin typeface="+mn-lt"/>
              </a:rPr>
              <a:t>Проблематика и актуальность</a:t>
            </a:r>
          </a:p>
        </p:txBody>
      </p:sp>
      <p:sp>
        <p:nvSpPr>
          <p:cNvPr id="3" name="Овал 2">
            <a:extLst>
              <a:ext uri="{FF2B5EF4-FFF2-40B4-BE49-F238E27FC236}">
                <a16:creationId xmlns:a16="http://schemas.microsoft.com/office/drawing/2014/main" id="{626BAD14-A103-BA5B-9AA5-ECA344F7A90D}"/>
              </a:ext>
            </a:extLst>
          </p:cNvPr>
          <p:cNvSpPr/>
          <p:nvPr/>
        </p:nvSpPr>
        <p:spPr>
          <a:xfrm>
            <a:off x="4580162" y="4344381"/>
            <a:ext cx="2280557" cy="1087202"/>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8.08 - 9.16% </a:t>
            </a:r>
            <a:endParaRPr lang="ru-RU" dirty="0"/>
          </a:p>
        </p:txBody>
      </p:sp>
      <p:pic>
        <p:nvPicPr>
          <p:cNvPr id="5" name="Рисунок 4">
            <a:extLst>
              <a:ext uri="{FF2B5EF4-FFF2-40B4-BE49-F238E27FC236}">
                <a16:creationId xmlns:a16="http://schemas.microsoft.com/office/drawing/2014/main" id="{2CB6C919-7F73-BBA6-9A08-2788EEC85F2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5400000">
            <a:off x="164606" y="2785270"/>
            <a:ext cx="4271372" cy="3203718"/>
          </a:xfrm>
          <a:prstGeom prst="rect">
            <a:avLst/>
          </a:prstGeom>
        </p:spPr>
      </p:pic>
      <p:sp>
        <p:nvSpPr>
          <p:cNvPr id="6" name="TextBox 5">
            <a:extLst>
              <a:ext uri="{FF2B5EF4-FFF2-40B4-BE49-F238E27FC236}">
                <a16:creationId xmlns:a16="http://schemas.microsoft.com/office/drawing/2014/main" id="{1F6767F2-F088-C2CA-C4A2-39C2AA65C80A}"/>
              </a:ext>
            </a:extLst>
          </p:cNvPr>
          <p:cNvSpPr txBox="1"/>
          <p:nvPr/>
        </p:nvSpPr>
        <p:spPr>
          <a:xfrm>
            <a:off x="545873" y="1426417"/>
            <a:ext cx="4031569" cy="646331"/>
          </a:xfrm>
          <a:prstGeom prst="rect">
            <a:avLst/>
          </a:prstGeom>
          <a:noFill/>
        </p:spPr>
        <p:txBody>
          <a:bodyPr wrap="square">
            <a:spAutoFit/>
          </a:bodyPr>
          <a:lstStyle/>
          <a:p>
            <a:r>
              <a:rPr lang="ru-RU" sz="1800" b="1" dirty="0">
                <a:effectLst/>
                <a:latin typeface="+mj-lt"/>
                <a:ea typeface="Calibri" panose="020F0502020204030204" pitchFamily="34" charset="0"/>
                <a:cs typeface="Times New Roman" panose="02020603050405020304" pitchFamily="18" charset="0"/>
              </a:rPr>
              <a:t>Ультразвуковое исследование</a:t>
            </a:r>
            <a:r>
              <a:rPr lang="en-US" sz="1800" b="1" dirty="0">
                <a:effectLst/>
                <a:latin typeface="+mj-lt"/>
                <a:ea typeface="Calibri" panose="020F0502020204030204" pitchFamily="34" charset="0"/>
                <a:cs typeface="Times New Roman" panose="02020603050405020304" pitchFamily="18" charset="0"/>
              </a:rPr>
              <a:t> (2D </a:t>
            </a:r>
            <a:r>
              <a:rPr lang="ru-RU" sz="1800" b="1" dirty="0">
                <a:effectLst/>
                <a:latin typeface="+mj-lt"/>
                <a:ea typeface="Calibri" panose="020F0502020204030204" pitchFamily="34" charset="0"/>
                <a:cs typeface="Times New Roman" panose="02020603050405020304" pitchFamily="18" charset="0"/>
              </a:rPr>
              <a:t>УЗИ</a:t>
            </a:r>
            <a:r>
              <a:rPr lang="en-US" sz="1800" b="1" dirty="0">
                <a:effectLst/>
                <a:latin typeface="+mj-lt"/>
                <a:ea typeface="Calibri" panose="020F0502020204030204" pitchFamily="34" charset="0"/>
                <a:cs typeface="Times New Roman" panose="02020603050405020304" pitchFamily="18" charset="0"/>
              </a:rPr>
              <a:t>)</a:t>
            </a:r>
            <a:endParaRPr lang="ru-RU" dirty="0"/>
          </a:p>
        </p:txBody>
      </p:sp>
      <p:pic>
        <p:nvPicPr>
          <p:cNvPr id="7" name="Рисунок 6">
            <a:extLst>
              <a:ext uri="{FF2B5EF4-FFF2-40B4-BE49-F238E27FC236}">
                <a16:creationId xmlns:a16="http://schemas.microsoft.com/office/drawing/2014/main" id="{30E15A4F-10A1-C3BA-6587-7873D031078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189961" y="2438765"/>
            <a:ext cx="4303606" cy="3896725"/>
          </a:xfrm>
          <a:prstGeom prst="rect">
            <a:avLst/>
          </a:prstGeom>
        </p:spPr>
      </p:pic>
      <p:sp>
        <p:nvSpPr>
          <p:cNvPr id="8" name="TextBox 7">
            <a:extLst>
              <a:ext uri="{FF2B5EF4-FFF2-40B4-BE49-F238E27FC236}">
                <a16:creationId xmlns:a16="http://schemas.microsoft.com/office/drawing/2014/main" id="{143E3FA9-8462-017F-344F-091E0175F49F}"/>
              </a:ext>
            </a:extLst>
          </p:cNvPr>
          <p:cNvSpPr txBox="1"/>
          <p:nvPr/>
        </p:nvSpPr>
        <p:spPr>
          <a:xfrm>
            <a:off x="7068366" y="1287917"/>
            <a:ext cx="4425201" cy="923330"/>
          </a:xfrm>
          <a:prstGeom prst="rect">
            <a:avLst/>
          </a:prstGeom>
          <a:noFill/>
        </p:spPr>
        <p:txBody>
          <a:bodyPr wrap="square">
            <a:spAutoFit/>
          </a:bodyPr>
          <a:lstStyle/>
          <a:p>
            <a:r>
              <a:rPr lang="ru-RU" sz="1800" b="1" kern="0" dirty="0">
                <a:solidFill>
                  <a:schemeClr val="tx1"/>
                </a:solidFill>
                <a:effectLst/>
                <a:latin typeface="+mj-lt"/>
                <a:ea typeface="Calibri" panose="020F0502020204030204" pitchFamily="34" charset="0"/>
              </a:rPr>
              <a:t>Автоматизированное объемное ультразвуковое сканирование (3D УЗИ</a:t>
            </a:r>
            <a:endParaRPr lang="ru-RU" dirty="0"/>
          </a:p>
        </p:txBody>
      </p:sp>
      <p:sp>
        <p:nvSpPr>
          <p:cNvPr id="10" name="Овал 9">
            <a:extLst>
              <a:ext uri="{FF2B5EF4-FFF2-40B4-BE49-F238E27FC236}">
                <a16:creationId xmlns:a16="http://schemas.microsoft.com/office/drawing/2014/main" id="{50947335-F263-4BA7-7D68-252DB35E1132}"/>
              </a:ext>
            </a:extLst>
          </p:cNvPr>
          <p:cNvSpPr/>
          <p:nvPr/>
        </p:nvSpPr>
        <p:spPr>
          <a:xfrm>
            <a:off x="4577442" y="1426417"/>
            <a:ext cx="2280557" cy="1087202"/>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ru-RU" dirty="0">
                <a:latin typeface="Times New Roman" panose="02020603050405020304" pitchFamily="18" charset="0"/>
                <a:cs typeface="Times New Roman" panose="02020603050405020304" pitchFamily="18" charset="0"/>
              </a:rPr>
              <a:t>2794</a:t>
            </a:r>
            <a:endParaRPr lang="ru-RU" dirty="0"/>
          </a:p>
        </p:txBody>
      </p:sp>
      <p:sp>
        <p:nvSpPr>
          <p:cNvPr id="11" name="Стрелка вниз 10">
            <a:extLst>
              <a:ext uri="{FF2B5EF4-FFF2-40B4-BE49-F238E27FC236}">
                <a16:creationId xmlns:a16="http://schemas.microsoft.com/office/drawing/2014/main" id="{D1F3963A-F137-05A2-4EE7-0F02CBC7C92C}"/>
              </a:ext>
            </a:extLst>
          </p:cNvPr>
          <p:cNvSpPr/>
          <p:nvPr/>
        </p:nvSpPr>
        <p:spPr>
          <a:xfrm>
            <a:off x="5331376" y="2808514"/>
            <a:ext cx="764624" cy="11430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38774663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814685" y="2226854"/>
            <a:ext cx="11003280" cy="1823576"/>
          </a:xfrm>
          <a:prstGeom prst="rect">
            <a:avLst/>
          </a:prstGeom>
          <a:noFill/>
        </p:spPr>
        <p:txBody>
          <a:bodyPr wrap="square" rtlCol="0">
            <a:spAutoFit/>
          </a:bodyPr>
          <a:lstStyle/>
          <a:p>
            <a:pPr indent="270510" algn="just">
              <a:lnSpc>
                <a:spcPct val="150000"/>
              </a:lnSpc>
              <a:spcBef>
                <a:spcPts val="900"/>
              </a:spcBef>
              <a:spcAft>
                <a:spcPts val="900"/>
              </a:spcAft>
            </a:pPr>
            <a:r>
              <a:rPr lang="ru-RU" sz="1800" dirty="0">
                <a:effectLst/>
                <a:ea typeface="Calibri" panose="020F0502020204030204" pitchFamily="34" charset="0"/>
                <a:cs typeface="Times New Roman" panose="02020603050405020304" pitchFamily="18" charset="0"/>
              </a:rPr>
              <a:t>Необходимо разработать информационно-аналитическую систему (интерактивный </a:t>
            </a:r>
            <a:r>
              <a:rPr lang="ru-RU" sz="1800" dirty="0" err="1">
                <a:effectLst/>
                <a:ea typeface="Calibri" panose="020F0502020204030204" pitchFamily="34" charset="0"/>
                <a:cs typeface="Times New Roman" panose="02020603050405020304" pitchFamily="18" charset="0"/>
              </a:rPr>
              <a:t>дашборд</a:t>
            </a:r>
            <a:r>
              <a:rPr lang="ru-RU" sz="1800" dirty="0">
                <a:effectLst/>
                <a:ea typeface="Calibri" panose="020F0502020204030204" pitchFamily="34" charset="0"/>
                <a:cs typeface="Times New Roman" panose="02020603050405020304" pitchFamily="18" charset="0"/>
              </a:rPr>
              <a:t>), позволяющий пользователям получать доступ к результатам исследований рака молочной железы.</a:t>
            </a:r>
          </a:p>
          <a:p>
            <a:pPr algn="just"/>
            <a:endParaRPr lang="ru-RU" sz="2400" dirty="0">
              <a:cs typeface="Times New Roman" panose="02020603050405020304" pitchFamily="18" charset="0"/>
            </a:endParaRPr>
          </a:p>
        </p:txBody>
      </p:sp>
      <p:sp>
        <p:nvSpPr>
          <p:cNvPr id="6" name="TextBox 5"/>
          <p:cNvSpPr txBox="1"/>
          <p:nvPr/>
        </p:nvSpPr>
        <p:spPr>
          <a:xfrm>
            <a:off x="11623040" y="6041727"/>
            <a:ext cx="389850" cy="584775"/>
          </a:xfrm>
          <a:prstGeom prst="rect">
            <a:avLst/>
          </a:prstGeom>
          <a:noFill/>
        </p:spPr>
        <p:txBody>
          <a:bodyPr wrap="none" rtlCol="0">
            <a:spAutoFit/>
          </a:bodyPr>
          <a:lstStyle/>
          <a:p>
            <a:r>
              <a:rPr lang="ru-RU" sz="3200" dirty="0">
                <a:latin typeface="Times New Roman" panose="02020603050405020304" pitchFamily="18" charset="0"/>
                <a:cs typeface="Times New Roman" panose="02020603050405020304" pitchFamily="18" charset="0"/>
              </a:rPr>
              <a:t>3</a:t>
            </a:r>
          </a:p>
        </p:txBody>
      </p:sp>
      <p:sp>
        <p:nvSpPr>
          <p:cNvPr id="2" name="Rectangle 4">
            <a:extLst>
              <a:ext uri="{FF2B5EF4-FFF2-40B4-BE49-F238E27FC236}">
                <a16:creationId xmlns:a16="http://schemas.microsoft.com/office/drawing/2014/main" id="{20D8A4F2-449A-BE9C-1690-BE740679F671}"/>
              </a:ext>
            </a:extLst>
          </p:cNvPr>
          <p:cNvSpPr>
            <a:spLocks noChangeArrowheads="1"/>
          </p:cNvSpPr>
          <p:nvPr/>
        </p:nvSpPr>
        <p:spPr bwMode="auto">
          <a:xfrm>
            <a:off x="2057578" y="531325"/>
            <a:ext cx="131318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kumimoji="1" lang="ru-RU" altLang="ru-RU" sz="3600" b="1" dirty="0">
                <a:solidFill>
                  <a:schemeClr val="tx2"/>
                </a:solidFill>
                <a:latin typeface="+mn-lt"/>
              </a:rPr>
              <a:t>Цель</a:t>
            </a:r>
          </a:p>
        </p:txBody>
      </p:sp>
    </p:spTree>
    <p:extLst>
      <p:ext uri="{BB962C8B-B14F-4D97-AF65-F5344CB8AC3E}">
        <p14:creationId xmlns:p14="http://schemas.microsoft.com/office/powerpoint/2010/main" val="2478947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314D0CA-FB6B-A393-6439-127FEDA5E137}"/>
              </a:ext>
            </a:extLst>
          </p:cNvPr>
          <p:cNvSpPr txBox="1"/>
          <p:nvPr/>
        </p:nvSpPr>
        <p:spPr>
          <a:xfrm>
            <a:off x="1469571" y="900070"/>
            <a:ext cx="9829800" cy="4662880"/>
          </a:xfrm>
          <a:prstGeom prst="rect">
            <a:avLst/>
          </a:prstGeom>
          <a:noFill/>
        </p:spPr>
        <p:txBody>
          <a:bodyPr wrap="square">
            <a:spAutoFit/>
          </a:bodyPr>
          <a:lstStyle/>
          <a:p>
            <a:pPr marL="342900" lvl="0" indent="-342900" algn="just">
              <a:lnSpc>
                <a:spcPct val="150000"/>
              </a:lnSpc>
              <a:spcBef>
                <a:spcPts val="180"/>
              </a:spcBef>
              <a:spcAft>
                <a:spcPts val="180"/>
              </a:spcAft>
              <a:buFont typeface="+mj-lt"/>
              <a:buAutoNum type="arabicPeriod"/>
            </a:pPr>
            <a:r>
              <a:rPr lang="ru-RU" sz="1400" dirty="0">
                <a:effectLst/>
                <a:ea typeface="Calibri" panose="020F0502020204030204" pitchFamily="34" charset="0"/>
                <a:cs typeface="Times New Roman" panose="02020603050405020304" pitchFamily="18" charset="0"/>
              </a:rPr>
              <a:t>Провести сбор и обработку данных.</a:t>
            </a:r>
          </a:p>
          <a:p>
            <a:pPr marL="342900" lvl="0" indent="-342900" algn="just">
              <a:lnSpc>
                <a:spcPct val="150000"/>
              </a:lnSpc>
              <a:spcBef>
                <a:spcPts val="180"/>
              </a:spcBef>
              <a:spcAft>
                <a:spcPts val="180"/>
              </a:spcAft>
              <a:buFont typeface="+mj-lt"/>
              <a:buAutoNum type="arabicPeriod"/>
            </a:pPr>
            <a:r>
              <a:rPr lang="ru-RU" sz="1400" dirty="0">
                <a:effectLst/>
                <a:ea typeface="Calibri" panose="020F0502020204030204" pitchFamily="34" charset="0"/>
                <a:cs typeface="Times New Roman" panose="02020603050405020304" pitchFamily="18" charset="0"/>
              </a:rPr>
              <a:t>Провести исследовательский анализ данных для выявления тенденций, распределений и аномалий.</a:t>
            </a:r>
          </a:p>
          <a:p>
            <a:pPr marL="342900" lvl="0" indent="-342900" algn="just">
              <a:lnSpc>
                <a:spcPct val="150000"/>
              </a:lnSpc>
              <a:spcBef>
                <a:spcPts val="180"/>
              </a:spcBef>
              <a:spcAft>
                <a:spcPts val="180"/>
              </a:spcAft>
              <a:buFont typeface="+mj-lt"/>
              <a:buAutoNum type="arabicPeriod"/>
            </a:pPr>
            <a:r>
              <a:rPr lang="ru-RU" sz="1400" dirty="0">
                <a:effectLst/>
                <a:ea typeface="Calibri" panose="020F0502020204030204" pitchFamily="34" charset="0"/>
                <a:cs typeface="Times New Roman" panose="02020603050405020304" pitchFamily="18" charset="0"/>
              </a:rPr>
              <a:t>Использовать методы статистического анализа и машинного обучения для определения взаимосвязей между потенциальными факторами маршрутизации пациента.</a:t>
            </a:r>
          </a:p>
          <a:p>
            <a:pPr marL="342900" lvl="0" indent="-342900" algn="just">
              <a:lnSpc>
                <a:spcPct val="150000"/>
              </a:lnSpc>
              <a:spcBef>
                <a:spcPts val="180"/>
              </a:spcBef>
              <a:spcAft>
                <a:spcPts val="180"/>
              </a:spcAft>
              <a:buFont typeface="+mj-lt"/>
              <a:buAutoNum type="arabicPeriod"/>
            </a:pPr>
            <a:r>
              <a:rPr lang="ru-RU" sz="1400" dirty="0">
                <a:effectLst/>
                <a:ea typeface="Calibri" panose="020F0502020204030204" pitchFamily="34" charset="0"/>
                <a:cs typeface="Times New Roman" panose="02020603050405020304" pitchFamily="18" charset="0"/>
              </a:rPr>
              <a:t>Подготовить результаты анализа в виде блокнота </a:t>
            </a:r>
            <a:r>
              <a:rPr lang="en-US" sz="1400" dirty="0" err="1">
                <a:effectLst/>
                <a:ea typeface="Calibri" panose="020F0502020204030204" pitchFamily="34" charset="0"/>
                <a:cs typeface="Times New Roman" panose="02020603050405020304" pitchFamily="18" charset="0"/>
              </a:rPr>
              <a:t>Jupyter</a:t>
            </a:r>
            <a:r>
              <a:rPr lang="en-US" sz="1400" dirty="0">
                <a:effectLst/>
                <a:ea typeface="Calibri" panose="020F0502020204030204" pitchFamily="34" charset="0"/>
                <a:cs typeface="Times New Roman" panose="02020603050405020304" pitchFamily="18" charset="0"/>
              </a:rPr>
              <a:t> Notebook</a:t>
            </a:r>
            <a:r>
              <a:rPr lang="ru-RU" sz="1400" dirty="0">
                <a:effectLst/>
                <a:ea typeface="Calibri" panose="020F0502020204030204" pitchFamily="34" charset="0"/>
                <a:cs typeface="Times New Roman" panose="02020603050405020304" pitchFamily="18" charset="0"/>
              </a:rPr>
              <a:t>.</a:t>
            </a:r>
          </a:p>
          <a:p>
            <a:pPr marL="342900" lvl="0" indent="-342900" algn="just">
              <a:lnSpc>
                <a:spcPct val="150000"/>
              </a:lnSpc>
              <a:spcBef>
                <a:spcPts val="180"/>
              </a:spcBef>
              <a:spcAft>
                <a:spcPts val="180"/>
              </a:spcAft>
              <a:buFont typeface="+mj-lt"/>
              <a:buAutoNum type="arabicPeriod"/>
            </a:pPr>
            <a:r>
              <a:rPr lang="ru-RU" sz="1400" dirty="0">
                <a:effectLst/>
                <a:ea typeface="Calibri" panose="020F0502020204030204" pitchFamily="34" charset="0"/>
                <a:cs typeface="Times New Roman" panose="02020603050405020304" pitchFamily="18" charset="0"/>
              </a:rPr>
              <a:t>Разработать интерактивный </a:t>
            </a:r>
            <a:r>
              <a:rPr lang="ru-RU" sz="1400" dirty="0" err="1">
                <a:effectLst/>
                <a:ea typeface="Calibri" panose="020F0502020204030204" pitchFamily="34" charset="0"/>
                <a:cs typeface="Times New Roman" panose="02020603050405020304" pitchFamily="18" charset="0"/>
              </a:rPr>
              <a:t>дашборд</a:t>
            </a:r>
            <a:r>
              <a:rPr lang="ru-RU" sz="1400" dirty="0">
                <a:effectLst/>
                <a:ea typeface="Calibri" panose="020F0502020204030204" pitchFamily="34" charset="0"/>
                <a:cs typeface="Times New Roman" panose="02020603050405020304" pitchFamily="18" charset="0"/>
              </a:rPr>
              <a:t> для представления результатов исследования средствами </a:t>
            </a:r>
            <a:r>
              <a:rPr lang="en-US" sz="1400" dirty="0">
                <a:effectLst/>
                <a:ea typeface="Calibri" panose="020F0502020204030204" pitchFamily="34" charset="0"/>
                <a:cs typeface="Times New Roman" panose="02020603050405020304" pitchFamily="18" charset="0"/>
              </a:rPr>
              <a:t>Python</a:t>
            </a:r>
            <a:r>
              <a:rPr lang="ru-RU" sz="1400" dirty="0">
                <a:effectLst/>
                <a:ea typeface="Calibri" panose="020F0502020204030204" pitchFamily="34" charset="0"/>
                <a:cs typeface="Times New Roman" panose="02020603050405020304" pitchFamily="18" charset="0"/>
              </a:rPr>
              <a:t> библиотек (</a:t>
            </a:r>
            <a:r>
              <a:rPr lang="en-US" sz="1400" dirty="0">
                <a:effectLst/>
                <a:ea typeface="Calibri" panose="020F0502020204030204" pitchFamily="34" charset="0"/>
                <a:cs typeface="Times New Roman" panose="02020603050405020304" pitchFamily="18" charset="0"/>
              </a:rPr>
              <a:t>Pandas</a:t>
            </a:r>
            <a:r>
              <a:rPr lang="ru-RU" sz="1400" dirty="0">
                <a:effectLst/>
                <a:ea typeface="Calibri" panose="020F0502020204030204" pitchFamily="34" charset="0"/>
                <a:cs typeface="Times New Roman" panose="02020603050405020304" pitchFamily="18" charset="0"/>
              </a:rPr>
              <a:t>, </a:t>
            </a:r>
            <a:r>
              <a:rPr lang="en-US" sz="1400" dirty="0" err="1">
                <a:effectLst/>
                <a:ea typeface="Calibri" panose="020F0502020204030204" pitchFamily="34" charset="0"/>
                <a:cs typeface="Times New Roman" panose="02020603050405020304" pitchFamily="18" charset="0"/>
              </a:rPr>
              <a:t>Numpy</a:t>
            </a:r>
            <a:r>
              <a:rPr lang="ru-RU" sz="1400" dirty="0">
                <a:effectLst/>
                <a:ea typeface="Calibri" panose="020F0502020204030204" pitchFamily="34" charset="0"/>
                <a:cs typeface="Times New Roman" panose="02020603050405020304" pitchFamily="18" charset="0"/>
              </a:rPr>
              <a:t>, </a:t>
            </a:r>
            <a:r>
              <a:rPr lang="en-US" sz="1400" dirty="0">
                <a:effectLst/>
                <a:ea typeface="Calibri" panose="020F0502020204030204" pitchFamily="34" charset="0"/>
                <a:cs typeface="Times New Roman" panose="02020603050405020304" pitchFamily="18" charset="0"/>
              </a:rPr>
              <a:t>Matplotlib</a:t>
            </a:r>
            <a:r>
              <a:rPr lang="ru-RU" sz="1400" dirty="0">
                <a:effectLst/>
                <a:ea typeface="Calibri" panose="020F0502020204030204" pitchFamily="34" charset="0"/>
                <a:cs typeface="Times New Roman" panose="02020603050405020304" pitchFamily="18" charset="0"/>
              </a:rPr>
              <a:t>, </a:t>
            </a:r>
            <a:r>
              <a:rPr lang="en-US" sz="1400" dirty="0">
                <a:effectLst/>
                <a:ea typeface="Calibri" panose="020F0502020204030204" pitchFamily="34" charset="0"/>
                <a:cs typeface="Times New Roman" panose="02020603050405020304" pitchFamily="18" charset="0"/>
              </a:rPr>
              <a:t>Seaborn</a:t>
            </a:r>
            <a:r>
              <a:rPr lang="ru-RU" sz="1400" dirty="0">
                <a:effectLst/>
                <a:ea typeface="Calibri" panose="020F0502020204030204" pitchFamily="34" charset="0"/>
                <a:cs typeface="Times New Roman" panose="02020603050405020304" pitchFamily="18" charset="0"/>
              </a:rPr>
              <a:t>, </a:t>
            </a:r>
            <a:r>
              <a:rPr lang="en-US" sz="1400" dirty="0" err="1">
                <a:effectLst/>
                <a:ea typeface="Calibri" panose="020F0502020204030204" pitchFamily="34" charset="0"/>
                <a:cs typeface="Times New Roman" panose="02020603050405020304" pitchFamily="18" charset="0"/>
              </a:rPr>
              <a:t>Skikit</a:t>
            </a:r>
            <a:r>
              <a:rPr lang="ru-RU" sz="1400" dirty="0">
                <a:effectLst/>
                <a:ea typeface="Calibri" panose="020F0502020204030204" pitchFamily="34" charset="0"/>
                <a:cs typeface="Times New Roman" panose="02020603050405020304" pitchFamily="18" charset="0"/>
              </a:rPr>
              <a:t>-</a:t>
            </a:r>
            <a:r>
              <a:rPr lang="en-US" sz="1400" dirty="0">
                <a:effectLst/>
                <a:ea typeface="Calibri" panose="020F0502020204030204" pitchFamily="34" charset="0"/>
                <a:cs typeface="Times New Roman" panose="02020603050405020304" pitchFamily="18" charset="0"/>
              </a:rPr>
              <a:t>Learn</a:t>
            </a:r>
            <a:r>
              <a:rPr lang="ru-RU" sz="1400" dirty="0">
                <a:effectLst/>
                <a:ea typeface="Calibri" panose="020F0502020204030204" pitchFamily="34" charset="0"/>
                <a:cs typeface="Times New Roman" panose="02020603050405020304" pitchFamily="18" charset="0"/>
              </a:rPr>
              <a:t>, </a:t>
            </a:r>
            <a:r>
              <a:rPr lang="en-US" sz="1400" dirty="0" err="1">
                <a:effectLst/>
                <a:ea typeface="Calibri" panose="020F0502020204030204" pitchFamily="34" charset="0"/>
                <a:cs typeface="Times New Roman" panose="02020603050405020304" pitchFamily="18" charset="0"/>
              </a:rPr>
              <a:t>Statsmodels</a:t>
            </a:r>
            <a:r>
              <a:rPr lang="ru-RU" sz="1400" dirty="0">
                <a:effectLst/>
                <a:ea typeface="Calibri" panose="020F0502020204030204" pitchFamily="34" charset="0"/>
                <a:cs typeface="Times New Roman" panose="02020603050405020304" pitchFamily="18" charset="0"/>
              </a:rPr>
              <a:t>, </a:t>
            </a:r>
            <a:r>
              <a:rPr lang="en-US" sz="1400" dirty="0" err="1">
                <a:effectLst/>
                <a:ea typeface="Calibri" panose="020F0502020204030204" pitchFamily="34" charset="0"/>
                <a:cs typeface="Times New Roman" panose="02020603050405020304" pitchFamily="18" charset="0"/>
              </a:rPr>
              <a:t>Plotly</a:t>
            </a:r>
            <a:r>
              <a:rPr lang="ru-RU" sz="1400" dirty="0">
                <a:effectLst/>
                <a:ea typeface="Calibri" panose="020F0502020204030204" pitchFamily="34" charset="0"/>
                <a:cs typeface="Times New Roman" panose="02020603050405020304" pitchFamily="18" charset="0"/>
              </a:rPr>
              <a:t>, </a:t>
            </a:r>
            <a:r>
              <a:rPr lang="en-US" sz="1400" dirty="0">
                <a:effectLst/>
                <a:ea typeface="Calibri" panose="020F0502020204030204" pitchFamily="34" charset="0"/>
                <a:cs typeface="Times New Roman" panose="02020603050405020304" pitchFamily="18" charset="0"/>
              </a:rPr>
              <a:t>Dash</a:t>
            </a:r>
            <a:r>
              <a:rPr lang="ru-RU" sz="1400" dirty="0">
                <a:effectLst/>
                <a:ea typeface="Calibri" panose="020F0502020204030204" pitchFamily="34" charset="0"/>
                <a:cs typeface="Times New Roman" panose="02020603050405020304" pitchFamily="18" charset="0"/>
              </a:rPr>
              <a:t> и другими).</a:t>
            </a:r>
          </a:p>
          <a:p>
            <a:pPr marL="342900" lvl="0" indent="-342900" algn="just">
              <a:lnSpc>
                <a:spcPct val="150000"/>
              </a:lnSpc>
              <a:spcBef>
                <a:spcPts val="180"/>
              </a:spcBef>
              <a:spcAft>
                <a:spcPts val="180"/>
              </a:spcAft>
              <a:buFont typeface="+mj-lt"/>
              <a:buAutoNum type="arabicPeriod"/>
            </a:pPr>
            <a:r>
              <a:rPr lang="ru-RU" sz="1400" dirty="0">
                <a:effectLst/>
                <a:ea typeface="Calibri" panose="020F0502020204030204" pitchFamily="34" charset="0"/>
                <a:cs typeface="Times New Roman" panose="02020603050405020304" pitchFamily="18" charset="0"/>
              </a:rPr>
              <a:t>Разработать модель машинного обучения, способную определять с минимальной погрешностью маршрутизацию пациента.</a:t>
            </a:r>
          </a:p>
          <a:p>
            <a:pPr marL="342900" lvl="0" indent="-342900" algn="just">
              <a:lnSpc>
                <a:spcPct val="150000"/>
              </a:lnSpc>
              <a:spcBef>
                <a:spcPts val="180"/>
              </a:spcBef>
              <a:spcAft>
                <a:spcPts val="180"/>
              </a:spcAft>
              <a:buFont typeface="+mj-lt"/>
              <a:buAutoNum type="arabicPeriod"/>
            </a:pPr>
            <a:r>
              <a:rPr lang="ru-RU" sz="1400" dirty="0">
                <a:effectLst/>
                <a:ea typeface="Calibri" panose="020F0502020204030204" pitchFamily="34" charset="0"/>
                <a:cs typeface="Times New Roman" panose="02020603050405020304" pitchFamily="18" charset="0"/>
              </a:rPr>
              <a:t>Интегрировать модель машинного обучения в приложение.</a:t>
            </a:r>
          </a:p>
          <a:p>
            <a:pPr marL="342900" lvl="0" indent="-342900" algn="just">
              <a:lnSpc>
                <a:spcPct val="150000"/>
              </a:lnSpc>
              <a:spcBef>
                <a:spcPts val="180"/>
              </a:spcBef>
              <a:spcAft>
                <a:spcPts val="180"/>
              </a:spcAft>
              <a:buFont typeface="+mj-lt"/>
              <a:buAutoNum type="arabicPeriod"/>
            </a:pPr>
            <a:r>
              <a:rPr lang="ru-RU" sz="1400" dirty="0">
                <a:effectLst/>
                <a:ea typeface="Calibri" panose="020F0502020204030204" pitchFamily="34" charset="0"/>
                <a:cs typeface="Times New Roman" panose="02020603050405020304" pitchFamily="18" charset="0"/>
              </a:rPr>
              <a:t>Разработать интерактивную форму (как часть информационно-аналитической системы), для использования предсказательной модели машинного обучения.</a:t>
            </a:r>
          </a:p>
          <a:p>
            <a:pPr marL="342900" lvl="0" indent="-342900" algn="just">
              <a:lnSpc>
                <a:spcPct val="150000"/>
              </a:lnSpc>
              <a:spcBef>
                <a:spcPts val="180"/>
              </a:spcBef>
              <a:spcAft>
                <a:spcPts val="180"/>
              </a:spcAft>
              <a:buFont typeface="+mj-lt"/>
              <a:buAutoNum type="arabicPeriod"/>
            </a:pPr>
            <a:r>
              <a:rPr lang="ru-RU" sz="1400" dirty="0">
                <a:effectLst/>
                <a:ea typeface="Calibri" panose="020F0502020204030204" pitchFamily="34" charset="0"/>
                <a:cs typeface="Times New Roman" panose="02020603050405020304" pitchFamily="18" charset="0"/>
              </a:rPr>
              <a:t>Развернуть приложение в облачном сервисе.</a:t>
            </a:r>
          </a:p>
        </p:txBody>
      </p:sp>
      <p:sp>
        <p:nvSpPr>
          <p:cNvPr id="4" name="Rectangle 4">
            <a:extLst>
              <a:ext uri="{FF2B5EF4-FFF2-40B4-BE49-F238E27FC236}">
                <a16:creationId xmlns:a16="http://schemas.microsoft.com/office/drawing/2014/main" id="{5D6CBF17-31CA-DEA8-5387-A6639018BE03}"/>
              </a:ext>
            </a:extLst>
          </p:cNvPr>
          <p:cNvSpPr>
            <a:spLocks noChangeArrowheads="1"/>
          </p:cNvSpPr>
          <p:nvPr/>
        </p:nvSpPr>
        <p:spPr bwMode="auto">
          <a:xfrm>
            <a:off x="2413867" y="253739"/>
            <a:ext cx="18742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kumimoji="1" lang="ru-RU" altLang="ru-RU" sz="3600" b="1" dirty="0">
                <a:solidFill>
                  <a:schemeClr val="tx2"/>
                </a:solidFill>
                <a:latin typeface="+mn-lt"/>
              </a:rPr>
              <a:t>Задачи</a:t>
            </a:r>
          </a:p>
        </p:txBody>
      </p:sp>
    </p:spTree>
    <p:extLst>
      <p:ext uri="{BB962C8B-B14F-4D97-AF65-F5344CB8AC3E}">
        <p14:creationId xmlns:p14="http://schemas.microsoft.com/office/powerpoint/2010/main" val="15658892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1623040" y="6041727"/>
            <a:ext cx="389850" cy="584775"/>
          </a:xfrm>
          <a:prstGeom prst="rect">
            <a:avLst/>
          </a:prstGeom>
          <a:noFill/>
        </p:spPr>
        <p:txBody>
          <a:bodyPr wrap="none" rtlCol="0">
            <a:spAutoFit/>
          </a:bodyPr>
          <a:lstStyle/>
          <a:p>
            <a:r>
              <a:rPr lang="ru-RU" sz="3200" dirty="0">
                <a:latin typeface="Times New Roman" panose="02020603050405020304" pitchFamily="18" charset="0"/>
                <a:cs typeface="Times New Roman" panose="02020603050405020304" pitchFamily="18" charset="0"/>
              </a:rPr>
              <a:t>4</a:t>
            </a:r>
          </a:p>
        </p:txBody>
      </p:sp>
      <p:sp>
        <p:nvSpPr>
          <p:cNvPr id="3" name="Объект 2"/>
          <p:cNvSpPr>
            <a:spLocks noGrp="1"/>
          </p:cNvSpPr>
          <p:nvPr>
            <p:ph idx="1"/>
          </p:nvPr>
        </p:nvSpPr>
        <p:spPr/>
        <p:txBody>
          <a:bodyPr>
            <a:normAutofit/>
          </a:bodyPr>
          <a:lstStyle/>
          <a:p>
            <a:r>
              <a:rPr lang="ru-RU" sz="2400" b="1" dirty="0"/>
              <a:t>Языки программирования</a:t>
            </a:r>
            <a:r>
              <a:rPr lang="en-US" sz="2400" b="1" dirty="0"/>
              <a:t>:</a:t>
            </a:r>
            <a:r>
              <a:rPr lang="ru-RU" sz="2400" b="1" dirty="0"/>
              <a:t> </a:t>
            </a:r>
            <a:r>
              <a:rPr lang="en-US" sz="2400" dirty="0"/>
              <a:t>Python</a:t>
            </a:r>
            <a:r>
              <a:rPr lang="ru-RU" sz="2400" dirty="0"/>
              <a:t>, </a:t>
            </a:r>
            <a:r>
              <a:rPr lang="en-US" sz="2400" dirty="0"/>
              <a:t>R</a:t>
            </a:r>
          </a:p>
          <a:p>
            <a:pPr lvl="1"/>
            <a:r>
              <a:rPr lang="ru-RU" sz="2000" b="1" dirty="0"/>
              <a:t>Библиотеки </a:t>
            </a:r>
            <a:r>
              <a:rPr lang="en-US" sz="2000" b="1" dirty="0"/>
              <a:t>Python</a:t>
            </a:r>
            <a:r>
              <a:rPr lang="ru-RU" sz="2000" b="1" dirty="0"/>
              <a:t>: </a:t>
            </a:r>
            <a:r>
              <a:rPr lang="en-US" sz="2000" dirty="0">
                <a:effectLst/>
                <a:ea typeface="Calibri" panose="020F0502020204030204" pitchFamily="34" charset="0"/>
                <a:cs typeface="Times New Roman" panose="02020603050405020304" pitchFamily="18" charset="0"/>
              </a:rPr>
              <a:t>Pandas</a:t>
            </a:r>
            <a:r>
              <a:rPr lang="ru-RU" sz="2000" dirty="0">
                <a:effectLst/>
                <a:ea typeface="Calibri" panose="020F0502020204030204" pitchFamily="34" charset="0"/>
                <a:cs typeface="Times New Roman" panose="02020603050405020304" pitchFamily="18" charset="0"/>
              </a:rPr>
              <a:t>, </a:t>
            </a:r>
            <a:r>
              <a:rPr lang="en-US" sz="2000" dirty="0" err="1">
                <a:effectLst/>
                <a:ea typeface="Calibri" panose="020F0502020204030204" pitchFamily="34" charset="0"/>
                <a:cs typeface="Times New Roman" panose="02020603050405020304" pitchFamily="18" charset="0"/>
              </a:rPr>
              <a:t>Numpy</a:t>
            </a:r>
            <a:r>
              <a:rPr lang="ru-RU" sz="2000" dirty="0">
                <a:effectLst/>
                <a:ea typeface="Calibri" panose="020F0502020204030204" pitchFamily="34" charset="0"/>
                <a:cs typeface="Times New Roman" panose="02020603050405020304" pitchFamily="18" charset="0"/>
              </a:rPr>
              <a:t>, </a:t>
            </a:r>
            <a:r>
              <a:rPr lang="en-US" sz="2000" dirty="0">
                <a:effectLst/>
                <a:ea typeface="Calibri" panose="020F0502020204030204" pitchFamily="34" charset="0"/>
                <a:cs typeface="Times New Roman" panose="02020603050405020304" pitchFamily="18" charset="0"/>
              </a:rPr>
              <a:t>Matplotlib</a:t>
            </a:r>
            <a:r>
              <a:rPr lang="ru-RU" sz="2000" dirty="0">
                <a:effectLst/>
                <a:ea typeface="Calibri" panose="020F0502020204030204" pitchFamily="34" charset="0"/>
                <a:cs typeface="Times New Roman" panose="02020603050405020304" pitchFamily="18" charset="0"/>
              </a:rPr>
              <a:t>, </a:t>
            </a:r>
            <a:r>
              <a:rPr lang="en-US" sz="2000" dirty="0">
                <a:effectLst/>
                <a:ea typeface="Calibri" panose="020F0502020204030204" pitchFamily="34" charset="0"/>
                <a:cs typeface="Times New Roman" panose="02020603050405020304" pitchFamily="18" charset="0"/>
              </a:rPr>
              <a:t>Seaborn</a:t>
            </a:r>
            <a:r>
              <a:rPr lang="ru-RU" sz="2000" dirty="0">
                <a:effectLst/>
                <a:ea typeface="Calibri" panose="020F0502020204030204" pitchFamily="34" charset="0"/>
                <a:cs typeface="Times New Roman" panose="02020603050405020304" pitchFamily="18" charset="0"/>
              </a:rPr>
              <a:t>, </a:t>
            </a:r>
            <a:r>
              <a:rPr lang="en-US" sz="2000" dirty="0" err="1">
                <a:effectLst/>
                <a:ea typeface="Calibri" panose="020F0502020204030204" pitchFamily="34" charset="0"/>
                <a:cs typeface="Times New Roman" panose="02020603050405020304" pitchFamily="18" charset="0"/>
              </a:rPr>
              <a:t>Skikit</a:t>
            </a:r>
            <a:r>
              <a:rPr lang="ru-RU" sz="2000" dirty="0">
                <a:effectLst/>
                <a:ea typeface="Calibri" panose="020F0502020204030204" pitchFamily="34" charset="0"/>
                <a:cs typeface="Times New Roman" panose="02020603050405020304" pitchFamily="18" charset="0"/>
              </a:rPr>
              <a:t>-</a:t>
            </a:r>
            <a:r>
              <a:rPr lang="en-US" sz="2000" dirty="0">
                <a:effectLst/>
                <a:ea typeface="Calibri" panose="020F0502020204030204" pitchFamily="34" charset="0"/>
                <a:cs typeface="Times New Roman" panose="02020603050405020304" pitchFamily="18" charset="0"/>
              </a:rPr>
              <a:t>Learn</a:t>
            </a:r>
            <a:r>
              <a:rPr lang="ru-RU" sz="2000" dirty="0">
                <a:effectLst/>
                <a:ea typeface="Calibri" panose="020F0502020204030204" pitchFamily="34" charset="0"/>
                <a:cs typeface="Times New Roman" panose="02020603050405020304" pitchFamily="18" charset="0"/>
              </a:rPr>
              <a:t>, </a:t>
            </a:r>
            <a:r>
              <a:rPr lang="en-US" sz="2000" dirty="0" err="1">
                <a:effectLst/>
                <a:ea typeface="Calibri" panose="020F0502020204030204" pitchFamily="34" charset="0"/>
                <a:cs typeface="Times New Roman" panose="02020603050405020304" pitchFamily="18" charset="0"/>
              </a:rPr>
              <a:t>Statsmodels</a:t>
            </a:r>
            <a:r>
              <a:rPr lang="ru-RU" sz="2000" dirty="0">
                <a:effectLst/>
                <a:ea typeface="Calibri" panose="020F0502020204030204" pitchFamily="34" charset="0"/>
                <a:cs typeface="Times New Roman" panose="02020603050405020304" pitchFamily="18" charset="0"/>
              </a:rPr>
              <a:t>, </a:t>
            </a:r>
            <a:r>
              <a:rPr lang="en-US" sz="2000" dirty="0" err="1">
                <a:effectLst/>
                <a:ea typeface="Calibri" panose="020F0502020204030204" pitchFamily="34" charset="0"/>
                <a:cs typeface="Times New Roman" panose="02020603050405020304" pitchFamily="18" charset="0"/>
              </a:rPr>
              <a:t>Plotly</a:t>
            </a:r>
            <a:endParaRPr lang="en-US" sz="2000" dirty="0">
              <a:effectLst/>
              <a:ea typeface="Calibri" panose="020F0502020204030204" pitchFamily="34" charset="0"/>
              <a:cs typeface="Times New Roman" panose="02020603050405020304" pitchFamily="18" charset="0"/>
            </a:endParaRPr>
          </a:p>
          <a:p>
            <a:pPr lvl="1"/>
            <a:r>
              <a:rPr lang="ru-RU" sz="2000" b="1" dirty="0"/>
              <a:t>Библиотеки </a:t>
            </a:r>
            <a:r>
              <a:rPr lang="en-US" sz="2000" b="1" dirty="0"/>
              <a:t>R</a:t>
            </a:r>
            <a:r>
              <a:rPr lang="ru-RU" sz="2000" b="1" dirty="0"/>
              <a:t>: </a:t>
            </a:r>
            <a:r>
              <a:rPr lang="en-US" sz="2000" dirty="0">
                <a:effectLst/>
                <a:ea typeface="Calibri" panose="020F0502020204030204" pitchFamily="34" charset="0"/>
                <a:cs typeface="Times New Roman" panose="02020603050405020304" pitchFamily="18" charset="0"/>
              </a:rPr>
              <a:t>ggplot2</a:t>
            </a:r>
            <a:r>
              <a:rPr lang="ru-RU" sz="2000" dirty="0">
                <a:effectLst/>
                <a:ea typeface="Calibri" panose="020F0502020204030204" pitchFamily="34" charset="0"/>
                <a:cs typeface="Times New Roman" panose="02020603050405020304" pitchFamily="18" charset="0"/>
              </a:rPr>
              <a:t>, </a:t>
            </a:r>
            <a:r>
              <a:rPr lang="en-US" sz="2000" dirty="0">
                <a:effectLst/>
                <a:ea typeface="Calibri" panose="020F0502020204030204" pitchFamily="34" charset="0"/>
                <a:cs typeface="Times New Roman" panose="02020603050405020304" pitchFamily="18" charset="0"/>
              </a:rPr>
              <a:t>caret</a:t>
            </a:r>
            <a:r>
              <a:rPr lang="ru-RU" sz="2000" dirty="0">
                <a:effectLst/>
                <a:ea typeface="Calibri" panose="020F0502020204030204" pitchFamily="34" charset="0"/>
                <a:cs typeface="Times New Roman" panose="02020603050405020304" pitchFamily="18" charset="0"/>
              </a:rPr>
              <a:t>, </a:t>
            </a:r>
            <a:r>
              <a:rPr lang="en-US" sz="2000" dirty="0" err="1">
                <a:effectLst/>
                <a:ea typeface="Calibri" panose="020F0502020204030204" pitchFamily="34" charset="0"/>
                <a:cs typeface="Times New Roman" panose="02020603050405020304" pitchFamily="18" charset="0"/>
              </a:rPr>
              <a:t>tidyverse</a:t>
            </a:r>
            <a:r>
              <a:rPr lang="ru-RU" sz="2000" dirty="0">
                <a:effectLst/>
                <a:ea typeface="Calibri" panose="020F0502020204030204" pitchFamily="34" charset="0"/>
                <a:cs typeface="Times New Roman" panose="02020603050405020304" pitchFamily="18" charset="0"/>
              </a:rPr>
              <a:t>, </a:t>
            </a:r>
            <a:r>
              <a:rPr lang="en-US" sz="2000" dirty="0" err="1">
                <a:effectLst/>
                <a:ea typeface="Calibri" panose="020F0502020204030204" pitchFamily="34" charset="0"/>
                <a:cs typeface="Times New Roman" panose="02020603050405020304" pitchFamily="18" charset="0"/>
              </a:rPr>
              <a:t>tidytext</a:t>
            </a:r>
            <a:endParaRPr lang="en-US" sz="2000" dirty="0"/>
          </a:p>
          <a:p>
            <a:r>
              <a:rPr lang="ru-RU" sz="2400" b="1" dirty="0"/>
              <a:t>Фреймворк</a:t>
            </a:r>
            <a:r>
              <a:rPr lang="en-US" sz="2400" b="1" dirty="0"/>
              <a:t>:</a:t>
            </a:r>
            <a:r>
              <a:rPr lang="ru-RU" sz="2400" b="1" dirty="0"/>
              <a:t> </a:t>
            </a:r>
            <a:r>
              <a:rPr lang="en-US" sz="2400" dirty="0">
                <a:effectLst/>
                <a:ea typeface="Calibri" panose="020F0502020204030204" pitchFamily="34" charset="0"/>
                <a:cs typeface="Times New Roman" panose="02020603050405020304" pitchFamily="18" charset="0"/>
              </a:rPr>
              <a:t>Dash</a:t>
            </a:r>
            <a:endParaRPr lang="en-US" sz="2400" dirty="0"/>
          </a:p>
        </p:txBody>
      </p:sp>
      <p:sp>
        <p:nvSpPr>
          <p:cNvPr id="5" name="Rectangle 4">
            <a:extLst>
              <a:ext uri="{FF2B5EF4-FFF2-40B4-BE49-F238E27FC236}">
                <a16:creationId xmlns:a16="http://schemas.microsoft.com/office/drawing/2014/main" id="{EEDB7A40-9B32-8514-B256-5F8BFB66E0E4}"/>
              </a:ext>
            </a:extLst>
          </p:cNvPr>
          <p:cNvSpPr>
            <a:spLocks noChangeArrowheads="1"/>
          </p:cNvSpPr>
          <p:nvPr/>
        </p:nvSpPr>
        <p:spPr bwMode="auto">
          <a:xfrm>
            <a:off x="1905724" y="470277"/>
            <a:ext cx="596028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kumimoji="1" lang="ru-RU" altLang="ru-RU" sz="3600" b="1" dirty="0">
                <a:solidFill>
                  <a:schemeClr val="tx2"/>
                </a:solidFill>
                <a:latin typeface="+mn-lt"/>
              </a:rPr>
              <a:t>Программные средства</a:t>
            </a:r>
          </a:p>
        </p:txBody>
      </p:sp>
    </p:spTree>
    <p:extLst>
      <p:ext uri="{BB962C8B-B14F-4D97-AF65-F5344CB8AC3E}">
        <p14:creationId xmlns:p14="http://schemas.microsoft.com/office/powerpoint/2010/main" val="5844314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ChangeArrowheads="1"/>
          </p:cNvSpPr>
          <p:nvPr/>
        </p:nvSpPr>
        <p:spPr bwMode="auto">
          <a:xfrm>
            <a:off x="2041895" y="323320"/>
            <a:ext cx="532870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kumimoji="1" lang="ru-RU" altLang="ru-RU" sz="3600" b="1" dirty="0">
                <a:solidFill>
                  <a:schemeClr val="tx2"/>
                </a:solidFill>
                <a:latin typeface="+mn-lt"/>
              </a:rPr>
              <a:t>Материалы и методы</a:t>
            </a:r>
          </a:p>
        </p:txBody>
      </p:sp>
      <p:sp>
        <p:nvSpPr>
          <p:cNvPr id="5" name="TextBox 4"/>
          <p:cNvSpPr txBox="1"/>
          <p:nvPr/>
        </p:nvSpPr>
        <p:spPr>
          <a:xfrm>
            <a:off x="11623040" y="6041727"/>
            <a:ext cx="389850" cy="584775"/>
          </a:xfrm>
          <a:prstGeom prst="rect">
            <a:avLst/>
          </a:prstGeom>
          <a:noFill/>
        </p:spPr>
        <p:txBody>
          <a:bodyPr wrap="none" rtlCol="0">
            <a:spAutoFit/>
          </a:bodyPr>
          <a:lstStyle/>
          <a:p>
            <a:r>
              <a:rPr lang="ru-RU" sz="3200" dirty="0">
                <a:latin typeface="Times New Roman" panose="02020603050405020304" pitchFamily="18" charset="0"/>
                <a:cs typeface="Times New Roman" panose="02020603050405020304" pitchFamily="18" charset="0"/>
              </a:rPr>
              <a:t>5</a:t>
            </a:r>
          </a:p>
        </p:txBody>
      </p:sp>
      <p:pic>
        <p:nvPicPr>
          <p:cNvPr id="6" name="Рисунок 5">
            <a:extLst>
              <a:ext uri="{FF2B5EF4-FFF2-40B4-BE49-F238E27FC236}">
                <a16:creationId xmlns:a16="http://schemas.microsoft.com/office/drawing/2014/main" id="{5675EBCB-3602-2A88-F151-66AAB6D5CE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21690" y="916060"/>
            <a:ext cx="9301350" cy="4211112"/>
          </a:xfrm>
          <a:prstGeom prst="rect">
            <a:avLst/>
          </a:prstGeom>
        </p:spPr>
      </p:pic>
      <p:sp>
        <p:nvSpPr>
          <p:cNvPr id="7" name="Стрелка вниз 6">
            <a:extLst>
              <a:ext uri="{FF2B5EF4-FFF2-40B4-BE49-F238E27FC236}">
                <a16:creationId xmlns:a16="http://schemas.microsoft.com/office/drawing/2014/main" id="{6F0653BB-00DB-EECC-6188-EA76C05CC8CC}"/>
              </a:ext>
            </a:extLst>
          </p:cNvPr>
          <p:cNvSpPr/>
          <p:nvPr/>
        </p:nvSpPr>
        <p:spPr>
          <a:xfrm>
            <a:off x="4555671" y="4359729"/>
            <a:ext cx="881743" cy="76744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 name="Овал 8">
            <a:extLst>
              <a:ext uri="{FF2B5EF4-FFF2-40B4-BE49-F238E27FC236}">
                <a16:creationId xmlns:a16="http://schemas.microsoft.com/office/drawing/2014/main" id="{54509324-D3CE-AB12-E994-FF8B3500BA78}"/>
              </a:ext>
            </a:extLst>
          </p:cNvPr>
          <p:cNvSpPr/>
          <p:nvPr/>
        </p:nvSpPr>
        <p:spPr>
          <a:xfrm>
            <a:off x="9036404" y="5520038"/>
            <a:ext cx="1990065" cy="636814"/>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ru-RU" dirty="0"/>
              <a:t>Файл .</a:t>
            </a:r>
            <a:r>
              <a:rPr lang="en-US" dirty="0"/>
              <a:t>csv</a:t>
            </a:r>
            <a:endParaRPr lang="ru-RU" dirty="0"/>
          </a:p>
        </p:txBody>
      </p:sp>
      <p:sp>
        <p:nvSpPr>
          <p:cNvPr id="10" name="Овал 9">
            <a:extLst>
              <a:ext uri="{FF2B5EF4-FFF2-40B4-BE49-F238E27FC236}">
                <a16:creationId xmlns:a16="http://schemas.microsoft.com/office/drawing/2014/main" id="{107D9EE0-F30D-71D0-F961-10533AB89747}"/>
              </a:ext>
            </a:extLst>
          </p:cNvPr>
          <p:cNvSpPr/>
          <p:nvPr/>
        </p:nvSpPr>
        <p:spPr>
          <a:xfrm>
            <a:off x="3894317" y="5127172"/>
            <a:ext cx="2201683" cy="636814"/>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ru-RU" dirty="0"/>
              <a:t>Данные заключений</a:t>
            </a:r>
          </a:p>
        </p:txBody>
      </p:sp>
      <p:sp>
        <p:nvSpPr>
          <p:cNvPr id="11" name="Стрелка вниз 10">
            <a:extLst>
              <a:ext uri="{FF2B5EF4-FFF2-40B4-BE49-F238E27FC236}">
                <a16:creationId xmlns:a16="http://schemas.microsoft.com/office/drawing/2014/main" id="{88B42509-556C-842B-08D1-27CA31A170EC}"/>
              </a:ext>
            </a:extLst>
          </p:cNvPr>
          <p:cNvSpPr/>
          <p:nvPr/>
        </p:nvSpPr>
        <p:spPr>
          <a:xfrm rot="16200000">
            <a:off x="6336039" y="4545787"/>
            <a:ext cx="2416632" cy="2201682"/>
          </a:xfrm>
          <a:prstGeom prst="downArrow">
            <a:avLst>
              <a:gd name="adj1" fmla="val 50000"/>
              <a:gd name="adj2" fmla="val 5148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2" name="TextBox 11">
            <a:extLst>
              <a:ext uri="{FF2B5EF4-FFF2-40B4-BE49-F238E27FC236}">
                <a16:creationId xmlns:a16="http://schemas.microsoft.com/office/drawing/2014/main" id="{E3AA2BC4-BF6E-06B3-AC35-D413A14E3D10}"/>
              </a:ext>
            </a:extLst>
          </p:cNvPr>
          <p:cNvSpPr txBox="1"/>
          <p:nvPr/>
        </p:nvSpPr>
        <p:spPr>
          <a:xfrm>
            <a:off x="6370723" y="5386063"/>
            <a:ext cx="1999750" cy="523220"/>
          </a:xfrm>
          <a:prstGeom prst="rect">
            <a:avLst/>
          </a:prstGeom>
          <a:noFill/>
        </p:spPr>
        <p:txBody>
          <a:bodyPr wrap="square" rtlCol="0">
            <a:spAutoFit/>
          </a:bodyPr>
          <a:lstStyle/>
          <a:p>
            <a:pPr algn="ctr"/>
            <a:r>
              <a:rPr lang="ru-RU" sz="1400" b="0" i="0" u="none" strike="noStrike" dirty="0">
                <a:solidFill>
                  <a:schemeClr val="bg1"/>
                </a:solidFill>
                <a:effectLst/>
                <a:latin typeface="Helvetica Neue" panose="02000503000000020004" pitchFamily="2" charset="0"/>
              </a:rPr>
              <a:t>извлечение данных из текста</a:t>
            </a:r>
            <a:endParaRPr lang="ru-RU" sz="1400" dirty="0">
              <a:solidFill>
                <a:schemeClr val="bg1"/>
              </a:solidFill>
            </a:endParaRPr>
          </a:p>
        </p:txBody>
      </p:sp>
    </p:spTree>
    <p:extLst>
      <p:ext uri="{BB962C8B-B14F-4D97-AF65-F5344CB8AC3E}">
        <p14:creationId xmlns:p14="http://schemas.microsoft.com/office/powerpoint/2010/main" val="4677380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2293477" y="293203"/>
            <a:ext cx="204895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kumimoji="1" lang="ru-RU" altLang="ru-RU" sz="3600" b="1" dirty="0">
                <a:solidFill>
                  <a:schemeClr val="tx2"/>
                </a:solidFill>
                <a:latin typeface="+mn-lt"/>
              </a:rPr>
              <a:t>Данные</a:t>
            </a:r>
          </a:p>
        </p:txBody>
      </p:sp>
      <p:sp>
        <p:nvSpPr>
          <p:cNvPr id="11" name="TextBox 10"/>
          <p:cNvSpPr txBox="1"/>
          <p:nvPr/>
        </p:nvSpPr>
        <p:spPr>
          <a:xfrm>
            <a:off x="11623040" y="6041727"/>
            <a:ext cx="389850" cy="584775"/>
          </a:xfrm>
          <a:prstGeom prst="rect">
            <a:avLst/>
          </a:prstGeom>
          <a:noFill/>
        </p:spPr>
        <p:txBody>
          <a:bodyPr wrap="none" rtlCol="0">
            <a:spAutoFit/>
          </a:bodyPr>
          <a:lstStyle/>
          <a:p>
            <a:r>
              <a:rPr lang="ru-RU" sz="3200" dirty="0">
                <a:latin typeface="Times New Roman" panose="02020603050405020304" pitchFamily="18" charset="0"/>
                <a:cs typeface="Times New Roman" panose="02020603050405020304" pitchFamily="18" charset="0"/>
              </a:rPr>
              <a:t>6</a:t>
            </a:r>
          </a:p>
        </p:txBody>
      </p:sp>
      <p:pic>
        <p:nvPicPr>
          <p:cNvPr id="4" name="Рисунок 3">
            <a:extLst>
              <a:ext uri="{FF2B5EF4-FFF2-40B4-BE49-F238E27FC236}">
                <a16:creationId xmlns:a16="http://schemas.microsoft.com/office/drawing/2014/main" id="{A1911BD1-9507-D8EE-7965-CCEC7BE91A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29231" y="616368"/>
            <a:ext cx="5240669" cy="5731329"/>
          </a:xfrm>
          <a:prstGeom prst="rect">
            <a:avLst/>
          </a:prstGeom>
        </p:spPr>
      </p:pic>
    </p:spTree>
    <p:extLst>
      <p:ext uri="{BB962C8B-B14F-4D97-AF65-F5344CB8AC3E}">
        <p14:creationId xmlns:p14="http://schemas.microsoft.com/office/powerpoint/2010/main" val="36454501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a:extLst>
              <a:ext uri="{FF2B5EF4-FFF2-40B4-BE49-F238E27FC236}">
                <a16:creationId xmlns:a16="http://schemas.microsoft.com/office/drawing/2014/main" id="{F99396E1-1EB0-7899-BE0B-9EEAC2A4F8F3}"/>
              </a:ext>
            </a:extLst>
          </p:cNvPr>
          <p:cNvPicPr/>
          <p:nvPr/>
        </p:nvPicPr>
        <p:blipFill>
          <a:blip r:embed="rId3"/>
          <a:stretch>
            <a:fillRect/>
          </a:stretch>
        </p:blipFill>
        <p:spPr bwMode="auto">
          <a:xfrm>
            <a:off x="6888031" y="2004245"/>
            <a:ext cx="4501833" cy="3923025"/>
          </a:xfrm>
          <a:prstGeom prst="rect">
            <a:avLst/>
          </a:prstGeom>
          <a:noFill/>
          <a:ln w="9525">
            <a:noFill/>
            <a:headEnd/>
            <a:tailEnd/>
          </a:ln>
        </p:spPr>
      </p:pic>
      <p:sp>
        <p:nvSpPr>
          <p:cNvPr id="5" name="Rectangle 4">
            <a:extLst>
              <a:ext uri="{FF2B5EF4-FFF2-40B4-BE49-F238E27FC236}">
                <a16:creationId xmlns:a16="http://schemas.microsoft.com/office/drawing/2014/main" id="{C8EDFCE6-B5FE-AE20-BFFE-4981FE5646A8}"/>
              </a:ext>
            </a:extLst>
          </p:cNvPr>
          <p:cNvSpPr>
            <a:spLocks noChangeArrowheads="1"/>
          </p:cNvSpPr>
          <p:nvPr/>
        </p:nvSpPr>
        <p:spPr bwMode="auto">
          <a:xfrm>
            <a:off x="2003661" y="554460"/>
            <a:ext cx="713528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kumimoji="1" lang="ru-RU" altLang="ru-RU" sz="3600" b="1" dirty="0">
                <a:solidFill>
                  <a:schemeClr val="tx2"/>
                </a:solidFill>
                <a:latin typeface="+mn-lt"/>
              </a:rPr>
              <a:t>Модель машинного обучения</a:t>
            </a:r>
          </a:p>
        </p:txBody>
      </p:sp>
      <p:pic>
        <p:nvPicPr>
          <p:cNvPr id="6" name="Picture">
            <a:extLst>
              <a:ext uri="{FF2B5EF4-FFF2-40B4-BE49-F238E27FC236}">
                <a16:creationId xmlns:a16="http://schemas.microsoft.com/office/drawing/2014/main" id="{E4DAE4BB-E97E-B304-5878-8ABF3BDA58B8}"/>
              </a:ext>
            </a:extLst>
          </p:cNvPr>
          <p:cNvPicPr/>
          <p:nvPr/>
        </p:nvPicPr>
        <p:blipFill>
          <a:blip r:embed="rId4"/>
          <a:stretch>
            <a:fillRect/>
          </a:stretch>
        </p:blipFill>
        <p:spPr bwMode="auto">
          <a:xfrm>
            <a:off x="1224643" y="4657634"/>
            <a:ext cx="5334000" cy="1102360"/>
          </a:xfrm>
          <a:prstGeom prst="rect">
            <a:avLst/>
          </a:prstGeom>
          <a:noFill/>
          <a:ln w="9525">
            <a:noFill/>
            <a:headEnd/>
            <a:tailEnd/>
          </a:ln>
        </p:spPr>
      </p:pic>
    </p:spTree>
    <p:extLst>
      <p:ext uri="{BB962C8B-B14F-4D97-AF65-F5344CB8AC3E}">
        <p14:creationId xmlns:p14="http://schemas.microsoft.com/office/powerpoint/2010/main" val="3948241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a:extLst>
              <a:ext uri="{FF2B5EF4-FFF2-40B4-BE49-F238E27FC236}">
                <a16:creationId xmlns:a16="http://schemas.microsoft.com/office/drawing/2014/main" id="{13D31996-3F7E-C905-4B6C-45F4CAE12011}"/>
              </a:ext>
            </a:extLst>
          </p:cNvPr>
          <p:cNvPicPr/>
          <p:nvPr/>
        </p:nvPicPr>
        <p:blipFill>
          <a:blip r:embed="rId3"/>
          <a:stretch>
            <a:fillRect/>
          </a:stretch>
        </p:blipFill>
        <p:spPr bwMode="auto">
          <a:xfrm>
            <a:off x="2086739" y="2240643"/>
            <a:ext cx="9098332" cy="2706914"/>
          </a:xfrm>
          <a:prstGeom prst="rect">
            <a:avLst/>
          </a:prstGeom>
          <a:noFill/>
          <a:ln w="9525">
            <a:noFill/>
            <a:headEnd/>
            <a:tailEnd/>
          </a:ln>
        </p:spPr>
      </p:pic>
      <p:sp>
        <p:nvSpPr>
          <p:cNvPr id="5" name="Rectangle 4">
            <a:extLst>
              <a:ext uri="{FF2B5EF4-FFF2-40B4-BE49-F238E27FC236}">
                <a16:creationId xmlns:a16="http://schemas.microsoft.com/office/drawing/2014/main" id="{A28BF136-FAC7-E580-DB88-0A0170C02C3B}"/>
              </a:ext>
            </a:extLst>
          </p:cNvPr>
          <p:cNvSpPr>
            <a:spLocks noChangeArrowheads="1"/>
          </p:cNvSpPr>
          <p:nvPr/>
        </p:nvSpPr>
        <p:spPr bwMode="auto">
          <a:xfrm>
            <a:off x="1780684" y="475647"/>
            <a:ext cx="643477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kumimoji="1" lang="ru-RU" altLang="ru-RU" sz="3600" b="1" dirty="0">
                <a:solidFill>
                  <a:schemeClr val="tx2"/>
                </a:solidFill>
                <a:latin typeface="+mn-lt"/>
              </a:rPr>
              <a:t>Интерактивный </a:t>
            </a:r>
            <a:r>
              <a:rPr kumimoji="1" lang="en-US" altLang="ru-RU" sz="3600" b="1" dirty="0">
                <a:solidFill>
                  <a:schemeClr val="tx2"/>
                </a:solidFill>
                <a:latin typeface="+mn-lt"/>
              </a:rPr>
              <a:t>dashboard</a:t>
            </a:r>
            <a:endParaRPr kumimoji="1" lang="ru-RU" altLang="ru-RU" sz="3600" b="1" dirty="0">
              <a:solidFill>
                <a:schemeClr val="tx2"/>
              </a:solidFill>
              <a:latin typeface="+mn-lt"/>
            </a:endParaRPr>
          </a:p>
        </p:txBody>
      </p:sp>
    </p:spTree>
    <p:extLst>
      <p:ext uri="{BB962C8B-B14F-4D97-AF65-F5344CB8AC3E}">
        <p14:creationId xmlns:p14="http://schemas.microsoft.com/office/powerpoint/2010/main" val="19094671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ChangeArrowheads="1"/>
          </p:cNvSpPr>
          <p:nvPr/>
        </p:nvSpPr>
        <p:spPr bwMode="auto">
          <a:xfrm>
            <a:off x="2079813" y="263376"/>
            <a:ext cx="462819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kumimoji="1" lang="ru-RU" altLang="ru-RU" sz="3600" b="1" dirty="0">
                <a:solidFill>
                  <a:schemeClr val="tx2"/>
                </a:solidFill>
                <a:latin typeface="+mn-lt"/>
              </a:rPr>
              <a:t>Функциональность</a:t>
            </a:r>
          </a:p>
        </p:txBody>
      </p:sp>
      <p:sp>
        <p:nvSpPr>
          <p:cNvPr id="5" name="TextBox 4"/>
          <p:cNvSpPr txBox="1"/>
          <p:nvPr/>
        </p:nvSpPr>
        <p:spPr>
          <a:xfrm>
            <a:off x="11623040" y="6041727"/>
            <a:ext cx="389850" cy="584775"/>
          </a:xfrm>
          <a:prstGeom prst="rect">
            <a:avLst/>
          </a:prstGeom>
          <a:noFill/>
        </p:spPr>
        <p:txBody>
          <a:bodyPr wrap="none" rtlCol="0">
            <a:spAutoFit/>
          </a:bodyPr>
          <a:lstStyle/>
          <a:p>
            <a:r>
              <a:rPr lang="ru-RU" sz="3200" dirty="0">
                <a:latin typeface="Times New Roman" panose="02020603050405020304" pitchFamily="18" charset="0"/>
                <a:cs typeface="Times New Roman" panose="02020603050405020304" pitchFamily="18" charset="0"/>
              </a:rPr>
              <a:t>7</a:t>
            </a:r>
          </a:p>
        </p:txBody>
      </p:sp>
      <p:pic>
        <p:nvPicPr>
          <p:cNvPr id="3" name="Picture">
            <a:extLst>
              <a:ext uri="{FF2B5EF4-FFF2-40B4-BE49-F238E27FC236}">
                <a16:creationId xmlns:a16="http://schemas.microsoft.com/office/drawing/2014/main" id="{FE15F0EA-28FA-D798-9F6F-A5819010BC3D}"/>
              </a:ext>
            </a:extLst>
          </p:cNvPr>
          <p:cNvPicPr/>
          <p:nvPr/>
        </p:nvPicPr>
        <p:blipFill>
          <a:blip r:embed="rId3"/>
          <a:stretch>
            <a:fillRect/>
          </a:stretch>
        </p:blipFill>
        <p:spPr bwMode="auto">
          <a:xfrm>
            <a:off x="2079813" y="1452677"/>
            <a:ext cx="9543227" cy="3952645"/>
          </a:xfrm>
          <a:prstGeom prst="rect">
            <a:avLst/>
          </a:prstGeom>
          <a:noFill/>
          <a:ln w="9525">
            <a:noFill/>
            <a:headEnd/>
            <a:tailEnd/>
          </a:ln>
        </p:spPr>
      </p:pic>
    </p:spTree>
    <p:extLst>
      <p:ext uri="{BB962C8B-B14F-4D97-AF65-F5344CB8AC3E}">
        <p14:creationId xmlns:p14="http://schemas.microsoft.com/office/powerpoint/2010/main" val="26628266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a:extLst>
              <a:ext uri="{FF2B5EF4-FFF2-40B4-BE49-F238E27FC236}">
                <a16:creationId xmlns:a16="http://schemas.microsoft.com/office/drawing/2014/main" id="{53927106-7500-F60E-0A71-CB155F03E02D}"/>
              </a:ext>
            </a:extLst>
          </p:cNvPr>
          <p:cNvPicPr>
            <a:picLocks noGrp="1"/>
          </p:cNvPicPr>
          <p:nvPr>
            <p:ph idx="1"/>
          </p:nvPr>
        </p:nvPicPr>
        <p:blipFill>
          <a:blip r:embed="rId3"/>
          <a:stretch>
            <a:fillRect/>
          </a:stretch>
        </p:blipFill>
        <p:spPr bwMode="auto">
          <a:xfrm>
            <a:off x="444308" y="1366158"/>
            <a:ext cx="6669506" cy="3778250"/>
          </a:xfrm>
          <a:prstGeom prst="rect">
            <a:avLst/>
          </a:prstGeom>
          <a:noFill/>
          <a:ln w="9525">
            <a:noFill/>
            <a:headEnd/>
            <a:tailEnd/>
          </a:ln>
        </p:spPr>
      </p:pic>
      <p:sp>
        <p:nvSpPr>
          <p:cNvPr id="5" name="Rectangle 4">
            <a:extLst>
              <a:ext uri="{FF2B5EF4-FFF2-40B4-BE49-F238E27FC236}">
                <a16:creationId xmlns:a16="http://schemas.microsoft.com/office/drawing/2014/main" id="{C85469FC-0D24-1140-2730-031F839DFBCA}"/>
              </a:ext>
            </a:extLst>
          </p:cNvPr>
          <p:cNvSpPr>
            <a:spLocks noGrp="1" noChangeArrowheads="1"/>
          </p:cNvSpPr>
          <p:nvPr>
            <p:ph type="title"/>
          </p:nvPr>
        </p:nvSpPr>
        <p:spPr bwMode="auto">
          <a:xfrm>
            <a:off x="2941616" y="476027"/>
            <a:ext cx="338105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kumimoji="1" lang="ru-RU" altLang="ru-RU" sz="3600" b="1" dirty="0">
                <a:solidFill>
                  <a:schemeClr val="tx2"/>
                </a:solidFill>
                <a:latin typeface="+mn-lt"/>
              </a:rPr>
              <a:t>Визуализация</a:t>
            </a:r>
          </a:p>
        </p:txBody>
      </p:sp>
      <p:pic>
        <p:nvPicPr>
          <p:cNvPr id="7" name="Рисунок 6">
            <a:extLst>
              <a:ext uri="{FF2B5EF4-FFF2-40B4-BE49-F238E27FC236}">
                <a16:creationId xmlns:a16="http://schemas.microsoft.com/office/drawing/2014/main" id="{D5BA918B-C3D7-47D4-2BAA-B7E8AF27B02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43401" y="3255283"/>
            <a:ext cx="7567576" cy="2900412"/>
          </a:xfrm>
          <a:prstGeom prst="rect">
            <a:avLst/>
          </a:prstGeom>
        </p:spPr>
      </p:pic>
    </p:spTree>
    <p:extLst>
      <p:ext uri="{BB962C8B-B14F-4D97-AF65-F5344CB8AC3E}">
        <p14:creationId xmlns:p14="http://schemas.microsoft.com/office/powerpoint/2010/main" val="32820814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1623040" y="6041727"/>
            <a:ext cx="389850" cy="584775"/>
          </a:xfrm>
          <a:prstGeom prst="rect">
            <a:avLst/>
          </a:prstGeom>
          <a:noFill/>
        </p:spPr>
        <p:txBody>
          <a:bodyPr wrap="none" rtlCol="0">
            <a:spAutoFit/>
          </a:bodyPr>
          <a:lstStyle/>
          <a:p>
            <a:r>
              <a:rPr lang="ru-RU" sz="3200" dirty="0">
                <a:latin typeface="Times New Roman" panose="02020603050405020304" pitchFamily="18" charset="0"/>
                <a:cs typeface="Times New Roman" panose="02020603050405020304" pitchFamily="18" charset="0"/>
              </a:rPr>
              <a:t>8</a:t>
            </a:r>
          </a:p>
        </p:txBody>
      </p:sp>
      <p:sp>
        <p:nvSpPr>
          <p:cNvPr id="5" name="Rectangle 4"/>
          <p:cNvSpPr>
            <a:spLocks noChangeArrowheads="1"/>
          </p:cNvSpPr>
          <p:nvPr/>
        </p:nvSpPr>
        <p:spPr bwMode="auto">
          <a:xfrm>
            <a:off x="2575484" y="417153"/>
            <a:ext cx="3520516"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kumimoji="1" lang="ru-RU" altLang="ru-RU" sz="4000" b="1" dirty="0">
                <a:solidFill>
                  <a:schemeClr val="tx2"/>
                </a:solidFill>
                <a:latin typeface="+mn-lt"/>
              </a:rPr>
              <a:t>Вероятность</a:t>
            </a:r>
          </a:p>
        </p:txBody>
      </p:sp>
      <p:pic>
        <p:nvPicPr>
          <p:cNvPr id="2" name="Picture">
            <a:extLst>
              <a:ext uri="{FF2B5EF4-FFF2-40B4-BE49-F238E27FC236}">
                <a16:creationId xmlns:a16="http://schemas.microsoft.com/office/drawing/2014/main" id="{787A7C90-5E18-A6B8-BCA6-D6BE24E34490}"/>
              </a:ext>
            </a:extLst>
          </p:cNvPr>
          <p:cNvPicPr/>
          <p:nvPr/>
        </p:nvPicPr>
        <p:blipFill>
          <a:blip r:embed="rId3"/>
          <a:stretch>
            <a:fillRect/>
          </a:stretch>
        </p:blipFill>
        <p:spPr bwMode="auto">
          <a:xfrm>
            <a:off x="1569579" y="1128689"/>
            <a:ext cx="5894614" cy="4600621"/>
          </a:xfrm>
          <a:prstGeom prst="rect">
            <a:avLst/>
          </a:prstGeom>
          <a:noFill/>
          <a:ln w="9525">
            <a:noFill/>
            <a:headEnd/>
            <a:tailEnd/>
          </a:ln>
        </p:spPr>
      </p:pic>
      <p:pic>
        <p:nvPicPr>
          <p:cNvPr id="6" name="Picture">
            <a:extLst>
              <a:ext uri="{FF2B5EF4-FFF2-40B4-BE49-F238E27FC236}">
                <a16:creationId xmlns:a16="http://schemas.microsoft.com/office/drawing/2014/main" id="{6E288C78-F8CD-EB21-3B28-53479077CEA6}"/>
              </a:ext>
            </a:extLst>
          </p:cNvPr>
          <p:cNvPicPr/>
          <p:nvPr/>
        </p:nvPicPr>
        <p:blipFill>
          <a:blip r:embed="rId4"/>
          <a:stretch>
            <a:fillRect/>
          </a:stretch>
        </p:blipFill>
        <p:spPr bwMode="auto">
          <a:xfrm>
            <a:off x="4584408" y="2956851"/>
            <a:ext cx="7233557" cy="3084876"/>
          </a:xfrm>
          <a:prstGeom prst="rect">
            <a:avLst/>
          </a:prstGeom>
          <a:noFill/>
          <a:ln w="9525">
            <a:noFill/>
            <a:headEnd/>
            <a:tailEnd/>
          </a:ln>
        </p:spPr>
      </p:pic>
    </p:spTree>
    <p:extLst>
      <p:ext uri="{BB962C8B-B14F-4D97-AF65-F5344CB8AC3E}">
        <p14:creationId xmlns:p14="http://schemas.microsoft.com/office/powerpoint/2010/main" val="8948415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a:extLst>
              <a:ext uri="{FF2B5EF4-FFF2-40B4-BE49-F238E27FC236}">
                <a16:creationId xmlns:a16="http://schemas.microsoft.com/office/drawing/2014/main" id="{D75EA33A-3FB6-96CF-B2A0-D0AB53829C52}"/>
              </a:ext>
            </a:extLst>
          </p:cNvPr>
          <p:cNvPicPr/>
          <p:nvPr/>
        </p:nvPicPr>
        <p:blipFill>
          <a:blip r:embed="rId3"/>
          <a:stretch>
            <a:fillRect/>
          </a:stretch>
        </p:blipFill>
        <p:spPr bwMode="auto">
          <a:xfrm>
            <a:off x="3788230" y="1644877"/>
            <a:ext cx="6645728" cy="4347709"/>
          </a:xfrm>
          <a:prstGeom prst="rect">
            <a:avLst/>
          </a:prstGeom>
          <a:noFill/>
          <a:ln w="9525">
            <a:noFill/>
            <a:headEnd/>
            <a:tailEnd/>
          </a:ln>
        </p:spPr>
      </p:pic>
      <p:sp>
        <p:nvSpPr>
          <p:cNvPr id="7" name="Rectangle 4">
            <a:extLst>
              <a:ext uri="{FF2B5EF4-FFF2-40B4-BE49-F238E27FC236}">
                <a16:creationId xmlns:a16="http://schemas.microsoft.com/office/drawing/2014/main" id="{B889E40B-BEA9-C394-A11C-0CB9D4D5D859}"/>
              </a:ext>
            </a:extLst>
          </p:cNvPr>
          <p:cNvSpPr>
            <a:spLocks noChangeArrowheads="1"/>
          </p:cNvSpPr>
          <p:nvPr/>
        </p:nvSpPr>
        <p:spPr bwMode="auto">
          <a:xfrm>
            <a:off x="1855832" y="511471"/>
            <a:ext cx="6723315"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kumimoji="1" lang="ru-RU" altLang="ru-RU" sz="4000" b="1" dirty="0">
                <a:solidFill>
                  <a:schemeClr val="tx2"/>
                </a:solidFill>
                <a:latin typeface="+mn-lt"/>
              </a:rPr>
              <a:t>Информационное табло</a:t>
            </a:r>
          </a:p>
        </p:txBody>
      </p:sp>
    </p:spTree>
    <p:extLst>
      <p:ext uri="{BB962C8B-B14F-4D97-AF65-F5344CB8AC3E}">
        <p14:creationId xmlns:p14="http://schemas.microsoft.com/office/powerpoint/2010/main" val="3559960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74328" y="250931"/>
            <a:ext cx="7712572" cy="749509"/>
          </a:xfrm>
        </p:spPr>
        <p:txBody>
          <a:bodyPr>
            <a:normAutofit fontScale="90000"/>
          </a:bodyPr>
          <a:lstStyle/>
          <a:p>
            <a:pPr algn="ctr"/>
            <a:r>
              <a:rPr kumimoji="1" lang="ru-RU" altLang="ru-RU" b="1" dirty="0">
                <a:solidFill>
                  <a:schemeClr val="tx2"/>
                </a:solidFill>
                <a:latin typeface="+mn-lt"/>
              </a:rPr>
              <a:t>Интеграция машинного обучения</a:t>
            </a:r>
            <a:br>
              <a:rPr kumimoji="1" lang="ru-RU" altLang="ru-RU" b="1" dirty="0">
                <a:solidFill>
                  <a:schemeClr val="tx2"/>
                </a:solidFill>
                <a:latin typeface="Times New Roman" panose="02020603050405020304" pitchFamily="18" charset="0"/>
              </a:rPr>
            </a:br>
            <a:endParaRPr lang="ru-RU" dirty="0"/>
          </a:p>
        </p:txBody>
      </p:sp>
      <p:sp>
        <p:nvSpPr>
          <p:cNvPr id="5" name="Прямоугольник 4"/>
          <p:cNvSpPr/>
          <p:nvPr/>
        </p:nvSpPr>
        <p:spPr>
          <a:xfrm>
            <a:off x="11625543" y="5906178"/>
            <a:ext cx="389850" cy="584775"/>
          </a:xfrm>
          <a:prstGeom prst="rect">
            <a:avLst/>
          </a:prstGeom>
        </p:spPr>
        <p:txBody>
          <a:bodyPr wrap="none">
            <a:spAutoFit/>
          </a:bodyPr>
          <a:lstStyle/>
          <a:p>
            <a:r>
              <a:rPr lang="ru-RU" sz="3200" dirty="0">
                <a:latin typeface="Times New Roman" panose="02020603050405020304" pitchFamily="18" charset="0"/>
                <a:cs typeface="Times New Roman" panose="02020603050405020304" pitchFamily="18" charset="0"/>
              </a:rPr>
              <a:t>9</a:t>
            </a:r>
            <a:endParaRPr lang="ru-RU" sz="3200" dirty="0"/>
          </a:p>
        </p:txBody>
      </p:sp>
      <p:pic>
        <p:nvPicPr>
          <p:cNvPr id="7" name="Picture">
            <a:extLst>
              <a:ext uri="{FF2B5EF4-FFF2-40B4-BE49-F238E27FC236}">
                <a16:creationId xmlns:a16="http://schemas.microsoft.com/office/drawing/2014/main" id="{B5C4D341-8A89-7C10-8CE5-398163B1F03D}"/>
              </a:ext>
            </a:extLst>
          </p:cNvPr>
          <p:cNvPicPr/>
          <p:nvPr/>
        </p:nvPicPr>
        <p:blipFill>
          <a:blip r:embed="rId3"/>
          <a:stretch>
            <a:fillRect/>
          </a:stretch>
        </p:blipFill>
        <p:spPr bwMode="auto">
          <a:xfrm>
            <a:off x="1143002" y="1278730"/>
            <a:ext cx="5334000" cy="2557780"/>
          </a:xfrm>
          <a:prstGeom prst="rect">
            <a:avLst/>
          </a:prstGeom>
          <a:noFill/>
          <a:ln w="9525">
            <a:noFill/>
            <a:headEnd/>
            <a:tailEnd/>
          </a:ln>
        </p:spPr>
      </p:pic>
      <p:pic>
        <p:nvPicPr>
          <p:cNvPr id="8" name="Picture">
            <a:extLst>
              <a:ext uri="{FF2B5EF4-FFF2-40B4-BE49-F238E27FC236}">
                <a16:creationId xmlns:a16="http://schemas.microsoft.com/office/drawing/2014/main" id="{F4AEB4B0-3F5E-03A9-FEB5-5A8F893036E7}"/>
              </a:ext>
            </a:extLst>
          </p:cNvPr>
          <p:cNvPicPr/>
          <p:nvPr/>
        </p:nvPicPr>
        <p:blipFill>
          <a:blip r:embed="rId4"/>
          <a:stretch>
            <a:fillRect/>
          </a:stretch>
        </p:blipFill>
        <p:spPr bwMode="auto">
          <a:xfrm>
            <a:off x="5323115" y="3836510"/>
            <a:ext cx="6122814" cy="2557779"/>
          </a:xfrm>
          <a:prstGeom prst="rect">
            <a:avLst/>
          </a:prstGeom>
          <a:noFill/>
          <a:ln w="9525">
            <a:noFill/>
            <a:headEnd/>
            <a:tailEnd/>
          </a:ln>
        </p:spPr>
      </p:pic>
      <p:sp>
        <p:nvSpPr>
          <p:cNvPr id="9" name="Прямоугольник 8">
            <a:extLst>
              <a:ext uri="{FF2B5EF4-FFF2-40B4-BE49-F238E27FC236}">
                <a16:creationId xmlns:a16="http://schemas.microsoft.com/office/drawing/2014/main" id="{71E09348-40D8-793D-7875-7BC5114B748F}"/>
              </a:ext>
            </a:extLst>
          </p:cNvPr>
          <p:cNvSpPr/>
          <p:nvPr/>
        </p:nvSpPr>
        <p:spPr>
          <a:xfrm>
            <a:off x="5339443" y="4114800"/>
            <a:ext cx="1338943" cy="359229"/>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19285743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FB8700CC-A43A-C2E6-5DA2-27B67B3DBEDD}"/>
              </a:ext>
            </a:extLst>
          </p:cNvPr>
          <p:cNvSpPr>
            <a:spLocks noGrp="1"/>
          </p:cNvSpPr>
          <p:nvPr>
            <p:ph idx="1"/>
          </p:nvPr>
        </p:nvSpPr>
        <p:spPr>
          <a:xfrm>
            <a:off x="3209699" y="2318657"/>
            <a:ext cx="4072844" cy="1110343"/>
          </a:xfrm>
        </p:spPr>
        <p:txBody>
          <a:bodyPr/>
          <a:lstStyle/>
          <a:p>
            <a:r>
              <a:rPr lang="ru-RU" sz="1800" u="sng"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hlinkClick r:id="rId3"/>
              </a:rPr>
              <a:t>http://217.18.63.8/</a:t>
            </a: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ru-RU"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ru-RU" dirty="0"/>
          </a:p>
        </p:txBody>
      </p:sp>
      <p:pic>
        <p:nvPicPr>
          <p:cNvPr id="5" name="Рисунок 4">
            <a:extLst>
              <a:ext uri="{FF2B5EF4-FFF2-40B4-BE49-F238E27FC236}">
                <a16:creationId xmlns:a16="http://schemas.microsoft.com/office/drawing/2014/main" id="{C9743E98-7455-EB97-D95E-1F1ACE92843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48442" y="3429000"/>
            <a:ext cx="7772400" cy="1362650"/>
          </a:xfrm>
          <a:prstGeom prst="rect">
            <a:avLst/>
          </a:prstGeom>
        </p:spPr>
      </p:pic>
      <p:sp>
        <p:nvSpPr>
          <p:cNvPr id="8" name="Заголовок 1">
            <a:extLst>
              <a:ext uri="{FF2B5EF4-FFF2-40B4-BE49-F238E27FC236}">
                <a16:creationId xmlns:a16="http://schemas.microsoft.com/office/drawing/2014/main" id="{DCFB9D4C-7422-82DB-ABE5-B811D6E4FEDE}"/>
              </a:ext>
            </a:extLst>
          </p:cNvPr>
          <p:cNvSpPr txBox="1">
            <a:spLocks/>
          </p:cNvSpPr>
          <p:nvPr/>
        </p:nvSpPr>
        <p:spPr>
          <a:xfrm>
            <a:off x="1921285" y="877201"/>
            <a:ext cx="7187138" cy="1027799"/>
          </a:xfrm>
          <a:prstGeom prst="rect">
            <a:avLst/>
          </a:prstGeom>
        </p:spPr>
        <p:txBody>
          <a:bodyPr vert="horz" lIns="91440" tIns="45720" rIns="91440" bIns="45720" rtlCol="0" anchor="t">
            <a:normAutofit fontScale="90000" lnSpcReduction="10000"/>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kumimoji="1" lang="ru-RU" altLang="ru-RU" b="1" dirty="0">
                <a:solidFill>
                  <a:schemeClr val="tx2"/>
                </a:solidFill>
                <a:latin typeface="+mn-lt"/>
              </a:rPr>
              <a:t>РАЗВЕРТЫВАНИЕ ПРИЛОЖЕНИЯ</a:t>
            </a:r>
            <a:br>
              <a:rPr kumimoji="1" lang="ru-RU" altLang="ru-RU" b="1" dirty="0">
                <a:solidFill>
                  <a:schemeClr val="tx2"/>
                </a:solidFill>
                <a:latin typeface="Times New Roman" panose="02020603050405020304" pitchFamily="18" charset="0"/>
              </a:rPr>
            </a:br>
            <a:endParaRPr lang="ru-RU" dirty="0"/>
          </a:p>
        </p:txBody>
      </p:sp>
    </p:spTree>
    <p:extLst>
      <p:ext uri="{BB962C8B-B14F-4D97-AF65-F5344CB8AC3E}">
        <p14:creationId xmlns:p14="http://schemas.microsoft.com/office/powerpoint/2010/main" val="19547576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11623040" y="6041727"/>
            <a:ext cx="579774" cy="584775"/>
          </a:xfrm>
          <a:prstGeom prst="rect">
            <a:avLst/>
          </a:prstGeom>
          <a:noFill/>
        </p:spPr>
        <p:txBody>
          <a:bodyPr wrap="none" rtlCol="0">
            <a:spAutoFit/>
          </a:bodyPr>
          <a:lstStyle/>
          <a:p>
            <a:r>
              <a:rPr lang="ru-RU" sz="3200" dirty="0">
                <a:latin typeface="Times New Roman" panose="02020603050405020304" pitchFamily="18" charset="0"/>
                <a:cs typeface="Times New Roman" panose="02020603050405020304" pitchFamily="18" charset="0"/>
              </a:rPr>
              <a:t>11</a:t>
            </a:r>
          </a:p>
        </p:txBody>
      </p:sp>
      <p:sp>
        <p:nvSpPr>
          <p:cNvPr id="2" name="Заголовок 1"/>
          <p:cNvSpPr>
            <a:spLocks noGrp="1"/>
          </p:cNvSpPr>
          <p:nvPr>
            <p:ph type="title"/>
          </p:nvPr>
        </p:nvSpPr>
        <p:spPr>
          <a:xfrm>
            <a:off x="2592926" y="624110"/>
            <a:ext cx="2697532" cy="698504"/>
          </a:xfrm>
        </p:spPr>
        <p:txBody>
          <a:bodyPr>
            <a:normAutofit/>
          </a:bodyPr>
          <a:lstStyle/>
          <a:p>
            <a:r>
              <a:rPr kumimoji="1" lang="ru-RU" b="1" dirty="0">
                <a:solidFill>
                  <a:schemeClr val="tx2"/>
                </a:solidFill>
                <a:latin typeface="+mn-lt"/>
              </a:rPr>
              <a:t>ВЫВОДЫ</a:t>
            </a:r>
            <a:endParaRPr lang="ru-RU" dirty="0"/>
          </a:p>
        </p:txBody>
      </p:sp>
      <p:sp>
        <p:nvSpPr>
          <p:cNvPr id="3" name="Объект 2"/>
          <p:cNvSpPr>
            <a:spLocks noGrp="1"/>
          </p:cNvSpPr>
          <p:nvPr>
            <p:ph idx="1"/>
          </p:nvPr>
        </p:nvSpPr>
        <p:spPr/>
        <p:txBody>
          <a:bodyPr>
            <a:normAutofit fontScale="92500" lnSpcReduction="10000"/>
          </a:bodyPr>
          <a:lstStyle/>
          <a:p>
            <a:pPr lvl="0"/>
            <a:r>
              <a:rPr lang="ru-RU" dirty="0"/>
              <a:t>Все поставленные задачи выполнены </a:t>
            </a:r>
          </a:p>
          <a:p>
            <a:pPr lvl="0"/>
            <a:r>
              <a:rPr lang="ru-RU" dirty="0">
                <a:ea typeface="Calibri" panose="020F0502020204030204" pitchFamily="34" charset="0"/>
              </a:rPr>
              <a:t>П</a:t>
            </a:r>
            <a:r>
              <a:rPr lang="ru-RU" sz="1800" dirty="0">
                <a:effectLst/>
                <a:ea typeface="Calibri" panose="020F0502020204030204" pitchFamily="34" charset="0"/>
              </a:rPr>
              <a:t>риложение можно охарактеризовать как продукт, обладающий минимальными, но достаточными для удовлетворения первых потребителей функциями</a:t>
            </a:r>
            <a:r>
              <a:rPr lang="ru-RU" dirty="0">
                <a:effectLst/>
              </a:rPr>
              <a:t> </a:t>
            </a:r>
          </a:p>
          <a:p>
            <a:pPr lvl="0"/>
            <a:r>
              <a:rPr lang="ru-RU" sz="1800" dirty="0">
                <a:effectLst/>
                <a:ea typeface="Calibri" panose="020F0502020204030204" pitchFamily="34" charset="0"/>
              </a:rPr>
              <a:t>Для дальнейшего развития проекта требуется замена исходно таблицы .</a:t>
            </a:r>
            <a:r>
              <a:rPr lang="ru-RU" sz="1800" dirty="0" err="1">
                <a:effectLst/>
                <a:ea typeface="Calibri" panose="020F0502020204030204" pitchFamily="34" charset="0"/>
              </a:rPr>
              <a:t>csv</a:t>
            </a:r>
            <a:r>
              <a:rPr lang="ru-RU" sz="1800" dirty="0">
                <a:effectLst/>
                <a:ea typeface="Calibri" panose="020F0502020204030204" pitchFamily="34" charset="0"/>
              </a:rPr>
              <a:t> на реляционную базу данных. </a:t>
            </a:r>
            <a:endParaRPr lang="ru-RU" sz="1800" dirty="0">
              <a:ea typeface="Calibri" panose="020F0502020204030204" pitchFamily="34" charset="0"/>
            </a:endParaRPr>
          </a:p>
          <a:p>
            <a:pPr lvl="0"/>
            <a:r>
              <a:rPr lang="ru-RU" sz="1800" dirty="0">
                <a:effectLst/>
                <a:ea typeface="Calibri" panose="020F0502020204030204" pitchFamily="34" charset="0"/>
              </a:rPr>
              <a:t>Так же перспективным направлением является разработка систем глубокого обучения изображений</a:t>
            </a:r>
            <a:r>
              <a:rPr lang="ru-RU" dirty="0">
                <a:effectLst/>
              </a:rPr>
              <a:t> </a:t>
            </a:r>
          </a:p>
          <a:p>
            <a:pPr lvl="0"/>
            <a:r>
              <a:rPr lang="ru-RU" dirty="0">
                <a:ea typeface="Calibri" panose="020F0502020204030204" pitchFamily="34" charset="0"/>
              </a:rPr>
              <a:t>Р</a:t>
            </a:r>
            <a:r>
              <a:rPr lang="ru-RU" sz="1800" dirty="0">
                <a:effectLst/>
                <a:ea typeface="Calibri" panose="020F0502020204030204" pitchFamily="34" charset="0"/>
              </a:rPr>
              <a:t>азвитие автоматизированных систем предсказания непосредственного обнаружения интересующего образования </a:t>
            </a:r>
            <a:endParaRPr lang="ru-RU" sz="1800" dirty="0">
              <a:ea typeface="Calibri" panose="020F0502020204030204" pitchFamily="34" charset="0"/>
            </a:endParaRPr>
          </a:p>
          <a:p>
            <a:pPr lvl="0"/>
            <a:r>
              <a:rPr lang="ru-RU" dirty="0"/>
              <a:t>Развитие </a:t>
            </a:r>
            <a:r>
              <a:rPr lang="ru-RU" sz="1800" dirty="0">
                <a:effectLst/>
                <a:ea typeface="Calibri" panose="020F0502020204030204" pitchFamily="34" charset="0"/>
              </a:rPr>
              <a:t>систем предсказания организационной работы</a:t>
            </a:r>
          </a:p>
          <a:p>
            <a:pPr lvl="0"/>
            <a:r>
              <a:rPr lang="ru-RU" dirty="0"/>
              <a:t>Потенциал для научного применения</a:t>
            </a:r>
          </a:p>
        </p:txBody>
      </p:sp>
    </p:spTree>
    <p:extLst>
      <p:ext uri="{BB962C8B-B14F-4D97-AF65-F5344CB8AC3E}">
        <p14:creationId xmlns:p14="http://schemas.microsoft.com/office/powerpoint/2010/main" val="32091513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2468880" y="2529840"/>
            <a:ext cx="6543779"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kumimoji="1" lang="ru-RU" altLang="ru-RU" sz="4000" b="1" dirty="0">
                <a:solidFill>
                  <a:schemeClr val="tx2"/>
                </a:solidFill>
                <a:latin typeface="+mn-lt"/>
              </a:rPr>
              <a:t>СПАСИБО ЗА ВНИМАНИЕ</a:t>
            </a:r>
          </a:p>
        </p:txBody>
      </p:sp>
      <p:sp>
        <p:nvSpPr>
          <p:cNvPr id="5" name="TextBox 4"/>
          <p:cNvSpPr txBox="1"/>
          <p:nvPr/>
        </p:nvSpPr>
        <p:spPr>
          <a:xfrm>
            <a:off x="11623040" y="6041727"/>
            <a:ext cx="595035" cy="584775"/>
          </a:xfrm>
          <a:prstGeom prst="rect">
            <a:avLst/>
          </a:prstGeom>
          <a:noFill/>
        </p:spPr>
        <p:txBody>
          <a:bodyPr wrap="none" rtlCol="0">
            <a:spAutoFit/>
          </a:bodyPr>
          <a:lstStyle/>
          <a:p>
            <a:r>
              <a:rPr lang="ru-RU" sz="3200" dirty="0">
                <a:latin typeface="Times New Roman" panose="02020603050405020304" pitchFamily="18" charset="0"/>
                <a:cs typeface="Times New Roman" panose="02020603050405020304" pitchFamily="18" charset="0"/>
              </a:rPr>
              <a:t>12</a:t>
            </a:r>
          </a:p>
        </p:txBody>
      </p:sp>
    </p:spTree>
    <p:extLst>
      <p:ext uri="{BB962C8B-B14F-4D97-AF65-F5344CB8AC3E}">
        <p14:creationId xmlns:p14="http://schemas.microsoft.com/office/powerpoint/2010/main" val="2292080885"/>
      </p:ext>
    </p:extLst>
  </p:cSld>
  <p:clrMapOvr>
    <a:masterClrMapping/>
  </p:clrMapOvr>
</p:sld>
</file>

<file path=ppt/theme/theme1.xml><?xml version="1.0" encoding="utf-8"?>
<a:theme xmlns:a="http://schemas.openxmlformats.org/drawingml/2006/main" name="Легкий дым">
  <a:themeElements>
    <a:clrScheme name="Легкий дым">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Легкий дым">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Легкий дым">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{AB0F6778-C1BE-8243-963E-DD2F3771AA18}tf10001069</Template>
  <TotalTime>3312</TotalTime>
  <Words>1336</Words>
  <Application>Microsoft Macintosh PowerPoint</Application>
  <PresentationFormat>Широкоэкранный</PresentationFormat>
  <Paragraphs>134</Paragraphs>
  <Slides>19</Slides>
  <Notes>18</Notes>
  <HiddenSlides>0</HiddenSlides>
  <MMClips>0</MMClips>
  <ScaleCrop>false</ScaleCrop>
  <HeadingPairs>
    <vt:vector size="6" baseType="variant">
      <vt:variant>
        <vt:lpstr>Использованные шрифты</vt:lpstr>
      </vt:variant>
      <vt:variant>
        <vt:i4>7</vt:i4>
      </vt:variant>
      <vt:variant>
        <vt:lpstr>Тема</vt:lpstr>
      </vt:variant>
      <vt:variant>
        <vt:i4>1</vt:i4>
      </vt:variant>
      <vt:variant>
        <vt:lpstr>Заголовки слайдов</vt:lpstr>
      </vt:variant>
      <vt:variant>
        <vt:i4>19</vt:i4>
      </vt:variant>
    </vt:vector>
  </HeadingPairs>
  <TitlesOfParts>
    <vt:vector size="27" baseType="lpstr">
      <vt:lpstr>Arial</vt:lpstr>
      <vt:lpstr>Calibri</vt:lpstr>
      <vt:lpstr>Century Gothic</vt:lpstr>
      <vt:lpstr>Helvetica Neue</vt:lpstr>
      <vt:lpstr>Times New Roman</vt:lpstr>
      <vt:lpstr>Wingdings</vt:lpstr>
      <vt:lpstr>Wingdings 3</vt:lpstr>
      <vt:lpstr>Легкий дым</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Визуализация</vt:lpstr>
      <vt:lpstr>Презентация PowerPoint</vt:lpstr>
      <vt:lpstr>Презентация PowerPoint</vt:lpstr>
      <vt:lpstr>Интеграция машинного обучения </vt:lpstr>
      <vt:lpstr>Презентация PowerPoint</vt:lpstr>
      <vt:lpstr>ВЫВОДЫ</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Юрий</dc:creator>
  <cp:lastModifiedBy>Andrey Povaliy</cp:lastModifiedBy>
  <cp:revision>66</cp:revision>
  <dcterms:created xsi:type="dcterms:W3CDTF">2019-07-24T12:59:31Z</dcterms:created>
  <dcterms:modified xsi:type="dcterms:W3CDTF">2025-06-04T08:46:36Z</dcterms:modified>
</cp:coreProperties>
</file>