
<file path=[Content_Types].xml><?xml version="1.0" encoding="utf-8"?>
<Types xmlns="http://schemas.openxmlformats.org/package/2006/content-types">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18.xml" ContentType="application/vnd.openxmlformats-officedocument.presentationml.notesSlide+xml"/>
  <Override PartName="/ppt/notesSlides/notesSlide13.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slides/slide19.xml" ContentType="application/vnd.openxmlformats-officedocument.presentationml.slide+xml"/>
  <Override PartName="/ppt/notesSlides/notesSlide3.xml" ContentType="application/vnd.openxmlformats-officedocument.presentationml.notesSlide+xml"/>
  <Override PartName="/ppt/slides/slide18.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5.xml" ContentType="application/vnd.openxmlformats-officedocument.presentationml.notesSlide+xml"/>
  <Override PartName="/ppt/slides/slide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3.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s/slide1.xml" ContentType="application/vnd.openxmlformats-officedocument.presentationml.slide+xml"/>
  <Override PartName="/ppt/notesSlides/notesSlide14.xml" ContentType="application/vnd.openxmlformats-officedocument.presentationml.notesSlide+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s/slide5.xml" ContentType="application/vnd.openxmlformats-officedocument.presentationml.slide+xml"/>
  <Override PartName="/ppt/slides/slide15.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s/slide14.xml" ContentType="application/vnd.openxmlformats-officedocument.presentationml.slide+xml"/>
  <Override PartName="/ppt/slideMasters/slideMaster1.xml" ContentType="application/vnd.openxmlformats-officedocument.presentationml.slideMaster+xml"/>
  <Override PartName="/ppt/theme/theme2.xml" ContentType="application/vnd.openxmlformats-officedocument.theme+xml"/>
  <Override PartName="/ppt/slideLayouts/slideLayout15.xml" ContentType="application/vnd.openxmlformats-officedocument.presentationml.slideLayout+xml"/>
  <Override PartName="/ppt/notesSlides/notesSlide17.xml" ContentType="application/vnd.openxmlformats-officedocument.presentationml.notesSlide+xml"/>
  <Override PartName="/ppt/slideLayouts/slideLayout11.xml" ContentType="application/vnd.openxmlformats-officedocument.presentationml.slideLayout+xml"/>
  <Override PartName="/ppt/tableStyles.xml" ContentType="application/vnd.openxmlformats-officedocument.presentationml.tableStyles+xml"/>
  <Override PartName="/ppt/theme/theme1.xml" ContentType="application/vnd.openxmlformats-officedocument.them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s/slide2.xml" ContentType="application/vnd.openxmlformats-officedocument.presentationml.slide+xml"/>
  <Override PartName="/ppt/viewProps.xml" ContentType="application/vnd.openxmlformats-officedocument.presentationml.viewProps+xml"/>
  <Override PartName="/ppt/slideLayouts/slideLayout6.xml" ContentType="application/vnd.openxmlformats-officedocument.presentationml.slideLayout+xml"/>
  <Override PartName="/ppt/presProps.xml" ContentType="application/vnd.openxmlformats-officedocument.presentationml.presProps+xml"/>
  <Override PartName="/ppt/notesSlides/notesSlide12.xml" ContentType="application/vnd.openxmlformats-officedocument.presentationml.notesSlide+xml"/>
  <Override PartName="/ppt/slideLayouts/slideLayout5.xml" ContentType="application/vnd.openxmlformats-officedocument.presentationml.slideLayout+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2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12192000" cy="6858000"/>
  <p:defaultText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79" d="100"/>
          <a:sy n="79" d="100"/>
        </p:scale>
        <p:origin x="1776" y="184"/>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notesMaster" Target="notesMasters/notesMaster1.xml"/><Relationship Id="rId24" Type="http://schemas.openxmlformats.org/officeDocument/2006/relationships/presProps" Target="presProps.xml" /><Relationship Id="rId25" Type="http://schemas.openxmlformats.org/officeDocument/2006/relationships/tableStyles" Target="tableStyles.xml" /><Relationship Id="rId26"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Верхний колонтитул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ru-RU"/>
          </a:p>
        </p:txBody>
      </p:sp>
      <p:sp>
        <p:nvSpPr>
          <p:cNvPr id="3" name="Дата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22208FC4-7B4C-AE41-A3BE-193FA29A552D}" type="datetimeFigureOut">
              <a:rPr lang="ru-RU"/>
              <a:t/>
            </a:fld>
            <a:endParaRPr lang="ru-RU"/>
          </a:p>
        </p:txBody>
      </p:sp>
      <p:sp>
        <p:nvSpPr>
          <p:cNvPr id="4" name="Образ слайда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ru-RU"/>
          </a:p>
        </p:txBody>
      </p:sp>
      <p:sp>
        <p:nvSpPr>
          <p:cNvPr id="5" name="Заметки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6" name="Нижний колонтитул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ru-RU"/>
          </a:p>
        </p:txBody>
      </p:sp>
      <p:sp>
        <p:nvSpPr>
          <p:cNvPr id="7" name="Номер слайда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ECB01670-C036-3749-AA3F-633594AE6953}" type="slidenum">
              <a:rPr lang="ru-RU"/>
              <a:t/>
            </a:fld>
            <a:endParaRPr lang="ru-RU"/>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 Id="rId3" Type="http://schemas.openxmlformats.org/officeDocument/2006/relationships/hyperlink" Target="http://217.18.63.8/"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ru-RU" sz="1200">
                <a:solidFill>
                  <a:srgbClr val="000000"/>
                </a:solidFill>
                <a:latin typeface="Times New Roman"/>
                <a:ea typeface="Arial Unicode MS"/>
                <a:cs typeface="Arial Unicode MS"/>
              </a:rPr>
              <a:t>Разработка информационной-аналитической системы для исследования данных скрининга рака молочной железы</a:t>
            </a:r>
            <a:endParaRPr lang="ru-RU" sz="2400">
              <a:latin typeface="Times New Roman"/>
              <a:cs typeface="Times New Roman"/>
            </a:endParaRPr>
          </a:p>
          <a:p>
            <a:pPr marL="0" marR="0" lvl="0" indent="0" algn="l" defTabSz="914400">
              <a:lnSpc>
                <a:spcPct val="100000"/>
              </a:lnSpc>
              <a:spcBef>
                <a:spcPts val="0"/>
              </a:spcBef>
              <a:spcAft>
                <a:spcPts val="0"/>
              </a:spcAft>
              <a:buClrTx/>
              <a:buSzTx/>
              <a:buFontTx/>
              <a:buNone/>
              <a:defRPr/>
            </a:pPr>
            <a:endParaRPr lang="en"/>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algn="just">
              <a:buFont typeface="Wingdings"/>
              <a:buChar char="ü"/>
              <a:defRPr/>
            </a:pPr>
            <a:r>
              <a:rPr lang="ru-RU" sz="1200">
                <a:latin typeface="Times New Roman"/>
                <a:cs typeface="Times New Roman"/>
              </a:rPr>
              <a:t>Рак молочной железы одно из самых распространённых онкологических заболеваний в мире и является основной причиной смертности от злокачественных образований среди женщины(</a:t>
            </a:r>
            <a:r>
              <a:rPr lang="en-US" sz="1200">
                <a:latin typeface="Times New Roman"/>
                <a:cs typeface="Times New Roman"/>
              </a:rPr>
              <a:t> World Cancer Declaration Progress 2021).</a:t>
            </a:r>
            <a:endParaRPr/>
          </a:p>
          <a:p>
            <a:pPr algn="just">
              <a:buFont typeface="Wingdings"/>
              <a:buChar char="ü"/>
              <a:defRPr/>
            </a:pPr>
            <a:r>
              <a:rPr lang="ru-RU" sz="1200">
                <a:latin typeface="Times New Roman"/>
                <a:cs typeface="Times New Roman"/>
              </a:rPr>
              <a:t>Маммография является золотым стандартом в обследовании женщин, но имеет значительные недостатки у женщин с высокой рентгенологической плотностью молочных желез.</a:t>
            </a:r>
            <a:endParaRPr/>
          </a:p>
          <a:p>
            <a:pPr algn="just">
              <a:buFont typeface="Wingdings"/>
              <a:buChar char="ü"/>
              <a:defRPr/>
            </a:pPr>
            <a:r>
              <a:rPr lang="ru-RU" sz="1200">
                <a:latin typeface="Times New Roman"/>
                <a:cs typeface="Times New Roman"/>
              </a:rPr>
              <a:t>Плотная молочная железа- это преобладание фиброзно-железистой ткани над жировой тканью в строении МЖ, такая ткань плохо пропускает рентгеновские лучи, затрудняет визуализацию патологических изменений.</a:t>
            </a:r>
            <a:endParaRPr/>
          </a:p>
          <a:p>
            <a:pPr algn="just">
              <a:buFont typeface="Wingdings"/>
              <a:buChar char="ü"/>
              <a:defRPr/>
            </a:pPr>
            <a:r>
              <a:rPr lang="ru-RU" sz="1200">
                <a:latin typeface="Times New Roman"/>
                <a:cs typeface="Times New Roman"/>
              </a:rPr>
              <a:t>Отдельного освещения требует оценка возможностей скринингового метода для женщин в возрасте до 40 лет, где метод маммографии, золотой стандарт не является эффективным.</a:t>
            </a:r>
            <a:endParaRPr/>
          </a:p>
          <a:p>
            <a:pPr marL="0" marR="0" lvl="0" indent="0" algn="just" defTabSz="914400">
              <a:lnSpc>
                <a:spcPct val="100000"/>
              </a:lnSpc>
              <a:spcBef>
                <a:spcPts val="0"/>
              </a:spcBef>
              <a:spcAft>
                <a:spcPts val="0"/>
              </a:spcAft>
              <a:buClrTx/>
              <a:buSzTx/>
              <a:buFont typeface="Wingdings"/>
              <a:buChar char="ü"/>
              <a:defRPr/>
            </a:pPr>
            <a:r>
              <a:rPr lang="ru-RU" sz="1200">
                <a:latin typeface="Times New Roman"/>
                <a:cs typeface="Times New Roman"/>
              </a:rPr>
              <a:t>Скрининг – это ведущий метод борьбы с раком молочной железы</a:t>
            </a:r>
            <a:endParaRPr/>
          </a:p>
          <a:p>
            <a:pPr algn="just">
              <a:buFont typeface="Wingdings"/>
              <a:buChar char="ü"/>
              <a:defRPr/>
            </a:pPr>
            <a:endParaRPr lang="ru-RU" sz="1200">
              <a:latin typeface="Times New Roman"/>
              <a:cs typeface="Times New Roman"/>
            </a:endParaRPr>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a:defRPr/>
            </a:pPr>
            <a:r>
              <a:rPr lang="ru-RU"/>
              <a:t>Среди современных </a:t>
            </a:r>
            <a:r>
              <a:rPr lang="ru-RU"/>
              <a:t>методоы</a:t>
            </a:r>
            <a:r>
              <a:rPr lang="ru-RU"/>
              <a:t> скрининга рака молочной железы можно выделить </a:t>
            </a:r>
            <a:r>
              <a:rPr lang="ru-RU"/>
              <a:t>традиционноое</a:t>
            </a:r>
            <a:r>
              <a:rPr lang="ru-RU"/>
              <a:t> УЗИ исследование, время выполнения которого составляет 20-25 мин, обязательно врачом.</a:t>
            </a:r>
            <a:endParaRPr/>
          </a:p>
          <a:p>
            <a:pPr>
              <a:defRPr/>
            </a:pPr>
            <a:r>
              <a:rPr lang="ru-RU"/>
              <a:t>Автоматизированние</a:t>
            </a:r>
            <a:r>
              <a:rPr lang="ru-RU"/>
              <a:t> объемное УЗИ, время выполнения, которого составляет 10-15 мин. И золотой стандарт скрининга – это маммография.</a:t>
            </a:r>
            <a:endParaRPr/>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ru-RU" sz="1200">
                <a:latin typeface="Times New Roman"/>
                <a:ea typeface="Calibri"/>
                <a:cs typeface="Times New Roman"/>
              </a:rPr>
              <a:t>В данной работе решение задачи машинного обучения преследует цель оптимизации потоков. Автоматизированная трехмерная УЗИ система позволяет сократить нагрузка на лечебное учреждение без потери качества скрининга. Распределение вероятностей обнаружения ЗНО, то можно обратить внимание, что пациенток, у которых эта вероятность высокая - меньшинство. Из все выборки 256 пациенток имеют вероятность обнаружения более 0.5, что составляет 9.16% от общего числа пациентов. Или если посмотреть на количество верифицированных диагнозов, а именно 226 пациентов, что составляет 8.08%. То есть всего 8.08% - 9.16% пациентов нуждаются в осмотре врачом традиционным методом УЗИ, остальные могут проходить скрининг рака МЖ автоматизированной трехмерной УЗИ системой.</a:t>
            </a:r>
            <a:endParaRPr lang="ru-RU" sz="1200">
              <a:latin typeface="Calibri"/>
              <a:ea typeface="Calibri"/>
              <a:cs typeface="Times New Roman"/>
            </a:endParaRPr>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ru-RU" sz="1800" b="1">
                <a:cs typeface="Times New Roman"/>
              </a:rPr>
              <a:t>Цель</a:t>
            </a:r>
            <a:r>
              <a:rPr lang="ru-RU" sz="1600">
                <a:cs typeface="Times New Roman"/>
              </a:rPr>
              <a:t> </a:t>
            </a:r>
            <a:r>
              <a:rPr lang="ru-RU" sz="1200">
                <a:ea typeface="Calibri"/>
                <a:cs typeface="Times New Roman"/>
              </a:rPr>
              <a:t>Необходимо разработать информационно-аналитическую систему (интерактивный </a:t>
            </a:r>
            <a:r>
              <a:rPr lang="ru-RU" sz="1200">
                <a:ea typeface="Calibri"/>
                <a:cs typeface="Times New Roman"/>
              </a:rPr>
              <a:t>дашборд</a:t>
            </a:r>
            <a:r>
              <a:rPr lang="ru-RU" sz="1200">
                <a:ea typeface="Calibri"/>
                <a:cs typeface="Times New Roman"/>
              </a:rPr>
              <a:t>), позволяющий пользователям получать доступ к результатам исследований рака молочной железы.</a:t>
            </a:r>
            <a:endParaRPr/>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marL="342900" lvl="0" indent="-342900" algn="just">
              <a:lnSpc>
                <a:spcPct val="150000"/>
              </a:lnSpc>
              <a:spcBef>
                <a:spcPts val="180"/>
              </a:spcBef>
              <a:spcAft>
                <a:spcPts val="180"/>
              </a:spcAft>
              <a:buFont typeface="+mj-lt"/>
              <a:buAutoNum type="arabicPeriod"/>
              <a:defRPr/>
            </a:pPr>
            <a:r>
              <a:rPr lang="ru-RU" sz="1200">
                <a:ea typeface="Calibri"/>
                <a:cs typeface="Times New Roman"/>
              </a:rPr>
              <a:t>Провести сбор и обработку данных.</a:t>
            </a:r>
            <a:endParaRPr/>
          </a:p>
          <a:p>
            <a:pPr marL="342900" lvl="0" indent="-342900" algn="just">
              <a:lnSpc>
                <a:spcPct val="150000"/>
              </a:lnSpc>
              <a:spcBef>
                <a:spcPts val="180"/>
              </a:spcBef>
              <a:spcAft>
                <a:spcPts val="180"/>
              </a:spcAft>
              <a:buFont typeface="+mj-lt"/>
              <a:buAutoNum type="arabicPeriod"/>
              <a:defRPr/>
            </a:pPr>
            <a:r>
              <a:rPr lang="ru-RU" sz="1200">
                <a:ea typeface="Calibri"/>
                <a:cs typeface="Times New Roman"/>
              </a:rPr>
              <a:t>Провести исследовательский анализ данных для выявления тенденций, распределений и аномалий.</a:t>
            </a:r>
            <a:endParaRPr/>
          </a:p>
          <a:p>
            <a:pPr marL="342900" lvl="0" indent="-342900" algn="just">
              <a:lnSpc>
                <a:spcPct val="150000"/>
              </a:lnSpc>
              <a:spcBef>
                <a:spcPts val="180"/>
              </a:spcBef>
              <a:spcAft>
                <a:spcPts val="180"/>
              </a:spcAft>
              <a:buFont typeface="+mj-lt"/>
              <a:buAutoNum type="arabicPeriod"/>
              <a:defRPr/>
            </a:pPr>
            <a:r>
              <a:rPr lang="ru-RU" sz="1200">
                <a:ea typeface="Calibri"/>
                <a:cs typeface="Times New Roman"/>
              </a:rPr>
              <a:t>Использовать методы статистического анализа и машинного обучения для определения взаимосвязей между потенциальными факторами маршрутизации пациента.</a:t>
            </a:r>
            <a:endParaRPr/>
          </a:p>
          <a:p>
            <a:pPr marL="342900" lvl="0" indent="-342900" algn="just">
              <a:lnSpc>
                <a:spcPct val="150000"/>
              </a:lnSpc>
              <a:spcBef>
                <a:spcPts val="180"/>
              </a:spcBef>
              <a:spcAft>
                <a:spcPts val="180"/>
              </a:spcAft>
              <a:buFont typeface="+mj-lt"/>
              <a:buAutoNum type="arabicPeriod"/>
              <a:defRPr/>
            </a:pPr>
            <a:r>
              <a:rPr lang="ru-RU" sz="1200">
                <a:ea typeface="Calibri"/>
                <a:cs typeface="Times New Roman"/>
              </a:rPr>
              <a:t>Подготовить результаты анализа в виде блокнота </a:t>
            </a:r>
            <a:r>
              <a:rPr lang="en-US" sz="1200">
                <a:ea typeface="Calibri"/>
                <a:cs typeface="Times New Roman"/>
              </a:rPr>
              <a:t>Jupyter</a:t>
            </a:r>
            <a:r>
              <a:rPr lang="en-US" sz="1200">
                <a:ea typeface="Calibri"/>
                <a:cs typeface="Times New Roman"/>
              </a:rPr>
              <a:t> Notebook</a:t>
            </a:r>
            <a:r>
              <a:rPr lang="ru-RU" sz="1200">
                <a:ea typeface="Calibri"/>
                <a:cs typeface="Times New Roman"/>
              </a:rPr>
              <a:t>.</a:t>
            </a:r>
            <a:endParaRPr/>
          </a:p>
          <a:p>
            <a:pPr marL="342900" lvl="0" indent="-342900" algn="just">
              <a:lnSpc>
                <a:spcPct val="150000"/>
              </a:lnSpc>
              <a:spcBef>
                <a:spcPts val="180"/>
              </a:spcBef>
              <a:spcAft>
                <a:spcPts val="180"/>
              </a:spcAft>
              <a:buFont typeface="+mj-lt"/>
              <a:buAutoNum type="arabicPeriod"/>
              <a:defRPr/>
            </a:pPr>
            <a:r>
              <a:rPr lang="ru-RU" sz="1200">
                <a:ea typeface="Calibri"/>
                <a:cs typeface="Times New Roman"/>
              </a:rPr>
              <a:t>Разработать интерактивный </a:t>
            </a:r>
            <a:r>
              <a:rPr lang="ru-RU" sz="1200">
                <a:ea typeface="Calibri"/>
                <a:cs typeface="Times New Roman"/>
              </a:rPr>
              <a:t>дашборд</a:t>
            </a:r>
            <a:r>
              <a:rPr lang="ru-RU" sz="1200">
                <a:ea typeface="Calibri"/>
                <a:cs typeface="Times New Roman"/>
              </a:rPr>
              <a:t> для представления результатов исследования средствами </a:t>
            </a:r>
            <a:r>
              <a:rPr lang="en-US" sz="1200">
                <a:ea typeface="Calibri"/>
                <a:cs typeface="Times New Roman"/>
              </a:rPr>
              <a:t>Python</a:t>
            </a:r>
            <a:r>
              <a:rPr lang="ru-RU" sz="1200">
                <a:ea typeface="Calibri"/>
                <a:cs typeface="Times New Roman"/>
              </a:rPr>
              <a:t> библиотек (</a:t>
            </a:r>
            <a:r>
              <a:rPr lang="en-US" sz="1200">
                <a:ea typeface="Calibri"/>
                <a:cs typeface="Times New Roman"/>
              </a:rPr>
              <a:t>Pandas</a:t>
            </a:r>
            <a:r>
              <a:rPr lang="ru-RU" sz="1200">
                <a:ea typeface="Calibri"/>
                <a:cs typeface="Times New Roman"/>
              </a:rPr>
              <a:t>, </a:t>
            </a:r>
            <a:r>
              <a:rPr lang="en-US" sz="1200">
                <a:ea typeface="Calibri"/>
                <a:cs typeface="Times New Roman"/>
              </a:rPr>
              <a:t>Numpy</a:t>
            </a:r>
            <a:r>
              <a:rPr lang="ru-RU" sz="1200">
                <a:ea typeface="Calibri"/>
                <a:cs typeface="Times New Roman"/>
              </a:rPr>
              <a:t>, </a:t>
            </a:r>
            <a:r>
              <a:rPr lang="en-US" sz="1200">
                <a:ea typeface="Calibri"/>
                <a:cs typeface="Times New Roman"/>
              </a:rPr>
              <a:t>Matplotlib</a:t>
            </a:r>
            <a:r>
              <a:rPr lang="ru-RU" sz="1200">
                <a:ea typeface="Calibri"/>
                <a:cs typeface="Times New Roman"/>
              </a:rPr>
              <a:t>, </a:t>
            </a:r>
            <a:r>
              <a:rPr lang="en-US" sz="1200">
                <a:ea typeface="Calibri"/>
                <a:cs typeface="Times New Roman"/>
              </a:rPr>
              <a:t>Seaborn</a:t>
            </a:r>
            <a:r>
              <a:rPr lang="ru-RU" sz="1200">
                <a:ea typeface="Calibri"/>
                <a:cs typeface="Times New Roman"/>
              </a:rPr>
              <a:t>, </a:t>
            </a:r>
            <a:r>
              <a:rPr lang="en-US" sz="1200">
                <a:ea typeface="Calibri"/>
                <a:cs typeface="Times New Roman"/>
              </a:rPr>
              <a:t>Skikit</a:t>
            </a:r>
            <a:r>
              <a:rPr lang="ru-RU" sz="1200">
                <a:ea typeface="Calibri"/>
                <a:cs typeface="Times New Roman"/>
              </a:rPr>
              <a:t>-</a:t>
            </a:r>
            <a:r>
              <a:rPr lang="en-US" sz="1200">
                <a:ea typeface="Calibri"/>
                <a:cs typeface="Times New Roman"/>
              </a:rPr>
              <a:t>Learn</a:t>
            </a:r>
            <a:r>
              <a:rPr lang="ru-RU" sz="1200">
                <a:ea typeface="Calibri"/>
                <a:cs typeface="Times New Roman"/>
              </a:rPr>
              <a:t>, </a:t>
            </a:r>
            <a:r>
              <a:rPr lang="en-US" sz="1200">
                <a:ea typeface="Calibri"/>
                <a:cs typeface="Times New Roman"/>
              </a:rPr>
              <a:t>Statsmodels</a:t>
            </a:r>
            <a:r>
              <a:rPr lang="ru-RU" sz="1200">
                <a:ea typeface="Calibri"/>
                <a:cs typeface="Times New Roman"/>
              </a:rPr>
              <a:t>, </a:t>
            </a:r>
            <a:r>
              <a:rPr lang="en-US" sz="1200">
                <a:ea typeface="Calibri"/>
                <a:cs typeface="Times New Roman"/>
              </a:rPr>
              <a:t>Plotly</a:t>
            </a:r>
            <a:r>
              <a:rPr lang="ru-RU" sz="1200">
                <a:ea typeface="Calibri"/>
                <a:cs typeface="Times New Roman"/>
              </a:rPr>
              <a:t>, </a:t>
            </a:r>
            <a:r>
              <a:rPr lang="en-US" sz="1200">
                <a:ea typeface="Calibri"/>
                <a:cs typeface="Times New Roman"/>
              </a:rPr>
              <a:t>Dash</a:t>
            </a:r>
            <a:r>
              <a:rPr lang="ru-RU" sz="1200">
                <a:ea typeface="Calibri"/>
                <a:cs typeface="Times New Roman"/>
              </a:rPr>
              <a:t> и другими).</a:t>
            </a:r>
            <a:endParaRPr/>
          </a:p>
          <a:p>
            <a:pPr marL="342900" lvl="0" indent="-342900" algn="just">
              <a:lnSpc>
                <a:spcPct val="150000"/>
              </a:lnSpc>
              <a:spcBef>
                <a:spcPts val="180"/>
              </a:spcBef>
              <a:spcAft>
                <a:spcPts val="180"/>
              </a:spcAft>
              <a:buFont typeface="+mj-lt"/>
              <a:buAutoNum type="arabicPeriod"/>
              <a:defRPr/>
            </a:pPr>
            <a:r>
              <a:rPr lang="ru-RU" sz="1200">
                <a:ea typeface="Calibri"/>
                <a:cs typeface="Times New Roman"/>
              </a:rPr>
              <a:t>Разработать модель машинного обучения, способную определять с минимальной погрешностью маршрутизацию пациента.</a:t>
            </a:r>
            <a:endParaRPr/>
          </a:p>
          <a:p>
            <a:pPr marL="342900" lvl="0" indent="-342900" algn="just">
              <a:lnSpc>
                <a:spcPct val="150000"/>
              </a:lnSpc>
              <a:spcBef>
                <a:spcPts val="180"/>
              </a:spcBef>
              <a:spcAft>
                <a:spcPts val="180"/>
              </a:spcAft>
              <a:buFont typeface="+mj-lt"/>
              <a:buAutoNum type="arabicPeriod"/>
              <a:defRPr/>
            </a:pPr>
            <a:r>
              <a:rPr lang="ru-RU" sz="1200">
                <a:ea typeface="Calibri"/>
                <a:cs typeface="Times New Roman"/>
              </a:rPr>
              <a:t>Интегрировать модель машинного обучения в приложение.</a:t>
            </a:r>
            <a:endParaRPr/>
          </a:p>
          <a:p>
            <a:pPr marL="342900" lvl="0" indent="-342900" algn="just">
              <a:lnSpc>
                <a:spcPct val="150000"/>
              </a:lnSpc>
              <a:spcBef>
                <a:spcPts val="180"/>
              </a:spcBef>
              <a:spcAft>
                <a:spcPts val="180"/>
              </a:spcAft>
              <a:buFont typeface="+mj-lt"/>
              <a:buAutoNum type="arabicPeriod"/>
              <a:defRPr/>
            </a:pPr>
            <a:r>
              <a:rPr lang="ru-RU" sz="1200">
                <a:ea typeface="Calibri"/>
                <a:cs typeface="Times New Roman"/>
              </a:rPr>
              <a:t>Разработать интерактивную форму (как часть информационно-аналитической системы), для использования предсказательной модели машинного обучения.</a:t>
            </a:r>
            <a:endParaRPr/>
          </a:p>
          <a:p>
            <a:pPr marL="342900" lvl="0" indent="-342900" algn="just">
              <a:lnSpc>
                <a:spcPct val="150000"/>
              </a:lnSpc>
              <a:spcBef>
                <a:spcPts val="180"/>
              </a:spcBef>
              <a:spcAft>
                <a:spcPts val="180"/>
              </a:spcAft>
              <a:buFont typeface="+mj-lt"/>
              <a:buAutoNum type="arabicPeriod"/>
              <a:defRPr/>
            </a:pPr>
            <a:r>
              <a:rPr lang="ru-RU" sz="1200">
                <a:ea typeface="Calibri"/>
                <a:cs typeface="Times New Roman"/>
              </a:rPr>
              <a:t>Развернуть приложение в облачном сервисе.</a:t>
            </a:r>
            <a:endParaRPr/>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a:defRPr/>
            </a:pPr>
            <a:r>
              <a:rPr lang="ru-RU" sz="2400"/>
              <a:t>Среди программных средств были:</a:t>
            </a:r>
            <a:endParaRPr lang="en-US" sz="2400"/>
          </a:p>
          <a:p>
            <a:pPr>
              <a:defRPr/>
            </a:pPr>
            <a:r>
              <a:rPr lang="ru-RU" sz="2400"/>
              <a:t>Языки программирования</a:t>
            </a:r>
            <a:r>
              <a:rPr lang="en-US" sz="2400"/>
              <a:t>:</a:t>
            </a:r>
            <a:r>
              <a:rPr lang="ru-RU" sz="2400"/>
              <a:t> </a:t>
            </a:r>
            <a:r>
              <a:rPr lang="en-US" sz="2400"/>
              <a:t>Python</a:t>
            </a:r>
            <a:r>
              <a:rPr lang="ru-RU" sz="2400"/>
              <a:t>, </a:t>
            </a:r>
            <a:r>
              <a:rPr lang="en-US" sz="2400"/>
              <a:t>R</a:t>
            </a:r>
            <a:endParaRPr/>
          </a:p>
          <a:p>
            <a:pPr lvl="1">
              <a:defRPr/>
            </a:pPr>
            <a:r>
              <a:rPr lang="ru-RU" sz="2000"/>
              <a:t>Библиотеки </a:t>
            </a:r>
            <a:r>
              <a:rPr lang="en-US" sz="2000"/>
              <a:t>Python</a:t>
            </a:r>
            <a:r>
              <a:rPr lang="ru-RU" sz="2000"/>
              <a:t>: </a:t>
            </a:r>
            <a:r>
              <a:rPr lang="en-US" sz="2000">
                <a:ea typeface="Calibri"/>
                <a:cs typeface="Times New Roman"/>
              </a:rPr>
              <a:t>Pandas</a:t>
            </a:r>
            <a:r>
              <a:rPr lang="ru-RU" sz="2000">
                <a:ea typeface="Calibri"/>
                <a:cs typeface="Times New Roman"/>
              </a:rPr>
              <a:t>, </a:t>
            </a:r>
            <a:r>
              <a:rPr lang="en-US" sz="2000">
                <a:ea typeface="Calibri"/>
                <a:cs typeface="Times New Roman"/>
              </a:rPr>
              <a:t>Numpy</a:t>
            </a:r>
            <a:r>
              <a:rPr lang="ru-RU" sz="2000">
                <a:ea typeface="Calibri"/>
                <a:cs typeface="Times New Roman"/>
              </a:rPr>
              <a:t>, </a:t>
            </a:r>
            <a:r>
              <a:rPr lang="en-US" sz="2000">
                <a:ea typeface="Calibri"/>
                <a:cs typeface="Times New Roman"/>
              </a:rPr>
              <a:t>Matplotlib</a:t>
            </a:r>
            <a:r>
              <a:rPr lang="ru-RU" sz="2000">
                <a:ea typeface="Calibri"/>
                <a:cs typeface="Times New Roman"/>
              </a:rPr>
              <a:t>, </a:t>
            </a:r>
            <a:r>
              <a:rPr lang="en-US" sz="2000">
                <a:ea typeface="Calibri"/>
                <a:cs typeface="Times New Roman"/>
              </a:rPr>
              <a:t>Seaborn</a:t>
            </a:r>
            <a:r>
              <a:rPr lang="ru-RU" sz="2000">
                <a:ea typeface="Calibri"/>
                <a:cs typeface="Times New Roman"/>
              </a:rPr>
              <a:t>, </a:t>
            </a:r>
            <a:r>
              <a:rPr lang="en-US" sz="2000">
                <a:ea typeface="Calibri"/>
                <a:cs typeface="Times New Roman"/>
              </a:rPr>
              <a:t>Skikit</a:t>
            </a:r>
            <a:r>
              <a:rPr lang="ru-RU" sz="2000">
                <a:ea typeface="Calibri"/>
                <a:cs typeface="Times New Roman"/>
              </a:rPr>
              <a:t>-</a:t>
            </a:r>
            <a:r>
              <a:rPr lang="en-US" sz="2000">
                <a:ea typeface="Calibri"/>
                <a:cs typeface="Times New Roman"/>
              </a:rPr>
              <a:t>Learn</a:t>
            </a:r>
            <a:r>
              <a:rPr lang="ru-RU" sz="2000">
                <a:ea typeface="Calibri"/>
                <a:cs typeface="Times New Roman"/>
              </a:rPr>
              <a:t>, </a:t>
            </a:r>
            <a:r>
              <a:rPr lang="en-US" sz="2000">
                <a:ea typeface="Calibri"/>
                <a:cs typeface="Times New Roman"/>
              </a:rPr>
              <a:t>Statsmodels</a:t>
            </a:r>
            <a:r>
              <a:rPr lang="ru-RU" sz="2000">
                <a:ea typeface="Calibri"/>
                <a:cs typeface="Times New Roman"/>
              </a:rPr>
              <a:t>, </a:t>
            </a:r>
            <a:r>
              <a:rPr lang="en-US" sz="2000">
                <a:ea typeface="Calibri"/>
                <a:cs typeface="Times New Roman"/>
              </a:rPr>
              <a:t>Plotly</a:t>
            </a:r>
            <a:endParaRPr lang="en-US" sz="2000">
              <a:ea typeface="Calibri"/>
              <a:cs typeface="Times New Roman"/>
            </a:endParaRPr>
          </a:p>
          <a:p>
            <a:pPr lvl="1">
              <a:defRPr/>
            </a:pPr>
            <a:r>
              <a:rPr lang="ru-RU" sz="2000"/>
              <a:t>Библиотеки </a:t>
            </a:r>
            <a:r>
              <a:rPr lang="en-US" sz="2000"/>
              <a:t>R</a:t>
            </a:r>
            <a:r>
              <a:rPr lang="ru-RU" sz="2000"/>
              <a:t>: </a:t>
            </a:r>
            <a:r>
              <a:rPr lang="en-US" sz="2000">
                <a:ea typeface="Calibri"/>
                <a:cs typeface="Times New Roman"/>
              </a:rPr>
              <a:t>ggplot2</a:t>
            </a:r>
            <a:r>
              <a:rPr lang="ru-RU" sz="2000">
                <a:ea typeface="Calibri"/>
                <a:cs typeface="Times New Roman"/>
              </a:rPr>
              <a:t>, </a:t>
            </a:r>
            <a:r>
              <a:rPr lang="en-US" sz="2000">
                <a:ea typeface="Calibri"/>
                <a:cs typeface="Times New Roman"/>
              </a:rPr>
              <a:t>caret</a:t>
            </a:r>
            <a:r>
              <a:rPr lang="ru-RU" sz="2000">
                <a:ea typeface="Calibri"/>
                <a:cs typeface="Times New Roman"/>
              </a:rPr>
              <a:t>, </a:t>
            </a:r>
            <a:r>
              <a:rPr lang="en-US" sz="2000">
                <a:ea typeface="Calibri"/>
                <a:cs typeface="Times New Roman"/>
              </a:rPr>
              <a:t>tidyverse</a:t>
            </a:r>
            <a:r>
              <a:rPr lang="ru-RU" sz="2000">
                <a:ea typeface="Calibri"/>
                <a:cs typeface="Times New Roman"/>
              </a:rPr>
              <a:t>, </a:t>
            </a:r>
            <a:r>
              <a:rPr lang="en-US" sz="2000">
                <a:ea typeface="Calibri"/>
                <a:cs typeface="Times New Roman"/>
              </a:rPr>
              <a:t>tidytext</a:t>
            </a:r>
            <a:endParaRPr lang="en-US" sz="2000"/>
          </a:p>
          <a:p>
            <a:pPr>
              <a:defRPr/>
            </a:pPr>
            <a:r>
              <a:rPr lang="ru-RU" sz="2400"/>
              <a:t>Фреймворк</a:t>
            </a:r>
            <a:r>
              <a:rPr lang="en-US" sz="2400"/>
              <a:t>:</a:t>
            </a:r>
            <a:r>
              <a:rPr lang="ru-RU" sz="2400"/>
              <a:t> </a:t>
            </a:r>
            <a:r>
              <a:rPr lang="en-US" sz="2400">
                <a:ea typeface="Calibri"/>
                <a:cs typeface="Times New Roman"/>
              </a:rPr>
              <a:t>Dash</a:t>
            </a:r>
            <a:r>
              <a:rPr lang="en-US" sz="2400"/>
              <a:t>;</a:t>
            </a:r>
            <a:endParaRPr/>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ru-RU" sz="1800">
                <a:latin typeface="Times New Roman"/>
                <a:ea typeface="Calibri"/>
                <a:cs typeface="Times New Roman"/>
              </a:rPr>
              <a:t>Исходные данные получены при текстовом анализе медицинских карт, заключений УЗИ, ММГ и 3</a:t>
            </a:r>
            <a:r>
              <a:rPr lang="en-US" sz="1800">
                <a:latin typeface="Times New Roman"/>
                <a:ea typeface="Calibri"/>
                <a:cs typeface="Times New Roman"/>
              </a:rPr>
              <a:t>D</a:t>
            </a:r>
            <a:r>
              <a:rPr lang="ru-RU" sz="1800">
                <a:latin typeface="Times New Roman"/>
                <a:ea typeface="Calibri"/>
                <a:cs typeface="Times New Roman"/>
              </a:rPr>
              <a:t> УЗИ. Текстовые данные были оформлены в </a:t>
            </a:r>
            <a:r>
              <a:rPr lang="en-US" sz="1800">
                <a:latin typeface="Times New Roman"/>
                <a:ea typeface="Calibri"/>
                <a:cs typeface="Times New Roman"/>
              </a:rPr>
              <a:t>dataframe</a:t>
            </a:r>
            <a:r>
              <a:rPr lang="ru-RU" sz="1800">
                <a:latin typeface="Times New Roman"/>
                <a:ea typeface="Calibri"/>
                <a:cs typeface="Times New Roman"/>
              </a:rPr>
              <a:t>, который был записан в файл .</a:t>
            </a:r>
            <a:r>
              <a:rPr lang="en-US" sz="1800">
                <a:latin typeface="Times New Roman"/>
                <a:ea typeface="Calibri"/>
                <a:cs typeface="Times New Roman"/>
              </a:rPr>
              <a:t>csv</a:t>
            </a:r>
            <a:r>
              <a:rPr lang="ru-RU" sz="1800">
                <a:latin typeface="Times New Roman"/>
                <a:ea typeface="Calibri"/>
                <a:cs typeface="Times New Roman"/>
              </a:rPr>
              <a:t>.</a:t>
            </a:r>
            <a:endParaRPr lang="ru-RU" sz="1800">
              <a:latin typeface="Calibri"/>
              <a:ea typeface="Calibri"/>
              <a:cs typeface="Times New Roman"/>
            </a:endParaRPr>
          </a:p>
          <a:p>
            <a:pPr>
              <a:defRPr/>
            </a:pPr>
            <a:endParaRPr lang="ru-RU"/>
          </a:p>
          <a:p>
            <a:pPr>
              <a:defRPr/>
            </a:pPr>
            <a:r>
              <a:rPr lang="ru-RU" sz="1800">
                <a:latin typeface="Times New Roman"/>
                <a:ea typeface="Calibri"/>
              </a:rPr>
              <a:t>Всего в исследование вошло 2794 пациенток. Критерии включения были пациенты женского пола в возрасте от 18 до 80 лет; женщина, посетившая врача для обследования рака молочной железы, с отсутствием видимых признаков рака молочной железы. Критериями исключения были: женщины, которые были беременны, кормили грудью или планировали забеременеть; </a:t>
            </a: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ru-RU" sz="1800">
                <a:latin typeface="Times New Roman"/>
                <a:ea typeface="Calibri"/>
                <a:cs typeface="Times New Roman"/>
              </a:rPr>
              <a:t>Был выполнен анализ категориальных данных, которые преимущественно были представлены, с целью соответствия классификаторам и используемым словам в заключениях и прочей первичной медицинской документации.</a:t>
            </a:r>
            <a:endParaRPr lang="ru-RU" sz="1800">
              <a:latin typeface="Calibri"/>
              <a:ea typeface="Calibri"/>
              <a:cs typeface="Times New Roman"/>
            </a:endParaRPr>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ru-RU" sz="1800">
                <a:latin typeface="Times New Roman"/>
                <a:ea typeface="Calibri"/>
                <a:cs typeface="Times New Roman"/>
              </a:rPr>
              <a:t>Был проведен статистического анализа и машинного обучения для определения взаимосвязей между потенциальными факторами маршрутизации пациента с использованием </a:t>
            </a:r>
            <a:r>
              <a:rPr lang="en-US" sz="1800">
                <a:latin typeface="Times New Roman"/>
                <a:ea typeface="Calibri"/>
                <a:cs typeface="Times New Roman"/>
              </a:rPr>
              <a:t>pandas matplotlib seaborn </a:t>
            </a:r>
            <a:r>
              <a:rPr lang="en-US" sz="1800">
                <a:latin typeface="Times New Roman"/>
                <a:ea typeface="Calibri"/>
                <a:cs typeface="Times New Roman"/>
              </a:rPr>
              <a:t>sklearn</a:t>
            </a:r>
            <a:r>
              <a:rPr lang="ru-RU" sz="1800">
                <a:latin typeface="Times New Roman"/>
                <a:ea typeface="Calibri"/>
                <a:cs typeface="Times New Roman"/>
              </a:rPr>
              <a:t>, а именно </a:t>
            </a:r>
            <a:r>
              <a:rPr lang="en-US" sz="1800">
                <a:latin typeface="Times New Roman"/>
                <a:ea typeface="Calibri"/>
                <a:cs typeface="Times New Roman"/>
              </a:rPr>
              <a:t>RandomForestClassifier</a:t>
            </a:r>
            <a:r>
              <a:rPr lang="ru-RU" sz="1800">
                <a:latin typeface="Times New Roman"/>
                <a:ea typeface="Calibri"/>
                <a:cs typeface="Times New Roman"/>
              </a:rPr>
              <a:t>, </a:t>
            </a:r>
            <a:r>
              <a:rPr lang="en-US" sz="1800">
                <a:latin typeface="Times New Roman"/>
                <a:ea typeface="Calibri"/>
                <a:cs typeface="Times New Roman"/>
              </a:rPr>
              <a:t>train</a:t>
            </a:r>
            <a:r>
              <a:rPr lang="ru-RU" sz="1800">
                <a:latin typeface="Times New Roman"/>
                <a:ea typeface="Calibri"/>
                <a:cs typeface="Times New Roman"/>
              </a:rPr>
              <a:t>_</a:t>
            </a:r>
            <a:r>
              <a:rPr lang="en-US" sz="1800">
                <a:latin typeface="Times New Roman"/>
                <a:ea typeface="Calibri"/>
                <a:cs typeface="Times New Roman"/>
              </a:rPr>
              <a:t>test</a:t>
            </a:r>
            <a:r>
              <a:rPr lang="ru-RU" sz="1800">
                <a:latin typeface="Times New Roman"/>
                <a:ea typeface="Calibri"/>
                <a:cs typeface="Times New Roman"/>
              </a:rPr>
              <a:t>_</a:t>
            </a:r>
            <a:r>
              <a:rPr lang="en-US" sz="1800">
                <a:latin typeface="Times New Roman"/>
                <a:ea typeface="Calibri"/>
                <a:cs typeface="Times New Roman"/>
              </a:rPr>
              <a:t>split</a:t>
            </a:r>
            <a:r>
              <a:rPr lang="ru-RU" sz="1800">
                <a:latin typeface="Times New Roman"/>
                <a:ea typeface="Calibri"/>
                <a:cs typeface="Times New Roman"/>
              </a:rPr>
              <a:t>, </a:t>
            </a:r>
            <a:r>
              <a:rPr lang="en-US" sz="1800">
                <a:latin typeface="Times New Roman"/>
                <a:ea typeface="Calibri"/>
                <a:cs typeface="Times New Roman"/>
              </a:rPr>
              <a:t>GridSearchCV</a:t>
            </a:r>
            <a:r>
              <a:rPr lang="ru-RU" sz="1800">
                <a:latin typeface="Times New Roman"/>
                <a:ea typeface="Calibri"/>
                <a:cs typeface="Times New Roman"/>
              </a:rPr>
              <a:t>, </a:t>
            </a:r>
            <a:r>
              <a:rPr lang="en-US" sz="1800">
                <a:latin typeface="Times New Roman"/>
                <a:ea typeface="Calibri"/>
                <a:cs typeface="Times New Roman"/>
              </a:rPr>
              <a:t>cross</a:t>
            </a:r>
            <a:r>
              <a:rPr lang="ru-RU" sz="1800">
                <a:latin typeface="Times New Roman"/>
                <a:ea typeface="Calibri"/>
                <a:cs typeface="Times New Roman"/>
              </a:rPr>
              <a:t>_</a:t>
            </a:r>
            <a:r>
              <a:rPr lang="en-US" sz="1800">
                <a:latin typeface="Times New Roman"/>
                <a:ea typeface="Calibri"/>
                <a:cs typeface="Times New Roman"/>
              </a:rPr>
              <a:t>val</a:t>
            </a:r>
            <a:r>
              <a:rPr lang="ru-RU" sz="1800">
                <a:latin typeface="Times New Roman"/>
                <a:ea typeface="Calibri"/>
                <a:cs typeface="Times New Roman"/>
              </a:rPr>
              <a:t>_</a:t>
            </a:r>
            <a:r>
              <a:rPr lang="en-US" sz="1800">
                <a:latin typeface="Times New Roman"/>
                <a:ea typeface="Calibri"/>
                <a:cs typeface="Times New Roman"/>
              </a:rPr>
              <a:t>score</a:t>
            </a:r>
            <a:r>
              <a:rPr lang="ru-RU" sz="1800">
                <a:latin typeface="Times New Roman"/>
                <a:ea typeface="Calibri"/>
                <a:cs typeface="Times New Roman"/>
              </a:rPr>
              <a:t>, </a:t>
            </a:r>
            <a:r>
              <a:rPr lang="en-US" sz="1800">
                <a:latin typeface="Times New Roman"/>
                <a:ea typeface="Calibri"/>
                <a:cs typeface="Times New Roman"/>
              </a:rPr>
              <a:t>accuracy</a:t>
            </a:r>
            <a:r>
              <a:rPr lang="ru-RU" sz="1800">
                <a:latin typeface="Times New Roman"/>
                <a:ea typeface="Calibri"/>
                <a:cs typeface="Times New Roman"/>
              </a:rPr>
              <a:t>_</a:t>
            </a:r>
            <a:r>
              <a:rPr lang="en-US" sz="1800">
                <a:latin typeface="Times New Roman"/>
                <a:ea typeface="Calibri"/>
                <a:cs typeface="Times New Roman"/>
              </a:rPr>
              <a:t>score</a:t>
            </a:r>
            <a:r>
              <a:rPr lang="ru-RU" sz="1800">
                <a:latin typeface="Times New Roman"/>
                <a:ea typeface="Calibri"/>
                <a:cs typeface="Times New Roman"/>
              </a:rPr>
              <a:t>. Была подобрана наиболее эффективная ансамблевая модель (Рисунок 1а, Рисунок 1б, Приложение №3), которая в дальнейшем была применена для новых данных, вводимых пользователем на </a:t>
            </a:r>
            <a:r>
              <a:rPr lang="ru-RU" sz="1800">
                <a:latin typeface="Times New Roman"/>
                <a:ea typeface="Calibri"/>
                <a:cs typeface="Times New Roman"/>
              </a:rPr>
              <a:t>дашборде</a:t>
            </a:r>
            <a:r>
              <a:rPr lang="ru-RU" sz="1800">
                <a:latin typeface="Times New Roman"/>
                <a:ea typeface="Calibri"/>
                <a:cs typeface="Times New Roman"/>
              </a:rPr>
              <a:t>.</a:t>
            </a:r>
            <a:endParaRPr lang="ru-RU" sz="1800">
              <a:latin typeface="Calibri"/>
              <a:ea typeface="Calibri"/>
              <a:cs typeface="Times New Roman"/>
            </a:endParaRPr>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ru-RU" sz="1800">
                <a:solidFill>
                  <a:srgbClr val="000000"/>
                </a:solidFill>
                <a:latin typeface="Times New Roman"/>
                <a:ea typeface="Calibri"/>
                <a:cs typeface="Times New Roman"/>
              </a:rPr>
              <a:t>Разработан интерактивный </a:t>
            </a:r>
            <a:r>
              <a:rPr lang="ru-RU" sz="1800">
                <a:solidFill>
                  <a:srgbClr val="000000"/>
                </a:solidFill>
                <a:latin typeface="Times New Roman"/>
                <a:ea typeface="Calibri"/>
                <a:cs typeface="Times New Roman"/>
              </a:rPr>
              <a:t>дашборд</a:t>
            </a:r>
            <a:r>
              <a:rPr lang="ru-RU" sz="1800">
                <a:solidFill>
                  <a:srgbClr val="000000"/>
                </a:solidFill>
                <a:latin typeface="Times New Roman"/>
                <a:ea typeface="Calibri"/>
                <a:cs typeface="Times New Roman"/>
              </a:rPr>
              <a:t> для представления </a:t>
            </a:r>
            <a:r>
              <a:rPr lang="ru-RU" sz="1800">
                <a:latin typeface="Times New Roman"/>
                <a:ea typeface="Calibri"/>
                <a:cs typeface="Times New Roman"/>
              </a:rPr>
              <a:t>результатов исследования средствами </a:t>
            </a:r>
            <a:r>
              <a:rPr lang="en-US" sz="1800">
                <a:latin typeface="Times New Roman"/>
                <a:ea typeface="Calibri"/>
                <a:cs typeface="Times New Roman"/>
              </a:rPr>
              <a:t>Python</a:t>
            </a:r>
            <a:r>
              <a:rPr lang="ru-RU" sz="1800">
                <a:latin typeface="Times New Roman"/>
                <a:ea typeface="Calibri"/>
                <a:cs typeface="Times New Roman"/>
              </a:rPr>
              <a:t> библиотек, а именно </a:t>
            </a:r>
            <a:r>
              <a:rPr lang="en-US" sz="1800">
                <a:latin typeface="Times New Roman"/>
                <a:ea typeface="Calibri"/>
                <a:cs typeface="Times New Roman"/>
              </a:rPr>
              <a:t>Pandas</a:t>
            </a:r>
            <a:r>
              <a:rPr lang="ru-RU" sz="1800">
                <a:latin typeface="Times New Roman"/>
                <a:ea typeface="Calibri"/>
                <a:cs typeface="Times New Roman"/>
              </a:rPr>
              <a:t>, </a:t>
            </a:r>
            <a:r>
              <a:rPr lang="en-US" sz="1800">
                <a:latin typeface="Times New Roman"/>
                <a:ea typeface="Calibri"/>
                <a:cs typeface="Times New Roman"/>
              </a:rPr>
              <a:t>Numpy</a:t>
            </a:r>
            <a:r>
              <a:rPr lang="ru-RU" sz="1800">
                <a:latin typeface="Times New Roman"/>
                <a:ea typeface="Calibri"/>
                <a:cs typeface="Times New Roman"/>
              </a:rPr>
              <a:t>, </a:t>
            </a:r>
            <a:r>
              <a:rPr lang="en-US" sz="1800">
                <a:latin typeface="Times New Roman"/>
                <a:ea typeface="Calibri"/>
                <a:cs typeface="Times New Roman"/>
              </a:rPr>
              <a:t>Matplotlib</a:t>
            </a:r>
            <a:r>
              <a:rPr lang="ru-RU" sz="1800">
                <a:latin typeface="Times New Roman"/>
                <a:ea typeface="Calibri"/>
                <a:cs typeface="Times New Roman"/>
              </a:rPr>
              <a:t>, </a:t>
            </a:r>
            <a:r>
              <a:rPr lang="en-US" sz="1800">
                <a:latin typeface="Times New Roman"/>
                <a:ea typeface="Calibri"/>
                <a:cs typeface="Times New Roman"/>
              </a:rPr>
              <a:t>Seaborn</a:t>
            </a:r>
            <a:r>
              <a:rPr lang="ru-RU" sz="1800">
                <a:latin typeface="Times New Roman"/>
                <a:ea typeface="Calibri"/>
                <a:cs typeface="Times New Roman"/>
              </a:rPr>
              <a:t>, </a:t>
            </a:r>
            <a:r>
              <a:rPr lang="en-US" sz="1800">
                <a:latin typeface="Times New Roman"/>
                <a:ea typeface="Calibri"/>
                <a:cs typeface="Times New Roman"/>
              </a:rPr>
              <a:t>Skikit</a:t>
            </a:r>
            <a:r>
              <a:rPr lang="ru-RU" sz="1800">
                <a:latin typeface="Times New Roman"/>
                <a:ea typeface="Calibri"/>
                <a:cs typeface="Times New Roman"/>
              </a:rPr>
              <a:t>-</a:t>
            </a:r>
            <a:r>
              <a:rPr lang="en-US" sz="1800">
                <a:latin typeface="Times New Roman"/>
                <a:ea typeface="Calibri"/>
                <a:cs typeface="Times New Roman"/>
              </a:rPr>
              <a:t>Learn</a:t>
            </a:r>
            <a:r>
              <a:rPr lang="ru-RU" sz="1800">
                <a:latin typeface="Times New Roman"/>
                <a:ea typeface="Calibri"/>
                <a:cs typeface="Times New Roman"/>
              </a:rPr>
              <a:t>, </a:t>
            </a:r>
            <a:r>
              <a:rPr lang="en-US" sz="1800">
                <a:latin typeface="Times New Roman"/>
                <a:ea typeface="Calibri"/>
                <a:cs typeface="Times New Roman"/>
              </a:rPr>
              <a:t>Statsmodels</a:t>
            </a:r>
            <a:r>
              <a:rPr lang="ru-RU" sz="1800">
                <a:latin typeface="Times New Roman"/>
                <a:ea typeface="Calibri"/>
                <a:cs typeface="Times New Roman"/>
              </a:rPr>
              <a:t>, </a:t>
            </a:r>
            <a:r>
              <a:rPr lang="en-US" sz="1800">
                <a:latin typeface="Times New Roman"/>
                <a:ea typeface="Calibri"/>
                <a:cs typeface="Times New Roman"/>
              </a:rPr>
              <a:t>Plotly</a:t>
            </a:r>
            <a:r>
              <a:rPr lang="ru-RU" sz="1800">
                <a:latin typeface="Times New Roman"/>
                <a:ea typeface="Calibri"/>
                <a:cs typeface="Times New Roman"/>
              </a:rPr>
              <a:t>, </a:t>
            </a:r>
            <a:r>
              <a:rPr lang="en-US" sz="1800">
                <a:latin typeface="Times New Roman"/>
                <a:ea typeface="Calibri"/>
                <a:cs typeface="Times New Roman"/>
              </a:rPr>
              <a:t>Dash</a:t>
            </a:r>
            <a:r>
              <a:rPr lang="ru-RU" sz="1800">
                <a:latin typeface="Times New Roman"/>
                <a:ea typeface="Calibri"/>
                <a:cs typeface="Times New Roman"/>
              </a:rPr>
              <a:t> (Рисунок 2, Приложение №1).</a:t>
            </a:r>
            <a:endParaRPr lang="ru-RU" sz="1800">
              <a:latin typeface="Calibri"/>
              <a:ea typeface="Calibri"/>
              <a:cs typeface="Times New Roman"/>
            </a:endParaRPr>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ru-RU" sz="1800">
                <a:latin typeface="Times New Roman"/>
                <a:ea typeface="Calibri"/>
                <a:cs typeface="Times New Roman"/>
              </a:rPr>
              <a:t>С токи зрения функциональных возможности реализована панель для выбора показатели по данным анамнеза, УЗИ исследования, исследования ММГ. 3d УЗИ, данных гистологии (Рисунок 3), где имеется возможность выбирать выборку из общей когорты пациентов.</a:t>
            </a:r>
            <a:endParaRPr lang="ru-RU" sz="1800">
              <a:latin typeface="Calibri"/>
              <a:ea typeface="Calibri"/>
              <a:cs typeface="Times New Roman"/>
            </a:endParaRPr>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ru-RU" sz="1800">
                <a:latin typeface="Times New Roman"/>
                <a:ea typeface="Calibri"/>
                <a:cs typeface="Times New Roman"/>
              </a:rPr>
              <a:t>Также реализована панель для визуализации основных показателей по данным анамнеза, УЗИ исследования, исследования ММГ. 3d УЗИ, данных гистологии (Рисунок 4).</a:t>
            </a:r>
            <a:endParaRPr lang="ru-RU" sz="1800">
              <a:latin typeface="Calibri"/>
              <a:ea typeface="Calibri"/>
              <a:cs typeface="Times New Roman"/>
            </a:endParaRPr>
          </a:p>
          <a:p>
            <a:pPr>
              <a:defRPr/>
            </a:pPr>
            <a:r>
              <a:rPr lang="ru-RU"/>
              <a:t>В основ ном представлены</a:t>
            </a:r>
            <a:r>
              <a:rPr lang="en-US"/>
              <a:t> </a:t>
            </a:r>
            <a:r>
              <a:rPr lang="ru-RU"/>
              <a:t>круговая и</a:t>
            </a:r>
            <a:r>
              <a:rPr lang="en-US"/>
              <a:t> </a:t>
            </a:r>
            <a:r>
              <a:rPr lang="ru-RU"/>
              <a:t>столбчатая</a:t>
            </a:r>
            <a:r>
              <a:rPr lang="en-US"/>
              <a:t> </a:t>
            </a:r>
            <a:r>
              <a:rPr lang="ru-RU"/>
              <a:t>диаграмма.</a:t>
            </a:r>
            <a:endParaRPr/>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ru-RU" sz="1800">
                <a:latin typeface="Times New Roman"/>
                <a:ea typeface="Calibri"/>
                <a:cs typeface="Times New Roman"/>
              </a:rPr>
              <a:t>Отдельно реализованы селекторы (Рисунок 5а) и визуализация (Рисунок 5б), предварительно рассчитанных методом </a:t>
            </a:r>
            <a:r>
              <a:rPr lang="ru-RU" sz="1800">
                <a:latin typeface="Times New Roman"/>
                <a:ea typeface="Calibri"/>
                <a:cs typeface="Times New Roman"/>
              </a:rPr>
              <a:t>логит</a:t>
            </a:r>
            <a:r>
              <a:rPr lang="ru-RU" sz="1800">
                <a:latin typeface="Times New Roman"/>
                <a:ea typeface="Calibri"/>
                <a:cs typeface="Times New Roman"/>
              </a:rPr>
              <a:t> </a:t>
            </a:r>
            <a:r>
              <a:rPr lang="ru-RU" sz="1800">
                <a:latin typeface="Times New Roman"/>
                <a:ea typeface="Calibri"/>
                <a:cs typeface="Times New Roman"/>
              </a:rPr>
              <a:t>регресии</a:t>
            </a:r>
            <a:r>
              <a:rPr lang="ru-RU" sz="1800">
                <a:latin typeface="Times New Roman"/>
                <a:ea typeface="Calibri"/>
                <a:cs typeface="Times New Roman"/>
              </a:rPr>
              <a:t> (Приложение №2), для определения вероятность обнаружения кальцинозов, как важных предикторов рака МЖ и непосредственно злокачественного новообразования.</a:t>
            </a:r>
            <a:endParaRPr lang="ru-RU" sz="1800">
              <a:latin typeface="Calibri"/>
              <a:ea typeface="Calibri"/>
              <a:cs typeface="Times New Roman"/>
            </a:endParaRPr>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ru-RU" sz="1800">
                <a:latin typeface="Times New Roman"/>
                <a:ea typeface="Calibri"/>
                <a:cs typeface="Times New Roman"/>
              </a:rPr>
              <a:t>Чтобы сопоставить визуализацию и вероятность определения ЗНО и </a:t>
            </a:r>
            <a:r>
              <a:rPr lang="ru-RU" sz="1800">
                <a:latin typeface="Times New Roman"/>
                <a:ea typeface="Calibri"/>
                <a:cs typeface="Times New Roman"/>
              </a:rPr>
              <a:t>кальцинатов</a:t>
            </a:r>
            <a:r>
              <a:rPr lang="ru-RU" sz="1800">
                <a:latin typeface="Times New Roman"/>
                <a:ea typeface="Calibri"/>
                <a:cs typeface="Times New Roman"/>
              </a:rPr>
              <a:t> реализовано информационное табло, где можно наглядно видеть не только графики, но и существующую конфигурацию вероятности обнаружения ЗНО и </a:t>
            </a:r>
            <a:r>
              <a:rPr lang="ru-RU" sz="1800">
                <a:latin typeface="Times New Roman"/>
                <a:ea typeface="Calibri"/>
                <a:cs typeface="Times New Roman"/>
              </a:rPr>
              <a:t>кальцинатов</a:t>
            </a:r>
            <a:r>
              <a:rPr lang="ru-RU" sz="1800">
                <a:latin typeface="Times New Roman"/>
                <a:ea typeface="Calibri"/>
                <a:cs typeface="Times New Roman"/>
              </a:rPr>
              <a:t> (Рисунок 6).</a:t>
            </a:r>
            <a:endParaRPr lang="ru-RU" sz="1800">
              <a:latin typeface="Calibri"/>
              <a:ea typeface="Calibri"/>
              <a:cs typeface="Times New Roman"/>
            </a:endParaRPr>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ru-RU" sz="1800">
                <a:latin typeface="Times New Roman"/>
                <a:ea typeface="Calibri"/>
                <a:cs typeface="Times New Roman"/>
              </a:rPr>
              <a:t>В настоящем </a:t>
            </a:r>
            <a:r>
              <a:rPr lang="ru-RU" sz="1800">
                <a:latin typeface="Times New Roman"/>
                <a:ea typeface="Calibri"/>
                <a:cs typeface="Times New Roman"/>
              </a:rPr>
              <a:t>дашборде</a:t>
            </a:r>
            <a:r>
              <a:rPr lang="ru-RU" sz="1800">
                <a:latin typeface="Times New Roman"/>
                <a:ea typeface="Calibri"/>
                <a:cs typeface="Times New Roman"/>
              </a:rPr>
              <a:t> реализована вкладка для введения данных согласно используемым классификаторам (Рисунок 8).</a:t>
            </a:r>
            <a:endParaRPr/>
          </a:p>
          <a:p>
            <a:pPr marL="0" marR="0" lvl="0" indent="0" algn="l" defTabSz="914400">
              <a:lnSpc>
                <a:spcPct val="100000"/>
              </a:lnSpc>
              <a:spcBef>
                <a:spcPts val="0"/>
              </a:spcBef>
              <a:spcAft>
                <a:spcPts val="0"/>
              </a:spcAft>
              <a:buClrTx/>
              <a:buSzTx/>
              <a:buFontTx/>
              <a:buNone/>
              <a:defRPr/>
            </a:pPr>
            <a:r>
              <a:rPr lang="ru-RU" sz="1800">
                <a:latin typeface="Times New Roman"/>
                <a:ea typeface="Calibri"/>
                <a:cs typeface="Times New Roman"/>
              </a:rPr>
              <a:t>Результат предсказания можно увидеть в соответствующей вкладке “предсказание” (Рисунок 9).</a:t>
            </a:r>
            <a:endParaRPr lang="ru-RU" sz="1800">
              <a:latin typeface="Calibri"/>
              <a:ea typeface="Calibri"/>
              <a:cs typeface="Times New Roman"/>
            </a:endParaRPr>
          </a:p>
          <a:p>
            <a:pPr marL="0" marR="0" lvl="0" indent="0" algn="l" defTabSz="914400">
              <a:lnSpc>
                <a:spcPct val="100000"/>
              </a:lnSpc>
              <a:spcBef>
                <a:spcPts val="0"/>
              </a:spcBef>
              <a:spcAft>
                <a:spcPts val="0"/>
              </a:spcAft>
              <a:buClrTx/>
              <a:buSzTx/>
              <a:buFontTx/>
              <a:buNone/>
              <a:defRPr/>
            </a:pPr>
            <a:endParaRPr lang="ru-RU" sz="1800">
              <a:latin typeface="Calibri"/>
              <a:ea typeface="Calibri"/>
              <a:cs typeface="Times New Roman"/>
            </a:endParaRPr>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ru-RU" sz="1800">
                <a:latin typeface="Times New Roman"/>
                <a:ea typeface="Calibri"/>
                <a:cs typeface="Times New Roman"/>
              </a:rPr>
              <a:t>Настоящее приложение развёрнуто в облачном сервисе и функционирует по адресу </a:t>
            </a:r>
            <a:r>
              <a:rPr lang="ru-RU" sz="1800" u="sng">
                <a:solidFill>
                  <a:srgbClr val="0000FF"/>
                </a:solidFill>
                <a:latin typeface="Times New Roman"/>
                <a:ea typeface="Calibri"/>
                <a:cs typeface="Times New Roman"/>
                <a:hlinkClick r:id="rId3" tooltip="http://217.18.63.8/"/>
              </a:rPr>
              <a:t>http://217.18.63.8/</a:t>
            </a:r>
            <a:r>
              <a:rPr lang="ru-RU" sz="1800">
                <a:latin typeface="Times New Roman"/>
                <a:ea typeface="Calibri"/>
                <a:cs typeface="Times New Roman"/>
              </a:rPr>
              <a:t>.</a:t>
            </a:r>
            <a:endParaRPr lang="ru-RU" sz="1800">
              <a:latin typeface="Calibri"/>
              <a:ea typeface="Calibri"/>
              <a:cs typeface="Times New Roman"/>
            </a:endParaRPr>
          </a:p>
          <a:p>
            <a:pPr>
              <a:defRPr/>
            </a:pPr>
            <a:r>
              <a:rPr lang="ru-RU"/>
              <a:t>Таким образом выполнены все задачи и цель настоящего дипломного проекта</a:t>
            </a:r>
            <a:endParaRPr/>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Образ слайда 1"/>
          <p:cNvSpPr>
            <a:spLocks noChangeAspect="1" noGrp="1" noRot="1"/>
          </p:cNvSpPr>
          <p:nvPr>
            <p:ph type="sldImg"/>
          </p:nvPr>
        </p:nvSpPr>
        <p:spPr bwMode="auto"/>
      </p:sp>
      <p:sp>
        <p:nvSpPr>
          <p:cNvPr id="3" name="Заметки 2"/>
          <p:cNvSpPr>
            <a:spLocks noGrp="1"/>
          </p:cNvSpPr>
          <p:nvPr>
            <p:ph type="body" idx="1"/>
          </p:nvPr>
        </p:nvSpPr>
        <p:spPr bwMode="auto"/>
        <p:txBody>
          <a:bodyPr/>
          <a:lstStyle/>
          <a:p>
            <a:pPr lvl="0">
              <a:defRPr/>
            </a:pPr>
            <a:r>
              <a:rPr lang="ru-RU"/>
              <a:t>Все поставленные задачи выполнены </a:t>
            </a:r>
            <a:endParaRPr/>
          </a:p>
          <a:p>
            <a:pPr lvl="0">
              <a:defRPr/>
            </a:pPr>
            <a:r>
              <a:rPr lang="ru-RU" sz="1200">
                <a:latin typeface="Times New Roman"/>
                <a:ea typeface="Calibri"/>
              </a:rPr>
              <a:t>приложение можно охарактеризовать как продукт, обладающий минимальными, но достаточными для удовлетворения первых потребителей функциями</a:t>
            </a:r>
            <a:r>
              <a:rPr lang="ru-RU"/>
              <a:t> </a:t>
            </a:r>
            <a:endParaRPr/>
          </a:p>
          <a:p>
            <a:pPr lvl="0">
              <a:defRPr/>
            </a:pPr>
            <a:r>
              <a:rPr lang="ru-RU" sz="1200">
                <a:latin typeface="Times New Roman"/>
                <a:ea typeface="Calibri"/>
              </a:rPr>
              <a:t>Для дальнейшего развития проекта требуется замена исходно таблицы .</a:t>
            </a:r>
            <a:r>
              <a:rPr lang="ru-RU" sz="1200">
                <a:latin typeface="Times New Roman"/>
                <a:ea typeface="Calibri"/>
              </a:rPr>
              <a:t>csv</a:t>
            </a:r>
            <a:r>
              <a:rPr lang="ru-RU" sz="1200">
                <a:latin typeface="Times New Roman"/>
                <a:ea typeface="Calibri"/>
              </a:rPr>
              <a:t> на реляционную базу данных. </a:t>
            </a:r>
            <a:endParaRPr lang="ru-RU" sz="1200">
              <a:latin typeface="Times New Roman"/>
              <a:ea typeface="Calibri"/>
            </a:endParaRPr>
          </a:p>
          <a:p>
            <a:pPr lvl="0">
              <a:defRPr/>
            </a:pPr>
            <a:r>
              <a:rPr lang="ru-RU" sz="1200">
                <a:latin typeface="Times New Roman"/>
                <a:ea typeface="Calibri"/>
              </a:rPr>
              <a:t>Так же перспективным. направлением является разработка систем глубокого обучения изображений</a:t>
            </a:r>
            <a:r>
              <a:rPr lang="ru-RU"/>
              <a:t> </a:t>
            </a:r>
            <a:endParaRPr lang="ru-RU">
              <a:latin typeface="Times New Roman"/>
            </a:endParaRPr>
          </a:p>
          <a:p>
            <a:pPr lvl="0">
              <a:defRPr/>
            </a:pPr>
            <a:r>
              <a:rPr lang="ru-RU">
                <a:latin typeface="Times New Roman"/>
                <a:ea typeface="Calibri"/>
              </a:rPr>
              <a:t>Р</a:t>
            </a:r>
            <a:r>
              <a:rPr lang="ru-RU" sz="1200">
                <a:latin typeface="Times New Roman"/>
                <a:ea typeface="Calibri"/>
              </a:rPr>
              <a:t>азвитие автоматизированных систем подсказчиков непосредственного обнаружения интересующего образования </a:t>
            </a:r>
            <a:endParaRPr lang="ru-RU" sz="1200">
              <a:latin typeface="Times New Roman"/>
              <a:ea typeface="Calibri"/>
            </a:endParaRPr>
          </a:p>
          <a:p>
            <a:pPr lvl="0">
              <a:defRPr/>
            </a:pPr>
            <a:r>
              <a:rPr lang="ru-RU">
                <a:latin typeface="Times New Roman"/>
              </a:rPr>
              <a:t>Развитие </a:t>
            </a:r>
            <a:r>
              <a:rPr lang="ru-RU" sz="1200">
                <a:latin typeface="Times New Roman"/>
                <a:ea typeface="Calibri"/>
              </a:rPr>
              <a:t>систем подсказчиков организационной работы</a:t>
            </a:r>
            <a:endParaRPr/>
          </a:p>
          <a:p>
            <a:pPr lvl="0">
              <a:defRPr/>
            </a:pPr>
            <a:r>
              <a:rPr lang="ru-RU">
                <a:latin typeface="Times New Roman"/>
              </a:rPr>
              <a:t>Потенциал для научного применения</a:t>
            </a:r>
            <a:endParaRPr lang="ru-RU"/>
          </a:p>
          <a:p>
            <a:pPr>
              <a:defRPr/>
            </a:pPr>
            <a:endParaRPr lang="ru-RU"/>
          </a:p>
        </p:txBody>
      </p:sp>
      <p:sp>
        <p:nvSpPr>
          <p:cNvPr id="4" name="Номер слайда 3"/>
          <p:cNvSpPr>
            <a:spLocks noGrp="1"/>
          </p:cNvSpPr>
          <p:nvPr>
            <p:ph type="sldNum" sz="quarter" idx="5"/>
          </p:nvPr>
        </p:nvSpPr>
        <p:spPr bwMode="auto"/>
        <p:txBody>
          <a:bodyPr/>
          <a:lstStyle/>
          <a:p>
            <a:pPr>
              <a:defRPr/>
            </a:pPr>
            <a:fld id="{ECB01670-C036-3749-AA3F-633594AE6953}" type="slidenum">
              <a:rPr lang="ru-RU"/>
              <a:t/>
            </a:fld>
            <a:endParaRPr lang="ru-RU"/>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 userDrawn="1">
  <p:cSld name="Титульный слайд">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2589213" y="2514600"/>
            <a:ext cx="8915399" cy="2262781"/>
          </a:xfrm>
        </p:spPr>
        <p:txBody>
          <a:bodyPr anchor="b">
            <a:normAutofit/>
          </a:bodyPr>
          <a:lstStyle>
            <a:lvl1pPr>
              <a:defRPr sz="5400"/>
            </a:lvl1pPr>
          </a:lstStyle>
          <a:p>
            <a:pPr>
              <a:defRPr/>
            </a:pPr>
            <a:r>
              <a:rPr lang="ru-RU"/>
              <a:t>Образец заголовка</a:t>
            </a:r>
            <a:endParaRPr lang="en-US"/>
          </a:p>
        </p:txBody>
      </p:sp>
      <p:sp>
        <p:nvSpPr>
          <p:cNvPr id="3" name="Subtitle 2"/>
          <p:cNvSpPr>
            <a:spLocks noGrp="1"/>
          </p:cNvSpPr>
          <p:nvPr>
            <p:ph type="subTitle" idx="1"/>
          </p:nvPr>
        </p:nvSpPr>
        <p:spPr bwMode="auto">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ru-RU"/>
              <a:t>Образец подзаголовка</a:t>
            </a:r>
            <a:endParaRPr lang="en-US"/>
          </a:p>
        </p:txBody>
      </p:sp>
      <p:sp>
        <p:nvSpPr>
          <p:cNvPr id="4" name="Date Placeholder 3"/>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5" name="Footer Placeholder 4"/>
          <p:cNvSpPr>
            <a:spLocks noGrp="1"/>
          </p:cNvSpPr>
          <p:nvPr>
            <p:ph type="ftr" sz="quarter" idx="11"/>
          </p:nvPr>
        </p:nvSpPr>
        <p:spPr bwMode="auto"/>
        <p:txBody>
          <a:bodyPr/>
          <a:lstStyle/>
          <a:p>
            <a:pPr>
              <a:defRPr/>
            </a:pPr>
            <a:endParaRPr lang="ru-RU"/>
          </a:p>
        </p:txBody>
      </p:sp>
      <p:sp>
        <p:nvSpPr>
          <p:cNvPr id="7" name="Freeform 6"/>
          <p:cNvSpPr/>
          <p:nvPr/>
        </p:nvSpPr>
        <p:spPr bwMode="auto">
          <a:xfrm>
            <a:off x="0" y="4323810"/>
            <a:ext cx="1744652" cy="778589"/>
          </a:xfrm>
          <a:custGeom>
            <a:avLst/>
            <a:gdLst/>
            <a:ahLst/>
            <a:cxnLst/>
            <a:rect l="0" t="0" r="r" b="b"/>
            <a:pathLst>
              <a:path w="372" h="166" fill="norm" stroke="1" extrusionOk="0">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bwMode="auto">
          <a:xfrm>
            <a:off x="531812" y="4529540"/>
            <a:ext cx="779766" cy="365125"/>
          </a:xfrm>
        </p:spPr>
        <p:txBody>
          <a:bodyPr/>
          <a:lstStyle/>
          <a:p>
            <a:pPr>
              <a:defRPr/>
            </a:pPr>
            <a:fld id="{28559717-3120-6D46-B498-BE885A002AAE}" type="slidenum">
              <a:rPr lang="ru-RU"/>
              <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 userDrawn="1">
  <p:cSld name="Заголовок и объект">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592925" y="624110"/>
            <a:ext cx="8911687" cy="1280890"/>
          </a:xfrm>
        </p:spPr>
        <p:txBody>
          <a:bodyPr/>
          <a:lstStyle/>
          <a:p>
            <a:pPr>
              <a:defRPr/>
            </a:pPr>
            <a:r>
              <a:rPr lang="ru-RU"/>
              <a:t>Образец заголовка</a:t>
            </a:r>
            <a:endParaRPr lang="en-US"/>
          </a:p>
        </p:txBody>
      </p:sp>
      <p:sp>
        <p:nvSpPr>
          <p:cNvPr id="3" name="Content Placeholder 2"/>
          <p:cNvSpPr>
            <a:spLocks noGrp="1"/>
          </p:cNvSpPr>
          <p:nvPr>
            <p:ph idx="1"/>
          </p:nvPr>
        </p:nvSpPr>
        <p:spPr bwMode="auto">
          <a:xfrm>
            <a:off x="2589212" y="2133600"/>
            <a:ext cx="8915400" cy="3777622"/>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5" name="Footer Placeholder 4"/>
          <p:cNvSpPr>
            <a:spLocks noGrp="1"/>
          </p:cNvSpPr>
          <p:nvPr>
            <p:ph type="ftr" sz="quarter" idx="11"/>
          </p:nvPr>
        </p:nvSpPr>
        <p:spPr bwMode="auto"/>
        <p:txBody>
          <a:bodyPr/>
          <a:lstStyle/>
          <a:p>
            <a:pPr>
              <a:defRPr/>
            </a:pPr>
            <a:endParaRPr lang="ru-RU"/>
          </a:p>
        </p:txBody>
      </p:sp>
      <p:sp>
        <p:nvSpPr>
          <p:cNvPr id="8"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bwMode="auto"/>
        <p:txBody>
          <a:bodyPr/>
          <a:lstStyle/>
          <a:p>
            <a:pPr>
              <a:defRPr/>
            </a:pPr>
            <a:fld id="{B19B0651-EE4F-4900-A07F-96A6BFA9D0F0}" type="slidenum">
              <a:rPr lang="ru-RU"/>
              <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secHead" userDrawn="1">
  <p:cSld name="Заголовок раздела">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589212" y="2058750"/>
            <a:ext cx="8915399" cy="1468800"/>
          </a:xfrm>
        </p:spPr>
        <p:txBody>
          <a:bodyPr anchor="b"/>
          <a:lstStyle>
            <a:lvl1pPr algn="l">
              <a:defRPr sz="4000" b="0" cap="none"/>
            </a:lvl1pPr>
          </a:lstStyle>
          <a:p>
            <a:pPr>
              <a:defRPr/>
            </a:pPr>
            <a:r>
              <a:rPr lang="ru-RU"/>
              <a:t>Образец заголовка</a:t>
            </a:r>
            <a:endParaRPr lang="en-US"/>
          </a:p>
        </p:txBody>
      </p:sp>
      <p:sp>
        <p:nvSpPr>
          <p:cNvPr id="3" name="Text Placeholder 2"/>
          <p:cNvSpPr>
            <a:spLocks noGrp="1"/>
          </p:cNvSpPr>
          <p:nvPr>
            <p:ph type="body" idx="1"/>
          </p:nvPr>
        </p:nvSpPr>
        <p:spPr bwMode="auto">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ru-RU"/>
              <a:t>Образец текста</a:t>
            </a:r>
            <a:endParaRPr/>
          </a:p>
        </p:txBody>
      </p:sp>
      <p:sp>
        <p:nvSpPr>
          <p:cNvPr id="4" name="Date Placeholder 3"/>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5" name="Footer Placeholder 4"/>
          <p:cNvSpPr>
            <a:spLocks noGrp="1"/>
          </p:cNvSpPr>
          <p:nvPr>
            <p:ph type="ftr" sz="quarter" idx="11"/>
          </p:nvPr>
        </p:nvSpPr>
        <p:spPr bwMode="auto"/>
        <p:txBody>
          <a:bodyPr/>
          <a:lstStyle/>
          <a:p>
            <a:pPr>
              <a:defRPr/>
            </a:pPr>
            <a:endParaRPr lang="ru-RU"/>
          </a:p>
        </p:txBody>
      </p:sp>
      <p:sp>
        <p:nvSpPr>
          <p:cNvPr id="9" name="Freeform 11"/>
          <p:cNvSpPr/>
          <p:nvPr/>
        </p:nvSpPr>
        <p:spPr bwMode="auto">
          <a:xfrm flipV="1">
            <a:off x="-4189" y="31781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bwMode="auto">
          <a:xfrm>
            <a:off x="531812" y="3244139"/>
            <a:ext cx="779766" cy="365125"/>
          </a:xfrm>
        </p:spPr>
        <p:txBody>
          <a:bodyPr/>
          <a:lstStyle/>
          <a:p>
            <a:pPr>
              <a:defRPr/>
            </a:pPr>
            <a:fld id="{28559717-3120-6D46-B498-BE885A002AAE}" type="slidenum">
              <a:rPr lang="ru-RU"/>
              <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Obj" userDrawn="1">
  <p:cSld name="Два объекта">
    <p:spTree>
      <p:nvGrpSpPr>
        <p:cNvPr id="1" name=""/>
        <p:cNvGrpSpPr/>
        <p:nvPr/>
      </p:nvGrpSpPr>
      <p:grpSpPr bwMode="auto">
        <a:xfrm>
          <a:off x="0" y="0"/>
          <a:ext cx="0" cy="0"/>
          <a:chOff x="0" y="0"/>
          <a:chExt cx="0" cy="0"/>
        </a:xfrm>
      </p:grpSpPr>
      <p:sp>
        <p:nvSpPr>
          <p:cNvPr id="8" name="Title 7"/>
          <p:cNvSpPr>
            <a:spLocks noGrp="1"/>
          </p:cNvSpPr>
          <p:nvPr>
            <p:ph type="title"/>
          </p:nvPr>
        </p:nvSpPr>
        <p:spPr bwMode="auto"/>
        <p:txBody>
          <a:bodyPr/>
          <a:lstStyle/>
          <a:p>
            <a:pPr>
              <a:defRPr/>
            </a:pPr>
            <a:r>
              <a:rPr lang="ru-RU"/>
              <a:t>Образец заголовка</a:t>
            </a:r>
            <a:endParaRPr lang="en-US"/>
          </a:p>
        </p:txBody>
      </p:sp>
      <p:sp>
        <p:nvSpPr>
          <p:cNvPr id="3" name="Content Placeholder 2"/>
          <p:cNvSpPr>
            <a:spLocks noGrp="1"/>
          </p:cNvSpPr>
          <p:nvPr>
            <p:ph sz="half" idx="1"/>
          </p:nvPr>
        </p:nvSpPr>
        <p:spPr bwMode="auto">
          <a:xfrm>
            <a:off x="2589212" y="2133600"/>
            <a:ext cx="4313864" cy="3777622"/>
          </a:xfrm>
        </p:spPr>
        <p:txBody>
          <a:bodyPr>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Content Placeholder 3"/>
          <p:cNvSpPr>
            <a:spLocks noGrp="1"/>
          </p:cNvSpPr>
          <p:nvPr>
            <p:ph sz="half" idx="2"/>
          </p:nvPr>
        </p:nvSpPr>
        <p:spPr bwMode="auto">
          <a:xfrm>
            <a:off x="7190747" y="2126222"/>
            <a:ext cx="4313864" cy="3777622"/>
          </a:xfrm>
        </p:spPr>
        <p:txBody>
          <a:bodyPr>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5" name="Date Placeholder 4"/>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6" name="Footer Placeholder 5"/>
          <p:cNvSpPr>
            <a:spLocks noGrp="1"/>
          </p:cNvSpPr>
          <p:nvPr>
            <p:ph type="ftr" sz="quarter" idx="11"/>
          </p:nvPr>
        </p:nvSpPr>
        <p:spPr bwMode="auto"/>
        <p:txBody>
          <a:bodyPr/>
          <a:lstStyle/>
          <a:p>
            <a:pPr>
              <a:defRPr/>
            </a:pPr>
            <a:endParaRPr lang="ru-RU"/>
          </a:p>
        </p:txBody>
      </p:sp>
      <p:sp>
        <p:nvSpPr>
          <p:cNvPr id="10"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bwMode="auto">
          <a:xfrm>
            <a:off x="531812" y="787782"/>
            <a:ext cx="779766" cy="365125"/>
          </a:xfrm>
        </p:spPr>
        <p:txBody>
          <a:bodyPr/>
          <a:lstStyle/>
          <a:p>
            <a:pPr>
              <a:defRPr/>
            </a:pPr>
            <a:fld id="{B19B0651-EE4F-4900-A07F-96A6BFA9D0F0}" type="slidenum">
              <a:rPr lang="ru-RU"/>
              <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TxTwoObj" userDrawn="1">
  <p:cSld name="Сравнение">
    <p:spTree>
      <p:nvGrpSpPr>
        <p:cNvPr id="1" name=""/>
        <p:cNvGrpSpPr/>
        <p:nvPr/>
      </p:nvGrpSpPr>
      <p:grpSpPr bwMode="auto">
        <a:xfrm>
          <a:off x="0" y="0"/>
          <a:ext cx="0" cy="0"/>
          <a:chOff x="0" y="0"/>
          <a:chExt cx="0" cy="0"/>
        </a:xfrm>
      </p:grpSpPr>
      <p:sp>
        <p:nvSpPr>
          <p:cNvPr id="10" name="Title 9"/>
          <p:cNvSpPr>
            <a:spLocks noGrp="1"/>
          </p:cNvSpPr>
          <p:nvPr>
            <p:ph type="title"/>
          </p:nvPr>
        </p:nvSpPr>
        <p:spPr bwMode="auto"/>
        <p:txBody>
          <a:bodyPr/>
          <a:lstStyle/>
          <a:p>
            <a:pPr>
              <a:defRPr/>
            </a:pPr>
            <a:r>
              <a:rPr lang="ru-RU"/>
              <a:t>Образец заголовка</a:t>
            </a:r>
            <a:endParaRPr lang="en-US"/>
          </a:p>
        </p:txBody>
      </p:sp>
      <p:sp>
        <p:nvSpPr>
          <p:cNvPr id="3" name="Text Placeholder 2"/>
          <p:cNvSpPr>
            <a:spLocks noGrp="1"/>
          </p:cNvSpPr>
          <p:nvPr>
            <p:ph type="body" idx="1"/>
          </p:nvPr>
        </p:nvSpPr>
        <p:spPr bwMode="auto">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4" name="Content Placeholder 3"/>
          <p:cNvSpPr>
            <a:spLocks noGrp="1"/>
          </p:cNvSpPr>
          <p:nvPr>
            <p:ph sz="half" idx="2"/>
          </p:nvPr>
        </p:nvSpPr>
        <p:spPr bwMode="auto">
          <a:xfrm>
            <a:off x="2589212" y="2548966"/>
            <a:ext cx="4342893" cy="3354060"/>
          </a:xfrm>
        </p:spPr>
        <p:txBody>
          <a:bodyPr>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5" name="Text Placeholder 4"/>
          <p:cNvSpPr>
            <a:spLocks noGrp="1"/>
          </p:cNvSpPr>
          <p:nvPr>
            <p:ph type="body" sz="quarter" idx="3"/>
          </p:nvPr>
        </p:nvSpPr>
        <p:spPr bwMode="auto">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ru-RU"/>
              <a:t>Образец текста</a:t>
            </a:r>
            <a:endParaRPr/>
          </a:p>
        </p:txBody>
      </p:sp>
      <p:sp>
        <p:nvSpPr>
          <p:cNvPr id="6" name="Content Placeholder 5"/>
          <p:cNvSpPr>
            <a:spLocks noGrp="1"/>
          </p:cNvSpPr>
          <p:nvPr>
            <p:ph sz="quarter" idx="4"/>
          </p:nvPr>
        </p:nvSpPr>
        <p:spPr bwMode="auto">
          <a:xfrm>
            <a:off x="7166957" y="2545738"/>
            <a:ext cx="4338674" cy="3354060"/>
          </a:xfrm>
        </p:spPr>
        <p:txBody>
          <a:bodyPr>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7" name="Date Placeholder 6"/>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8" name="Footer Placeholder 7"/>
          <p:cNvSpPr>
            <a:spLocks noGrp="1"/>
          </p:cNvSpPr>
          <p:nvPr>
            <p:ph type="ftr" sz="quarter" idx="11"/>
          </p:nvPr>
        </p:nvSpPr>
        <p:spPr bwMode="auto"/>
        <p:txBody>
          <a:bodyPr/>
          <a:lstStyle/>
          <a:p>
            <a:pPr>
              <a:defRPr/>
            </a:pPr>
            <a:endParaRPr lang="ru-RU"/>
          </a:p>
        </p:txBody>
      </p:sp>
      <p:sp>
        <p:nvSpPr>
          <p:cNvPr id="12"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bwMode="auto">
          <a:xfrm>
            <a:off x="531812" y="787782"/>
            <a:ext cx="779766" cy="365125"/>
          </a:xfrm>
        </p:spPr>
        <p:txBody>
          <a:bodyPr/>
          <a:lstStyle/>
          <a:p>
            <a:pPr>
              <a:defRPr/>
            </a:pPr>
            <a:fld id="{B19B0651-EE4F-4900-A07F-96A6BFA9D0F0}" type="slidenum">
              <a:rPr lang="ru-RU"/>
              <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Only" userDrawn="1">
  <p:cSld name="Только заголовок">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ru-RU"/>
              <a:t>Образец заголовка</a:t>
            </a:r>
            <a:endParaRPr lang="en-US"/>
          </a:p>
        </p:txBody>
      </p:sp>
      <p:sp>
        <p:nvSpPr>
          <p:cNvPr id="3" name="Date Placeholder 2"/>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4" name="Footer Placeholder 3"/>
          <p:cNvSpPr>
            <a:spLocks noGrp="1"/>
          </p:cNvSpPr>
          <p:nvPr>
            <p:ph type="ftr" sz="quarter" idx="11"/>
          </p:nvPr>
        </p:nvSpPr>
        <p:spPr bwMode="auto"/>
        <p:txBody>
          <a:bodyPr/>
          <a:lstStyle/>
          <a:p>
            <a:pPr>
              <a:defRPr/>
            </a:pPr>
            <a:endParaRPr lang="ru-RU"/>
          </a:p>
        </p:txBody>
      </p:sp>
      <p:sp>
        <p:nvSpPr>
          <p:cNvPr id="7"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bwMode="auto"/>
        <p:txBody>
          <a:bodyPr/>
          <a:lstStyle/>
          <a:p>
            <a:pPr>
              <a:defRPr/>
            </a:pPr>
            <a:fld id="{B19B0651-EE4F-4900-A07F-96A6BFA9D0F0}" type="slidenum">
              <a:rPr lang="ru-RU"/>
              <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blank" userDrawn="1">
  <p:cSld name="Пустой слайд">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B4C71EC6-210F-42DE-9C53-41977AD35B3D}" type="datetimeFigureOut">
              <a:rPr lang="ru-RU"/>
              <a:t/>
            </a:fld>
            <a:endParaRPr lang="ru-RU"/>
          </a:p>
        </p:txBody>
      </p:sp>
      <p:sp>
        <p:nvSpPr>
          <p:cNvPr id="3" name="Footer Placeholder 2"/>
          <p:cNvSpPr>
            <a:spLocks noGrp="1"/>
          </p:cNvSpPr>
          <p:nvPr>
            <p:ph type="ftr" sz="quarter" idx="11"/>
          </p:nvPr>
        </p:nvSpPr>
        <p:spPr bwMode="auto"/>
        <p:txBody>
          <a:bodyPr/>
          <a:lstStyle/>
          <a:p>
            <a:pPr>
              <a:defRPr/>
            </a:pPr>
            <a:endParaRPr lang="ru-RU"/>
          </a:p>
        </p:txBody>
      </p:sp>
      <p:sp>
        <p:nvSpPr>
          <p:cNvPr id="6"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bwMode="auto"/>
        <p:txBody>
          <a:bodyPr/>
          <a:lstStyle/>
          <a:p>
            <a:pPr>
              <a:defRPr/>
            </a:pPr>
            <a:fld id="{B19B0651-EE4F-4900-A07F-96A6BFA9D0F0}" type="slidenum">
              <a:rPr lang="ru-RU"/>
              <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Tx" userDrawn="1">
  <p:cSld name="Объект с подписью">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589212" y="446088"/>
            <a:ext cx="3505199" cy="976312"/>
          </a:xfrm>
        </p:spPr>
        <p:txBody>
          <a:bodyPr anchor="b"/>
          <a:lstStyle>
            <a:lvl1pPr algn="l">
              <a:defRPr sz="2000" b="0"/>
            </a:lvl1pPr>
          </a:lstStyle>
          <a:p>
            <a:pPr>
              <a:defRPr/>
            </a:pPr>
            <a:r>
              <a:rPr lang="ru-RU"/>
              <a:t>Образец заголовка</a:t>
            </a:r>
            <a:endParaRPr lang="en-US"/>
          </a:p>
        </p:txBody>
      </p:sp>
      <p:sp>
        <p:nvSpPr>
          <p:cNvPr id="3" name="Content Placeholder 2"/>
          <p:cNvSpPr>
            <a:spLocks noGrp="1"/>
          </p:cNvSpPr>
          <p:nvPr>
            <p:ph idx="1"/>
          </p:nvPr>
        </p:nvSpPr>
        <p:spPr bwMode="auto">
          <a:xfrm>
            <a:off x="6323012" y="446088"/>
            <a:ext cx="5181600" cy="5414963"/>
          </a:xfrm>
        </p:spPr>
        <p:txBody>
          <a:bodyPr anchor="ctr">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Text Placeholder 3"/>
          <p:cNvSpPr>
            <a:spLocks noGrp="1"/>
          </p:cNvSpPr>
          <p:nvPr>
            <p:ph type="body" sz="half" idx="2"/>
          </p:nvPr>
        </p:nvSpPr>
        <p:spPr bwMode="auto">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ru-RU"/>
              <a:t>Образец текста</a:t>
            </a:r>
            <a:endParaRPr/>
          </a:p>
        </p:txBody>
      </p:sp>
      <p:sp>
        <p:nvSpPr>
          <p:cNvPr id="5" name="Date Placeholder 4"/>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6" name="Footer Placeholder 5"/>
          <p:cNvSpPr>
            <a:spLocks noGrp="1"/>
          </p:cNvSpPr>
          <p:nvPr>
            <p:ph type="ftr" sz="quarter" idx="11"/>
          </p:nvPr>
        </p:nvSpPr>
        <p:spPr bwMode="auto"/>
        <p:txBody>
          <a:bodyPr/>
          <a:lstStyle/>
          <a:p>
            <a:pPr>
              <a:defRPr/>
            </a:pPr>
            <a:endParaRPr lang="ru-RU"/>
          </a:p>
        </p:txBody>
      </p:sp>
      <p:sp>
        <p:nvSpPr>
          <p:cNvPr id="9"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bwMode="auto"/>
        <p:txBody>
          <a:bodyPr/>
          <a:lstStyle/>
          <a:p>
            <a:pPr>
              <a:defRPr/>
            </a:pPr>
            <a:fld id="{B19B0651-EE4F-4900-A07F-96A6BFA9D0F0}" type="slidenum">
              <a:rPr lang="ru-RU"/>
              <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picTx" userDrawn="1">
  <p:cSld name="Рисунок с подписью">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589213" y="4800600"/>
            <a:ext cx="8915400" cy="566738"/>
          </a:xfrm>
        </p:spPr>
        <p:txBody>
          <a:bodyPr anchor="b">
            <a:normAutofit/>
          </a:bodyPr>
          <a:lstStyle>
            <a:lvl1pPr algn="l">
              <a:defRPr sz="2400" b="0"/>
            </a:lvl1pPr>
          </a:lstStyle>
          <a:p>
            <a:pPr>
              <a:defRPr/>
            </a:pPr>
            <a:r>
              <a:rPr lang="ru-RU"/>
              <a:t>Образец заголовка</a:t>
            </a:r>
            <a:endParaRPr lang="en-US"/>
          </a:p>
        </p:txBody>
      </p:sp>
      <p:sp>
        <p:nvSpPr>
          <p:cNvPr id="3" name="Picture Placeholder 2"/>
          <p:cNvSpPr>
            <a:spLocks noChangeAspect="1" noGrp="1"/>
          </p:cNvSpPr>
          <p:nvPr>
            <p:ph type="pic" idx="1"/>
          </p:nvPr>
        </p:nvSpPr>
        <p:spPr bwMode="auto">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a:defRPr/>
            </a:pPr>
            <a:r>
              <a:rPr lang="ru-RU"/>
              <a:t>Вставка рисунка</a:t>
            </a:r>
            <a:endParaRPr lang="en-US"/>
          </a:p>
        </p:txBody>
      </p:sp>
      <p:sp>
        <p:nvSpPr>
          <p:cNvPr id="4" name="Text Placeholder 3"/>
          <p:cNvSpPr>
            <a:spLocks noGrp="1"/>
          </p:cNvSpPr>
          <p:nvPr>
            <p:ph type="body" sz="half" idx="2"/>
          </p:nvPr>
        </p:nvSpPr>
        <p:spPr bwMode="auto">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ru-RU"/>
              <a:t>Образец текста</a:t>
            </a:r>
            <a:endParaRPr/>
          </a:p>
        </p:txBody>
      </p:sp>
      <p:sp>
        <p:nvSpPr>
          <p:cNvPr id="5" name="Date Placeholder 4"/>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6" name="Footer Placeholder 5"/>
          <p:cNvSpPr>
            <a:spLocks noGrp="1"/>
          </p:cNvSpPr>
          <p:nvPr>
            <p:ph type="ftr" sz="quarter" idx="11"/>
          </p:nvPr>
        </p:nvSpPr>
        <p:spPr bwMode="auto"/>
        <p:txBody>
          <a:bodyPr/>
          <a:lstStyle/>
          <a:p>
            <a:pPr>
              <a:defRPr/>
            </a:pPr>
            <a:endParaRPr lang="ru-RU"/>
          </a:p>
        </p:txBody>
      </p:sp>
      <p:sp>
        <p:nvSpPr>
          <p:cNvPr id="9" name="Freeform 11"/>
          <p:cNvSpPr/>
          <p:nvPr/>
        </p:nvSpPr>
        <p:spPr bwMode="auto">
          <a:xfrm flipV="1">
            <a:off x="-4189" y="491172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bwMode="auto">
          <a:xfrm>
            <a:off x="531812" y="4983087"/>
            <a:ext cx="779766" cy="365125"/>
          </a:xfrm>
        </p:spPr>
        <p:txBody>
          <a:bodyPr/>
          <a:lstStyle/>
          <a:p>
            <a:pPr>
              <a:defRPr/>
            </a:pPr>
            <a:fld id="{B19B0651-EE4F-4900-A07F-96A6BFA9D0F0}" type="slidenum">
              <a:rPr lang="ru-RU"/>
              <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Заголовок и подпись">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589212" y="609600"/>
            <a:ext cx="8915399" cy="3117040"/>
          </a:xfrm>
        </p:spPr>
        <p:txBody>
          <a:bodyPr anchor="ctr">
            <a:normAutofit/>
          </a:bodyPr>
          <a:lstStyle>
            <a:lvl1pPr algn="l">
              <a:defRPr sz="4800" b="0" cap="none"/>
            </a:lvl1pPr>
          </a:lstStyle>
          <a:p>
            <a:pPr>
              <a:defRPr/>
            </a:pPr>
            <a:r>
              <a:rPr lang="ru-RU"/>
              <a:t>Образец заголовка</a:t>
            </a:r>
            <a:endParaRPr lang="en-US"/>
          </a:p>
        </p:txBody>
      </p:sp>
      <p:sp>
        <p:nvSpPr>
          <p:cNvPr id="3" name="Text Placeholder 2"/>
          <p:cNvSpPr>
            <a:spLocks noGrp="1"/>
          </p:cNvSpPr>
          <p:nvPr>
            <p:ph type="body" idx="1"/>
          </p:nvPr>
        </p:nvSpPr>
        <p:spPr bwMode="auto">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ru-RU"/>
              <a:t>Образец текста</a:t>
            </a:r>
            <a:endParaRPr/>
          </a:p>
        </p:txBody>
      </p:sp>
      <p:sp>
        <p:nvSpPr>
          <p:cNvPr id="4" name="Date Placeholder 3"/>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5" name="Footer Placeholder 4"/>
          <p:cNvSpPr>
            <a:spLocks noGrp="1"/>
          </p:cNvSpPr>
          <p:nvPr>
            <p:ph type="ftr" sz="quarter" idx="11"/>
          </p:nvPr>
        </p:nvSpPr>
        <p:spPr bwMode="auto"/>
        <p:txBody>
          <a:bodyPr/>
          <a:lstStyle/>
          <a:p>
            <a:pPr>
              <a:defRPr/>
            </a:pPr>
            <a:endParaRPr lang="ru-RU"/>
          </a:p>
        </p:txBody>
      </p:sp>
      <p:sp>
        <p:nvSpPr>
          <p:cNvPr id="9" name="Freeform 11"/>
          <p:cNvSpPr/>
          <p:nvPr/>
        </p:nvSpPr>
        <p:spPr bwMode="auto">
          <a:xfrm flipV="1">
            <a:off x="-4189" y="31781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bwMode="auto">
          <a:xfrm>
            <a:off x="531812" y="3244139"/>
            <a:ext cx="779766" cy="365125"/>
          </a:xfrm>
        </p:spPr>
        <p:txBody>
          <a:bodyPr/>
          <a:lstStyle/>
          <a:p>
            <a:pPr>
              <a:defRPr/>
            </a:pPr>
            <a:fld id="{B19B0651-EE4F-4900-A07F-96A6BFA9D0F0}" type="slidenum">
              <a:rPr lang="ru-RU"/>
              <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Цитата с подписью">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849949" y="609600"/>
            <a:ext cx="8393926" cy="2895600"/>
          </a:xfrm>
        </p:spPr>
        <p:txBody>
          <a:bodyPr anchor="ctr">
            <a:normAutofit/>
          </a:bodyPr>
          <a:lstStyle>
            <a:lvl1pPr algn="l">
              <a:defRPr sz="4800" b="0" cap="none"/>
            </a:lvl1pPr>
          </a:lstStyle>
          <a:p>
            <a:pPr>
              <a:defRPr/>
            </a:pPr>
            <a:r>
              <a:rPr lang="ru-RU"/>
              <a:t>Образец заголовка</a:t>
            </a:r>
            <a:endParaRPr lang="en-US"/>
          </a:p>
        </p:txBody>
      </p:sp>
      <p:sp>
        <p:nvSpPr>
          <p:cNvPr id="13" name="Text Placeholder 9"/>
          <p:cNvSpPr>
            <a:spLocks noGrp="1"/>
          </p:cNvSpPr>
          <p:nvPr>
            <p:ph type="body" sz="quarter" idx="13"/>
          </p:nvPr>
        </p:nvSpPr>
        <p:spPr bwMode="auto">
          <a:xfrm>
            <a:off x="3275012" y="3505199"/>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ru-RU"/>
              <a:t>Образец текста</a:t>
            </a:r>
            <a:endParaRPr/>
          </a:p>
        </p:txBody>
      </p:sp>
      <p:sp>
        <p:nvSpPr>
          <p:cNvPr id="3" name="Text Placeholder 2"/>
          <p:cNvSpPr>
            <a:spLocks noGrp="1"/>
          </p:cNvSpPr>
          <p:nvPr>
            <p:ph type="body" idx="1"/>
          </p:nvPr>
        </p:nvSpPr>
        <p:spPr bwMode="auto">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ru-RU"/>
              <a:t>Образец текста</a:t>
            </a:r>
            <a:endParaRPr/>
          </a:p>
        </p:txBody>
      </p:sp>
      <p:sp>
        <p:nvSpPr>
          <p:cNvPr id="4" name="Date Placeholder 3"/>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5" name="Footer Placeholder 4"/>
          <p:cNvSpPr>
            <a:spLocks noGrp="1"/>
          </p:cNvSpPr>
          <p:nvPr>
            <p:ph type="ftr" sz="quarter" idx="11"/>
          </p:nvPr>
        </p:nvSpPr>
        <p:spPr bwMode="auto"/>
        <p:txBody>
          <a:bodyPr/>
          <a:lstStyle/>
          <a:p>
            <a:pPr>
              <a:defRPr/>
            </a:pPr>
            <a:endParaRPr lang="ru-RU"/>
          </a:p>
        </p:txBody>
      </p:sp>
      <p:sp>
        <p:nvSpPr>
          <p:cNvPr id="11" name="Freeform 11"/>
          <p:cNvSpPr/>
          <p:nvPr/>
        </p:nvSpPr>
        <p:spPr bwMode="auto">
          <a:xfrm flipV="1">
            <a:off x="-4189" y="31781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bwMode="auto">
          <a:xfrm>
            <a:off x="531812" y="3244139"/>
            <a:ext cx="779766" cy="365125"/>
          </a:xfrm>
        </p:spPr>
        <p:txBody>
          <a:bodyPr/>
          <a:lstStyle/>
          <a:p>
            <a:pPr>
              <a:defRPr/>
            </a:pPr>
            <a:fld id="{B19B0651-EE4F-4900-A07F-96A6BFA9D0F0}" type="slidenum">
              <a:rPr lang="ru-RU"/>
              <a:t/>
            </a:fld>
            <a:endParaRPr lang="ru-RU"/>
          </a:p>
        </p:txBody>
      </p:sp>
      <p:sp>
        <p:nvSpPr>
          <p:cNvPr id="14" name="TextBox 13"/>
          <p:cNvSpPr txBox="1"/>
          <p:nvPr/>
        </p:nvSpPr>
        <p:spPr bwMode="auto">
          <a:xfrm>
            <a:off x="2467651" y="648005"/>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solidFill>
                <a:latin typeface="Arial"/>
              </a:rPr>
              <a:t>“</a:t>
            </a:r>
            <a:endParaRPr/>
          </a:p>
        </p:txBody>
      </p:sp>
      <p:sp>
        <p:nvSpPr>
          <p:cNvPr id="15" name="TextBox 14"/>
          <p:cNvSpPr txBox="1"/>
          <p:nvPr/>
        </p:nvSpPr>
        <p:spPr bwMode="auto">
          <a:xfrm>
            <a:off x="11114852" y="2905306"/>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solidFill>
                <a:latin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Карточка имени">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589213" y="2438400"/>
            <a:ext cx="8915400" cy="2724845"/>
          </a:xfrm>
        </p:spPr>
        <p:txBody>
          <a:bodyPr anchor="b">
            <a:normAutofit/>
          </a:bodyPr>
          <a:lstStyle>
            <a:lvl1pPr algn="l">
              <a:defRPr sz="4800" b="0"/>
            </a:lvl1pPr>
          </a:lstStyle>
          <a:p>
            <a:pPr>
              <a:defRPr/>
            </a:pPr>
            <a:r>
              <a:rPr lang="ru-RU"/>
              <a:t>Образец заголовка</a:t>
            </a:r>
            <a:endParaRPr lang="en-US"/>
          </a:p>
        </p:txBody>
      </p:sp>
      <p:sp>
        <p:nvSpPr>
          <p:cNvPr id="4" name="Text Placeholder 3"/>
          <p:cNvSpPr>
            <a:spLocks noGrp="1"/>
          </p:cNvSpPr>
          <p:nvPr>
            <p:ph type="body" sz="half" idx="2"/>
          </p:nvPr>
        </p:nvSpPr>
        <p:spPr bwMode="auto">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defRPr/>
            </a:pPr>
            <a:r>
              <a:rPr lang="ru-RU"/>
              <a:t>Образец текста</a:t>
            </a:r>
            <a:endParaRPr/>
          </a:p>
        </p:txBody>
      </p:sp>
      <p:sp>
        <p:nvSpPr>
          <p:cNvPr id="5" name="Date Placeholder 4"/>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6" name="Footer Placeholder 5"/>
          <p:cNvSpPr>
            <a:spLocks noGrp="1"/>
          </p:cNvSpPr>
          <p:nvPr>
            <p:ph type="ftr" sz="quarter" idx="11"/>
          </p:nvPr>
        </p:nvSpPr>
        <p:spPr bwMode="auto"/>
        <p:txBody>
          <a:bodyPr/>
          <a:lstStyle/>
          <a:p>
            <a:pPr>
              <a:defRPr/>
            </a:pPr>
            <a:endParaRPr lang="ru-RU"/>
          </a:p>
        </p:txBody>
      </p:sp>
      <p:sp>
        <p:nvSpPr>
          <p:cNvPr id="9" name="Freeform 11"/>
          <p:cNvSpPr/>
          <p:nvPr/>
        </p:nvSpPr>
        <p:spPr bwMode="auto">
          <a:xfrm flipV="1">
            <a:off x="-4189" y="491172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bwMode="auto">
          <a:xfrm>
            <a:off x="531812" y="4983087"/>
            <a:ext cx="779766" cy="365125"/>
          </a:xfrm>
        </p:spPr>
        <p:txBody>
          <a:bodyPr/>
          <a:lstStyle/>
          <a:p>
            <a:pPr>
              <a:defRPr/>
            </a:pPr>
            <a:fld id="{B19B0651-EE4F-4900-A07F-96A6BFA9D0F0}" type="slidenum">
              <a:rPr lang="ru-RU"/>
              <a:t/>
            </a:fld>
            <a:endParaRPr lang="ru-RU"/>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Цитата карточки имени">
    <p:spTree>
      <p:nvGrpSpPr>
        <p:cNvPr id="1" name=""/>
        <p:cNvGrpSpPr/>
        <p:nvPr/>
      </p:nvGrpSpPr>
      <p:grpSpPr bwMode="auto">
        <a:xfrm>
          <a:off x="0" y="0"/>
          <a:ext cx="0" cy="0"/>
          <a:chOff x="0" y="0"/>
          <a:chExt cx="0" cy="0"/>
        </a:xfrm>
      </p:grpSpPr>
      <p:sp>
        <p:nvSpPr>
          <p:cNvPr id="12" name="Title 1"/>
          <p:cNvSpPr>
            <a:spLocks noGrp="1"/>
          </p:cNvSpPr>
          <p:nvPr>
            <p:ph type="title"/>
          </p:nvPr>
        </p:nvSpPr>
        <p:spPr bwMode="auto">
          <a:xfrm>
            <a:off x="2849949" y="609600"/>
            <a:ext cx="8393926" cy="2895600"/>
          </a:xfrm>
        </p:spPr>
        <p:txBody>
          <a:bodyPr anchor="ctr">
            <a:normAutofit/>
          </a:bodyPr>
          <a:lstStyle>
            <a:lvl1pPr algn="l">
              <a:defRPr sz="4800" b="0" cap="none"/>
            </a:lvl1pPr>
          </a:lstStyle>
          <a:p>
            <a:pPr>
              <a:defRPr/>
            </a:pPr>
            <a:r>
              <a:rPr lang="ru-RU"/>
              <a:t>Образец заголовка</a:t>
            </a:r>
            <a:endParaRPr lang="en-US"/>
          </a:p>
        </p:txBody>
      </p:sp>
      <p:sp>
        <p:nvSpPr>
          <p:cNvPr id="21" name="Text Placeholder 9"/>
          <p:cNvSpPr>
            <a:spLocks noGrp="1"/>
          </p:cNvSpPr>
          <p:nvPr>
            <p:ph type="body" sz="quarter" idx="13"/>
          </p:nvPr>
        </p:nvSpPr>
        <p:spPr bwMode="auto">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ru-RU"/>
              <a:t>Образец текста</a:t>
            </a:r>
            <a:endParaRPr/>
          </a:p>
        </p:txBody>
      </p:sp>
      <p:sp>
        <p:nvSpPr>
          <p:cNvPr id="4" name="Text Placeholder 3"/>
          <p:cNvSpPr>
            <a:spLocks noGrp="1"/>
          </p:cNvSpPr>
          <p:nvPr>
            <p:ph type="body" sz="half" idx="2"/>
          </p:nvPr>
        </p:nvSpPr>
        <p:spPr bwMode="auto">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defRPr/>
            </a:pPr>
            <a:r>
              <a:rPr lang="ru-RU"/>
              <a:t>Образец текста</a:t>
            </a:r>
            <a:endParaRPr/>
          </a:p>
        </p:txBody>
      </p:sp>
      <p:sp>
        <p:nvSpPr>
          <p:cNvPr id="5" name="Date Placeholder 4"/>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6" name="Footer Placeholder 5"/>
          <p:cNvSpPr>
            <a:spLocks noGrp="1"/>
          </p:cNvSpPr>
          <p:nvPr>
            <p:ph type="ftr" sz="quarter" idx="11"/>
          </p:nvPr>
        </p:nvSpPr>
        <p:spPr bwMode="auto"/>
        <p:txBody>
          <a:bodyPr/>
          <a:lstStyle/>
          <a:p>
            <a:pPr>
              <a:defRPr/>
            </a:pPr>
            <a:endParaRPr lang="ru-RU"/>
          </a:p>
        </p:txBody>
      </p:sp>
      <p:sp>
        <p:nvSpPr>
          <p:cNvPr id="11" name="Freeform 11"/>
          <p:cNvSpPr/>
          <p:nvPr/>
        </p:nvSpPr>
        <p:spPr bwMode="auto">
          <a:xfrm flipV="1">
            <a:off x="-4189" y="491172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bwMode="auto">
          <a:xfrm>
            <a:off x="531812" y="4983087"/>
            <a:ext cx="779766" cy="365125"/>
          </a:xfrm>
        </p:spPr>
        <p:txBody>
          <a:bodyPr/>
          <a:lstStyle/>
          <a:p>
            <a:pPr>
              <a:defRPr/>
            </a:pPr>
            <a:fld id="{B19B0651-EE4F-4900-A07F-96A6BFA9D0F0}" type="slidenum">
              <a:rPr lang="ru-RU"/>
              <a:t/>
            </a:fld>
            <a:endParaRPr lang="ru-RU"/>
          </a:p>
        </p:txBody>
      </p:sp>
      <p:sp>
        <p:nvSpPr>
          <p:cNvPr id="17" name="TextBox 16"/>
          <p:cNvSpPr txBox="1"/>
          <p:nvPr/>
        </p:nvSpPr>
        <p:spPr bwMode="auto">
          <a:xfrm>
            <a:off x="2467651" y="648005"/>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solidFill>
                <a:latin typeface="Arial"/>
              </a:rPr>
              <a:t>“</a:t>
            </a:r>
            <a:endParaRPr/>
          </a:p>
        </p:txBody>
      </p:sp>
      <p:sp>
        <p:nvSpPr>
          <p:cNvPr id="18" name="TextBox 17"/>
          <p:cNvSpPr txBox="1"/>
          <p:nvPr/>
        </p:nvSpPr>
        <p:spPr bwMode="auto">
          <a:xfrm>
            <a:off x="11114852" y="2905306"/>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solidFill>
                <a:latin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userDrawn="1">
  <p:cSld name="Истина или ложь">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589212" y="627407"/>
            <a:ext cx="8915399" cy="2880020"/>
          </a:xfrm>
        </p:spPr>
        <p:txBody>
          <a:bodyPr anchor="ctr">
            <a:normAutofit/>
          </a:bodyPr>
          <a:lstStyle>
            <a:lvl1pPr algn="l">
              <a:defRPr sz="4800" b="0"/>
            </a:lvl1pPr>
          </a:lstStyle>
          <a:p>
            <a:pPr>
              <a:defRPr/>
            </a:pPr>
            <a:r>
              <a:rPr lang="ru-RU"/>
              <a:t>Образец заголовка</a:t>
            </a:r>
            <a:endParaRPr lang="en-US"/>
          </a:p>
        </p:txBody>
      </p:sp>
      <p:sp>
        <p:nvSpPr>
          <p:cNvPr id="21" name="Text Placeholder 9"/>
          <p:cNvSpPr>
            <a:spLocks noGrp="1"/>
          </p:cNvSpPr>
          <p:nvPr>
            <p:ph type="body" sz="quarter" idx="13"/>
          </p:nvPr>
        </p:nvSpPr>
        <p:spPr bwMode="auto">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ru-RU"/>
              <a:t>Образец текста</a:t>
            </a:r>
            <a:endParaRPr/>
          </a:p>
        </p:txBody>
      </p:sp>
      <p:sp>
        <p:nvSpPr>
          <p:cNvPr id="4" name="Text Placeholder 3"/>
          <p:cNvSpPr>
            <a:spLocks noGrp="1"/>
          </p:cNvSpPr>
          <p:nvPr>
            <p:ph type="body" sz="half" idx="2"/>
          </p:nvPr>
        </p:nvSpPr>
        <p:spPr bwMode="auto">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defRPr/>
            </a:pPr>
            <a:r>
              <a:rPr lang="ru-RU"/>
              <a:t>Образец текста</a:t>
            </a:r>
            <a:endParaRPr/>
          </a:p>
        </p:txBody>
      </p:sp>
      <p:sp>
        <p:nvSpPr>
          <p:cNvPr id="5" name="Date Placeholder 4"/>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6" name="Footer Placeholder 5"/>
          <p:cNvSpPr>
            <a:spLocks noGrp="1"/>
          </p:cNvSpPr>
          <p:nvPr>
            <p:ph type="ftr" sz="quarter" idx="11"/>
          </p:nvPr>
        </p:nvSpPr>
        <p:spPr bwMode="auto"/>
        <p:txBody>
          <a:bodyPr/>
          <a:lstStyle/>
          <a:p>
            <a:pPr>
              <a:defRPr/>
            </a:pPr>
            <a:endParaRPr lang="ru-RU"/>
          </a:p>
        </p:txBody>
      </p:sp>
      <p:sp>
        <p:nvSpPr>
          <p:cNvPr id="9" name="Freeform 11"/>
          <p:cNvSpPr/>
          <p:nvPr/>
        </p:nvSpPr>
        <p:spPr bwMode="auto">
          <a:xfrm flipV="1">
            <a:off x="-4189" y="491172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bwMode="auto">
          <a:xfrm>
            <a:off x="531812" y="4983087"/>
            <a:ext cx="779766" cy="365125"/>
          </a:xfrm>
        </p:spPr>
        <p:txBody>
          <a:bodyPr/>
          <a:lstStyle/>
          <a:p>
            <a:pPr>
              <a:defRPr/>
            </a:pPr>
            <a:fld id="{B19B0651-EE4F-4900-A07F-96A6BFA9D0F0}" type="slidenum">
              <a:rPr lang="ru-RU"/>
              <a:t/>
            </a:fld>
            <a:endParaRPr lang="ru-RU"/>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x" userDrawn="1">
  <p:cSld name="Заголовок и вертикальный текст">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ru-RU"/>
              <a:t>Образец заголовка</a:t>
            </a:r>
            <a:endParaRPr lang="en-US"/>
          </a:p>
        </p:txBody>
      </p:sp>
      <p:sp>
        <p:nvSpPr>
          <p:cNvPr id="3" name="Vertical Text Placeholder 2"/>
          <p:cNvSpPr>
            <a:spLocks noGrp="1"/>
          </p:cNvSpPr>
          <p:nvPr>
            <p:ph type="body" orient="vert" idx="1"/>
          </p:nvPr>
        </p:nvSpPr>
        <p:spPr bwMode="auto"/>
        <p:txBody>
          <a:bodyPr vert="eaVert" ancho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5" name="Footer Placeholder 4"/>
          <p:cNvSpPr>
            <a:spLocks noGrp="1"/>
          </p:cNvSpPr>
          <p:nvPr>
            <p:ph type="ftr" sz="quarter" idx="11"/>
          </p:nvPr>
        </p:nvSpPr>
        <p:spPr bwMode="auto"/>
        <p:txBody>
          <a:bodyPr/>
          <a:lstStyle/>
          <a:p>
            <a:pPr>
              <a:defRPr/>
            </a:pPr>
            <a:endParaRPr lang="ru-RU"/>
          </a:p>
        </p:txBody>
      </p:sp>
      <p:sp>
        <p:nvSpPr>
          <p:cNvPr id="8"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bwMode="auto"/>
        <p:txBody>
          <a:bodyPr/>
          <a:lstStyle/>
          <a:p>
            <a:pPr>
              <a:defRPr/>
            </a:pPr>
            <a:fld id="{B19B0651-EE4F-4900-A07F-96A6BFA9D0F0}" type="slidenum">
              <a:rPr lang="ru-RU"/>
              <a:t/>
            </a:fld>
            <a:endParaRPr lang="ru-RU"/>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itleAndTx" userDrawn="1">
  <p:cSld name="Вертикальный заголовок и текст">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9294812" y="627405"/>
            <a:ext cx="2207601" cy="5283817"/>
          </a:xfrm>
        </p:spPr>
        <p:txBody>
          <a:bodyPr vert="eaVert" anchor="ctr"/>
          <a:lstStyle/>
          <a:p>
            <a:pPr>
              <a:defRPr/>
            </a:pPr>
            <a:r>
              <a:rPr lang="ru-RU"/>
              <a:t>Образец заголовка</a:t>
            </a:r>
            <a:endParaRPr lang="en-US"/>
          </a:p>
        </p:txBody>
      </p:sp>
      <p:sp>
        <p:nvSpPr>
          <p:cNvPr id="3" name="Vertical Text Placeholder 2"/>
          <p:cNvSpPr>
            <a:spLocks noGrp="1"/>
          </p:cNvSpPr>
          <p:nvPr>
            <p:ph type="body" orient="vert" idx="1"/>
          </p:nvPr>
        </p:nvSpPr>
        <p:spPr bwMode="auto">
          <a:xfrm>
            <a:off x="2589212" y="627405"/>
            <a:ext cx="6477000" cy="5283817"/>
          </a:xfrm>
        </p:spPr>
        <p:txBody>
          <a:bodyPr vert="eaVert"/>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10"/>
          </p:nvPr>
        </p:nvSpPr>
        <p:spPr bwMode="auto"/>
        <p:txBody>
          <a:bodyPr/>
          <a:lstStyle/>
          <a:p>
            <a:pPr>
              <a:defRPr/>
            </a:pPr>
            <a:fld id="{D840B9A4-3D02-8546-A62E-6B7633AEC22B}" type="datetimeFigureOut">
              <a:rPr lang="ru-RU"/>
              <a:t/>
            </a:fld>
            <a:endParaRPr lang="ru-RU"/>
          </a:p>
        </p:txBody>
      </p:sp>
      <p:sp>
        <p:nvSpPr>
          <p:cNvPr id="5" name="Footer Placeholder 4"/>
          <p:cNvSpPr>
            <a:spLocks noGrp="1"/>
          </p:cNvSpPr>
          <p:nvPr>
            <p:ph type="ftr" sz="quarter" idx="11"/>
          </p:nvPr>
        </p:nvSpPr>
        <p:spPr bwMode="auto"/>
        <p:txBody>
          <a:bodyPr/>
          <a:lstStyle/>
          <a:p>
            <a:pPr>
              <a:defRPr/>
            </a:pPr>
            <a:endParaRPr lang="ru-RU"/>
          </a:p>
        </p:txBody>
      </p:sp>
      <p:sp>
        <p:nvSpPr>
          <p:cNvPr id="8" name="Freeform 11"/>
          <p:cNvSpPr/>
          <p:nvPr/>
        </p:nvSpPr>
        <p:spPr bwMode="auto">
          <a:xfrm flipV="1">
            <a:off x="-4189" y="714375"/>
            <a:ext cx="1588526" cy="507296"/>
          </a:xfrm>
          <a:custGeom>
            <a:avLst/>
            <a:gdLst/>
            <a:ahLst/>
            <a:cxnLst/>
            <a:rect l="l" t="t" r="r" b="b"/>
            <a:pathLst>
              <a:path w="9248" h="10000" fill="norm" stroke="1"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bwMode="auto"/>
        <p:txBody>
          <a:bodyPr/>
          <a:lstStyle/>
          <a:p>
            <a:pPr>
              <a:defRPr/>
            </a:pPr>
            <a:fld id="{B19B0651-EE4F-4900-A07F-96A6BFA9D0F0}" type="slidenum">
              <a:rPr lang="ru-RU"/>
              <a:t/>
            </a:fld>
            <a:endParaRPr lang="ru-RU"/>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3">
        <a:schemeClr val="bg2"/>
      </p:bgRef>
    </p:bg>
    <p:spTree>
      <p:nvGrpSpPr>
        <p:cNvPr id="1" name=""/>
        <p:cNvGrpSpPr/>
        <p:nvPr/>
      </p:nvGrpSpPr>
      <p:grpSpPr bwMode="auto">
        <a:xfrm>
          <a:off x="0" y="0"/>
          <a:ext cx="0" cy="0"/>
          <a:chOff x="0" y="0"/>
          <a:chExt cx="0" cy="0"/>
        </a:xfrm>
      </p:grpSpPr>
      <p:grpSp>
        <p:nvGrpSpPr>
          <p:cNvPr id="23" name="Group 22"/>
          <p:cNvGrpSpPr/>
          <p:nvPr/>
        </p:nvGrpSpPr>
        <p:grpSpPr bwMode="auto">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fill="norm" stroke="1"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fill="norm" stroke="1"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fill="norm" stroke="1"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fill="norm" stroke="1" extrusionOk="0">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fill="norm" stroke="1"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fill="norm" stroke="1"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fill="norm" stroke="1"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fill="norm" stroke="1"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fill="norm" stroke="1"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fill="norm" stroke="1" extrusionOk="0">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fill="norm" stroke="1"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fill="norm" stroke="1"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bwMode="auto">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fill="norm" stroke="1"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fill="norm" stroke="1"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fill="norm" stroke="1"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fill="norm" stroke="1"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fill="norm" stroke="1"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fill="norm" stroke="1" extrusionOk="0">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fill="norm" stroke="1"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fill="norm" stroke="1"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fill="norm" stroke="1" extrusionOk="0">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fill="norm" stroke="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fill="norm" stroke="1"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fill="norm" stroke="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bwMode="auto">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bwMode="auto">
          <a:xfrm>
            <a:off x="2592924" y="624110"/>
            <a:ext cx="8911687" cy="1280890"/>
          </a:xfrm>
          <a:prstGeom prst="rect">
            <a:avLst/>
          </a:prstGeom>
        </p:spPr>
        <p:txBody>
          <a:bodyPr vert="horz" lIns="91440" tIns="45720" rIns="91440" bIns="45720" rtlCol="0" anchor="t">
            <a:normAutofit/>
          </a:bodyPr>
          <a:lstStyle/>
          <a:p>
            <a:pPr>
              <a:defRPr/>
            </a:pPr>
            <a:r>
              <a:rPr lang="ru-RU"/>
              <a:t>Образец заголовка</a:t>
            </a:r>
            <a:endParaRPr lang="en-US"/>
          </a:p>
        </p:txBody>
      </p:sp>
      <p:sp>
        <p:nvSpPr>
          <p:cNvPr id="3" name="Text Placeholder 2"/>
          <p:cNvSpPr>
            <a:spLocks noGrp="1"/>
          </p:cNvSpPr>
          <p:nvPr>
            <p:ph type="body" idx="1"/>
          </p:nvPr>
        </p:nvSpPr>
        <p:spPr bwMode="auto">
          <a:xfrm>
            <a:off x="2589212" y="2133600"/>
            <a:ext cx="8915400" cy="3886200"/>
          </a:xfrm>
          <a:prstGeom prst="rect">
            <a:avLst/>
          </a:prstGeom>
        </p:spPr>
        <p:txBody>
          <a:bodyPr vert="horz" lIns="91440" tIns="45720" rIns="91440" bIns="45720" rtlCol="0">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lang="en-US"/>
          </a:p>
        </p:txBody>
      </p:sp>
      <p:sp>
        <p:nvSpPr>
          <p:cNvPr id="4" name="Date Placeholder 3"/>
          <p:cNvSpPr>
            <a:spLocks noGrp="1"/>
          </p:cNvSpPr>
          <p:nvPr>
            <p:ph type="dt" sz="half" idx="2"/>
          </p:nvPr>
        </p:nvSpPr>
        <p:spPr bwMode="auto">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D840B9A4-3D02-8546-A62E-6B7633AEC22B}" type="datetimeFigureOut">
              <a:rPr lang="ru-RU"/>
              <a:t/>
            </a:fld>
            <a:endParaRPr lang="ru-RU"/>
          </a:p>
        </p:txBody>
      </p:sp>
      <p:sp>
        <p:nvSpPr>
          <p:cNvPr id="5" name="Footer Placeholder 4"/>
          <p:cNvSpPr>
            <a:spLocks noGrp="1"/>
          </p:cNvSpPr>
          <p:nvPr>
            <p:ph type="ftr" sz="quarter" idx="3"/>
          </p:nvPr>
        </p:nvSpPr>
        <p:spPr bwMode="auto">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ru-RU"/>
          </a:p>
        </p:txBody>
      </p:sp>
      <p:sp>
        <p:nvSpPr>
          <p:cNvPr id="6" name="Slide Number Placeholder 5"/>
          <p:cNvSpPr>
            <a:spLocks noGrp="1"/>
          </p:cNvSpPr>
          <p:nvPr>
            <p:ph type="sldNum" sz="quarter" idx="4"/>
          </p:nvPr>
        </p:nvSpPr>
        <p:spPr bwMode="gray">
          <a:xfrm>
            <a:off x="531812" y="787782"/>
            <a:ext cx="779766" cy="365125"/>
          </a:xfrm>
          <a:prstGeom prst="rect">
            <a:avLst/>
          </a:prstGeom>
        </p:spPr>
        <p:txBody>
          <a:bodyPr vert="horz" lIns="91440" tIns="45720" rIns="91440" bIns="45720" rtlCol="0" anchor="ctr"/>
          <a:lstStyle>
            <a:lvl1pPr algn="r">
              <a:defRPr sz="2000">
                <a:solidFill>
                  <a:srgbClr val="FEFFFF"/>
                </a:solidFill>
              </a:defRPr>
            </a:lvl1pPr>
          </a:lstStyle>
          <a:p>
            <a:pPr>
              <a:defRPr/>
            </a:pPr>
            <a:fld id="{B19B0651-EE4F-4900-A07F-96A6BFA9D0F0}" type="slidenum">
              <a:rPr lang="ru-RU"/>
              <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a:spcBef>
          <a:spcPts val="0"/>
        </a:spcBef>
        <a:buNone/>
        <a:defRPr sz="3600">
          <a:solidFill>
            <a:schemeClr val="tx1">
              <a:lumMod val="85000"/>
              <a:lumOff val="1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p:titleStyle>
    <p:bodyStyle>
      <a:lvl1pPr marL="342900" indent="-342900" algn="l" defTabSz="457200">
        <a:spcBef>
          <a:spcPts val="1000"/>
        </a:spcBef>
        <a:spcAft>
          <a:spcPts val="0"/>
        </a:spcAft>
        <a:buClr>
          <a:schemeClr val="accent1"/>
        </a:buClr>
        <a:buFont typeface="Wingdings 3"/>
        <a:buChar char=""/>
        <a:defRPr sz="1800">
          <a:solidFill>
            <a:schemeClr val="tx1">
              <a:lumMod val="75000"/>
              <a:lumOff val="25000"/>
            </a:schemeClr>
          </a:solidFill>
          <a:latin typeface="+mn-lt"/>
          <a:ea typeface="+mn-ea"/>
          <a:cs typeface="+mn-cs"/>
        </a:defRPr>
      </a:lvl1pPr>
      <a:lvl2pPr marL="742950" indent="-285750" algn="l" defTabSz="457200">
        <a:spcBef>
          <a:spcPts val="1000"/>
        </a:spcBef>
        <a:spcAft>
          <a:spcPts val="0"/>
        </a:spcAft>
        <a:buClr>
          <a:schemeClr val="accent1"/>
        </a:buClr>
        <a:buFont typeface="Wingdings 3"/>
        <a:buChar char=""/>
        <a:defRPr sz="1600">
          <a:solidFill>
            <a:schemeClr val="tx1">
              <a:lumMod val="75000"/>
              <a:lumOff val="25000"/>
            </a:schemeClr>
          </a:solidFill>
          <a:latin typeface="+mn-lt"/>
          <a:ea typeface="+mn-ea"/>
          <a:cs typeface="+mn-cs"/>
        </a:defRPr>
      </a:lvl2pPr>
      <a:lvl3pPr marL="1143000" indent="-228600" algn="l" defTabSz="457200">
        <a:spcBef>
          <a:spcPts val="1000"/>
        </a:spcBef>
        <a:spcAft>
          <a:spcPts val="0"/>
        </a:spcAft>
        <a:buClr>
          <a:schemeClr val="accent1"/>
        </a:buClr>
        <a:buFont typeface="Wingdings 3"/>
        <a:buChar char=""/>
        <a:defRPr sz="1400">
          <a:solidFill>
            <a:schemeClr val="tx1">
              <a:lumMod val="75000"/>
              <a:lumOff val="25000"/>
            </a:schemeClr>
          </a:solidFill>
          <a:latin typeface="+mn-lt"/>
          <a:ea typeface="+mn-ea"/>
          <a:cs typeface="+mn-cs"/>
        </a:defRPr>
      </a:lvl3pPr>
      <a:lvl4pPr marL="1600200" indent="-228600" algn="l" defTabSz="457200">
        <a:spcBef>
          <a:spcPts val="1000"/>
        </a:spcBef>
        <a:spcAft>
          <a:spcPts val="0"/>
        </a:spcAft>
        <a:buClr>
          <a:schemeClr val="accent1"/>
        </a:buClr>
        <a:buFont typeface="Wingdings 3"/>
        <a:buChar char=""/>
        <a:defRPr sz="1200">
          <a:solidFill>
            <a:schemeClr val="tx1">
              <a:lumMod val="75000"/>
              <a:lumOff val="25000"/>
            </a:schemeClr>
          </a:solidFill>
          <a:latin typeface="+mn-lt"/>
          <a:ea typeface="+mn-ea"/>
          <a:cs typeface="+mn-cs"/>
        </a:defRPr>
      </a:lvl4pPr>
      <a:lvl5pPr marL="2057400" indent="-228600" algn="l" defTabSz="457200">
        <a:spcBef>
          <a:spcPts val="1000"/>
        </a:spcBef>
        <a:spcAft>
          <a:spcPts val="0"/>
        </a:spcAft>
        <a:buClr>
          <a:schemeClr val="accent1"/>
        </a:buClr>
        <a:buFont typeface="Wingdings 3"/>
        <a:buChar char=""/>
        <a:defRPr sz="1200">
          <a:solidFill>
            <a:schemeClr val="tx1">
              <a:lumMod val="75000"/>
              <a:lumOff val="25000"/>
            </a:schemeClr>
          </a:solidFill>
          <a:latin typeface="+mn-lt"/>
          <a:ea typeface="+mn-ea"/>
          <a:cs typeface="+mn-cs"/>
        </a:defRPr>
      </a:lvl5pPr>
      <a:lvl6pPr marL="2514600" indent="-228600" algn="l" defTabSz="457200">
        <a:spcBef>
          <a:spcPts val="1000"/>
        </a:spcBef>
        <a:spcAft>
          <a:spcPts val="0"/>
        </a:spcAft>
        <a:buClr>
          <a:schemeClr val="accent1"/>
        </a:buClr>
        <a:buFont typeface="Wingdings 3"/>
        <a:buChar char=""/>
        <a:defRPr sz="1200">
          <a:solidFill>
            <a:schemeClr val="tx1">
              <a:lumMod val="75000"/>
              <a:lumOff val="25000"/>
            </a:schemeClr>
          </a:solidFill>
          <a:latin typeface="+mn-lt"/>
          <a:ea typeface="+mn-ea"/>
          <a:cs typeface="+mn-cs"/>
        </a:defRPr>
      </a:lvl6pPr>
      <a:lvl7pPr marL="2971800" indent="-228600" algn="l" defTabSz="457200">
        <a:spcBef>
          <a:spcPts val="1000"/>
        </a:spcBef>
        <a:spcAft>
          <a:spcPts val="0"/>
        </a:spcAft>
        <a:buClr>
          <a:schemeClr val="accent1"/>
        </a:buClr>
        <a:buFont typeface="Wingdings 3"/>
        <a:buChar char=""/>
        <a:defRPr sz="1200">
          <a:solidFill>
            <a:schemeClr val="tx1">
              <a:lumMod val="75000"/>
              <a:lumOff val="25000"/>
            </a:schemeClr>
          </a:solidFill>
          <a:latin typeface="+mn-lt"/>
          <a:ea typeface="+mn-ea"/>
          <a:cs typeface="+mn-cs"/>
        </a:defRPr>
      </a:lvl7pPr>
      <a:lvl8pPr marL="3429000" indent="-228600" algn="l" defTabSz="457200">
        <a:spcBef>
          <a:spcPts val="1000"/>
        </a:spcBef>
        <a:spcAft>
          <a:spcPts val="0"/>
        </a:spcAft>
        <a:buClr>
          <a:schemeClr val="accent1"/>
        </a:buClr>
        <a:buFont typeface="Wingdings 3"/>
        <a:buChar char=""/>
        <a:defRPr sz="1200">
          <a:solidFill>
            <a:schemeClr val="tx1">
              <a:lumMod val="75000"/>
              <a:lumOff val="25000"/>
            </a:schemeClr>
          </a:solidFill>
          <a:latin typeface="+mn-lt"/>
          <a:ea typeface="+mn-ea"/>
          <a:cs typeface="+mn-cs"/>
        </a:defRPr>
      </a:lvl8pPr>
      <a:lvl9pPr marL="3886200" indent="-228600" algn="l" defTabSz="457200">
        <a:spcBef>
          <a:spcPts val="1000"/>
        </a:spcBef>
        <a:spcAft>
          <a:spcPts val="0"/>
        </a:spcAft>
        <a:buClr>
          <a:schemeClr val="accent1"/>
        </a:buClr>
        <a:buFont typeface="Wingdings 3"/>
        <a:buChar char=""/>
        <a:defRPr sz="1200">
          <a:solidFill>
            <a:schemeClr val="tx1">
              <a:lumMod val="75000"/>
              <a:lumOff val="25000"/>
            </a:schemeClr>
          </a:solidFill>
          <a:latin typeface="+mn-lt"/>
          <a:ea typeface="+mn-ea"/>
          <a:cs typeface="+mn-cs"/>
        </a:defRPr>
      </a:lvl9pPr>
    </p:bodyStyle>
    <p:other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2.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4.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3.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5.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8.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217.18.63.8/" TargetMode="External"/><Relationship Id="rId4" Type="http://schemas.openxmlformats.org/officeDocument/2006/relationships/image" Target="../media/image19.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 name="TextBox 3"/>
          <p:cNvSpPr txBox="1"/>
          <p:nvPr/>
        </p:nvSpPr>
        <p:spPr bwMode="auto">
          <a:xfrm>
            <a:off x="101600" y="1993751"/>
            <a:ext cx="12192000" cy="830997"/>
          </a:xfrm>
          <a:prstGeom prst="rect">
            <a:avLst/>
          </a:prstGeom>
          <a:noFill/>
        </p:spPr>
        <p:txBody>
          <a:bodyPr wrap="square" rtlCol="0">
            <a:spAutoFit/>
          </a:bodyPr>
          <a:lstStyle/>
          <a:p>
            <a:pPr algn="ctr">
              <a:defRPr/>
            </a:pPr>
            <a:r>
              <a:rPr lang="ru-RU" sz="4800">
                <a:latin typeface="Times New Roman"/>
                <a:cs typeface="Times New Roman"/>
              </a:rPr>
              <a:t>ДИПЛОМНЫЙ ПРОЕКТ</a:t>
            </a:r>
            <a:endParaRPr/>
          </a:p>
        </p:txBody>
      </p:sp>
      <p:sp>
        <p:nvSpPr>
          <p:cNvPr id="5" name="TextBox 4"/>
          <p:cNvSpPr txBox="1"/>
          <p:nvPr/>
        </p:nvSpPr>
        <p:spPr bwMode="auto">
          <a:xfrm>
            <a:off x="2765778" y="3051155"/>
            <a:ext cx="6773333" cy="707886"/>
          </a:xfrm>
          <a:prstGeom prst="rect">
            <a:avLst/>
          </a:prstGeom>
          <a:noFill/>
        </p:spPr>
        <p:txBody>
          <a:bodyPr wrap="square" rtlCol="0">
            <a:spAutoFit/>
          </a:bodyPr>
          <a:lstStyle/>
          <a:p>
            <a:pPr algn="ctr">
              <a:defRPr/>
            </a:pPr>
            <a:r>
              <a:rPr lang="ru-RU" sz="2000">
                <a:solidFill>
                  <a:srgbClr val="000000"/>
                </a:solidFill>
                <a:latin typeface="Times New Roman"/>
                <a:ea typeface="Arial Unicode MS"/>
                <a:cs typeface="Arial Unicode MS"/>
              </a:rPr>
              <a:t>Разработка информационной-аналитической системы для исследования данных скрининга рака молочной железы</a:t>
            </a:r>
            <a:endParaRPr lang="ru-RU" sz="4000">
              <a:latin typeface="Times New Roman"/>
              <a:cs typeface="Times New Roman"/>
            </a:endParaRPr>
          </a:p>
        </p:txBody>
      </p:sp>
      <p:sp>
        <p:nvSpPr>
          <p:cNvPr id="6" name="Rectangle 3" descr="Rectangle: Click to edit Master text styles&#10;Second level&#10;Third level&#10;Fourth level&#10;Fifth level"/>
          <p:cNvSpPr>
            <a:spLocks noChangeArrowheads="1" noGrp="1"/>
          </p:cNvSpPr>
          <p:nvPr>
            <p:ph type="subTitle" idx="1"/>
          </p:nvPr>
        </p:nvSpPr>
        <p:spPr bwMode="auto">
          <a:xfrm>
            <a:off x="4441371" y="5783283"/>
            <a:ext cx="7750629" cy="1074717"/>
          </a:xfrm>
        </p:spPr>
        <p:txBody>
          <a:bodyPr>
            <a:normAutofit/>
          </a:bodyPr>
          <a:lstStyle/>
          <a:p>
            <a:pPr>
              <a:spcBef>
                <a:spcPts val="0"/>
              </a:spcBef>
              <a:defRPr/>
            </a:pPr>
            <a:r>
              <a:rPr lang="ru-RU" sz="2800" b="1">
                <a:latin typeface="Times New Roman"/>
                <a:cs typeface="Times New Roman"/>
              </a:rPr>
              <a:t>Руководитель</a:t>
            </a:r>
            <a:r>
              <a:rPr lang="en-US" sz="2800" b="1">
                <a:latin typeface="Times New Roman"/>
                <a:cs typeface="Times New Roman"/>
              </a:rPr>
              <a:t>:</a:t>
            </a:r>
            <a:r>
              <a:rPr lang="ru-RU" sz="2800" b="1">
                <a:latin typeface="Times New Roman"/>
                <a:cs typeface="Times New Roman"/>
              </a:rPr>
              <a:t> </a:t>
            </a:r>
            <a:r>
              <a:rPr lang="ru-RU" sz="1800" u="sng">
                <a:latin typeface="Times New Roman"/>
                <a:ea typeface="Times New Roman"/>
              </a:rPr>
              <a:t>Гайдукевич Иван Е</a:t>
            </a:r>
            <a:r>
              <a:rPr lang="ru-RU" u="sng">
                <a:latin typeface="Times New Roman"/>
                <a:ea typeface="Times New Roman"/>
              </a:rPr>
              <a:t>вгеньевич</a:t>
            </a:r>
            <a:r>
              <a:rPr lang="ru-RU" sz="1800">
                <a:latin typeface="Times New Roman"/>
                <a:ea typeface="Times New Roman"/>
              </a:rPr>
              <a:t> </a:t>
            </a:r>
            <a:endParaRPr/>
          </a:p>
          <a:p>
            <a:pPr>
              <a:spcBef>
                <a:spcPts val="0"/>
              </a:spcBef>
              <a:defRPr/>
            </a:pPr>
            <a:r>
              <a:rPr lang="ru-RU" sz="2800" b="1">
                <a:latin typeface="Times New Roman"/>
                <a:cs typeface="Times New Roman"/>
              </a:rPr>
              <a:t>Выполнил</a:t>
            </a:r>
            <a:r>
              <a:rPr lang="en-US" sz="2800" b="1">
                <a:latin typeface="Times New Roman"/>
                <a:cs typeface="Times New Roman"/>
              </a:rPr>
              <a:t>:</a:t>
            </a:r>
            <a:r>
              <a:rPr lang="ru-RU" sz="2800" b="1">
                <a:latin typeface="Times New Roman"/>
                <a:cs typeface="Times New Roman"/>
              </a:rPr>
              <a:t> </a:t>
            </a:r>
            <a:r>
              <a:rPr lang="ru-RU" u="sng">
                <a:latin typeface="Times New Roman"/>
                <a:cs typeface="Times New Roman"/>
              </a:rPr>
              <a:t>Повалий Андрей Александрович</a:t>
            </a:r>
            <a:endParaRPr/>
          </a:p>
        </p:txBody>
      </p:sp>
      <p:sp>
        <p:nvSpPr>
          <p:cNvPr id="7" name="TextBox 6"/>
          <p:cNvSpPr txBox="1"/>
          <p:nvPr/>
        </p:nvSpPr>
        <p:spPr bwMode="auto">
          <a:xfrm>
            <a:off x="2148840" y="163027"/>
            <a:ext cx="8097520" cy="2031325"/>
          </a:xfrm>
          <a:prstGeom prst="rect">
            <a:avLst/>
          </a:prstGeom>
          <a:noFill/>
        </p:spPr>
        <p:txBody>
          <a:bodyPr wrap="square" rtlCol="0">
            <a:spAutoFit/>
          </a:bodyPr>
          <a:lstStyle/>
          <a:p>
            <a:pPr algn="ctr">
              <a:defRPr/>
            </a:pPr>
            <a:r>
              <a:rPr lang="ru-RU" b="1">
                <a:latin typeface="Times New Roman"/>
                <a:cs typeface="Times New Roman"/>
              </a:rPr>
              <a:t> </a:t>
            </a:r>
            <a:br>
              <a:rPr lang="ru-RU" b="1">
                <a:latin typeface="Times New Roman"/>
                <a:cs typeface="Times New Roman"/>
              </a:rPr>
            </a:br>
            <a:r>
              <a:rPr lang="ru-RU" b="1">
                <a:latin typeface="Times New Roman"/>
                <a:cs typeface="Times New Roman"/>
              </a:rPr>
              <a:t>НАЦИОНАЛЬНЫЙ ИССЛЕДОВАТЕЛЬСКИЙ УНИВЕРСИТЕТ </a:t>
            </a:r>
            <a:br>
              <a:rPr lang="ru-RU" b="1">
                <a:latin typeface="Times New Roman"/>
                <a:cs typeface="Times New Roman"/>
              </a:rPr>
            </a:br>
            <a:r>
              <a:rPr lang="ru-RU" b="1">
                <a:latin typeface="Times New Roman"/>
                <a:cs typeface="Times New Roman"/>
              </a:rPr>
              <a:t>ИТМО</a:t>
            </a:r>
            <a:endParaRPr lang="ru-RU">
              <a:latin typeface="Times New Roman"/>
              <a:cs typeface="Times New Roman"/>
            </a:endParaRPr>
          </a:p>
          <a:p>
            <a:pPr algn="ctr">
              <a:defRPr/>
            </a:pPr>
            <a:r>
              <a:rPr lang="ru-RU" b="1">
                <a:latin typeface="Times New Roman"/>
                <a:cs typeface="Times New Roman"/>
              </a:rPr>
              <a:t>  </a:t>
            </a:r>
            <a:endParaRPr lang="ru-RU">
              <a:latin typeface="Times New Roman"/>
              <a:cs typeface="Times New Roman"/>
            </a:endParaRPr>
          </a:p>
          <a:p>
            <a:pPr algn="ctr">
              <a:defRPr/>
            </a:pPr>
            <a:r>
              <a:rPr lang="ru-RU" b="1">
                <a:latin typeface="Times New Roman"/>
                <a:cs typeface="Times New Roman"/>
              </a:rPr>
              <a:t>ЦЕНТР АВТОРИЗОВАННОГО ОБУЧЕНИЯ ИНФОРМАЦИОННЫМ ТЕХНОЛОГИЯМ </a:t>
            </a:r>
            <a:endParaRPr lang="ru-RU">
              <a:latin typeface="Times New Roman"/>
              <a:cs typeface="Times New Roman"/>
            </a:endParaRPr>
          </a:p>
          <a:p>
            <a:pPr algn="ctr">
              <a:defRPr/>
            </a:pPr>
            <a:endParaRPr lang="ru-RU">
              <a:latin typeface="Times New Roman"/>
              <a:cs typeface="Times New Roman"/>
            </a:endParaRPr>
          </a:p>
        </p:txBody>
      </p:sp>
      <p:sp>
        <p:nvSpPr>
          <p:cNvPr id="3" name="TextBox 2"/>
          <p:cNvSpPr txBox="1"/>
          <p:nvPr/>
        </p:nvSpPr>
        <p:spPr bwMode="auto">
          <a:xfrm>
            <a:off x="6045200" y="4025076"/>
            <a:ext cx="6146800" cy="458074"/>
          </a:xfrm>
          <a:prstGeom prst="rect">
            <a:avLst/>
          </a:prstGeom>
          <a:noFill/>
        </p:spPr>
        <p:txBody>
          <a:bodyPr wrap="square">
            <a:spAutoFit/>
          </a:bodyPr>
          <a:lstStyle/>
          <a:p>
            <a:pPr>
              <a:lnSpc>
                <a:spcPct val="150000"/>
              </a:lnSpc>
              <a:tabLst>
                <a:tab pos="800100" algn="l"/>
              </a:tabLst>
              <a:defRPr/>
            </a:pPr>
            <a:r>
              <a:rPr lang="ru-RU" sz="1800" b="1">
                <a:solidFill>
                  <a:srgbClr val="000000"/>
                </a:solidFill>
                <a:latin typeface="Times New Roman"/>
                <a:ea typeface="Arial Unicode MS"/>
                <a:cs typeface="Arial Unicode MS"/>
              </a:rPr>
              <a:t>Наименование программы </a:t>
            </a:r>
            <a:r>
              <a:rPr lang="ru-RU" sz="1800" u="sng">
                <a:solidFill>
                  <a:srgbClr val="000000"/>
                </a:solidFill>
                <a:latin typeface="Times New Roman"/>
                <a:ea typeface="Arial Unicode MS"/>
                <a:cs typeface="Arial Unicode MS"/>
              </a:rPr>
              <a:t>«</a:t>
            </a:r>
            <a:r>
              <a:rPr lang="en-US" sz="1800" u="sng">
                <a:solidFill>
                  <a:srgbClr val="000000"/>
                </a:solidFill>
                <a:latin typeface="Times New Roman"/>
                <a:ea typeface="Arial Unicode MS"/>
                <a:cs typeface="Arial Unicode MS"/>
              </a:rPr>
              <a:t>Python</a:t>
            </a:r>
            <a:r>
              <a:rPr lang="ru-RU" sz="1800" u="sng">
                <a:solidFill>
                  <a:srgbClr val="000000"/>
                </a:solidFill>
                <a:latin typeface="Times New Roman"/>
                <a:ea typeface="Arial Unicode MS"/>
                <a:cs typeface="Arial Unicode MS"/>
              </a:rPr>
              <a:t> для анализа данных»</a:t>
            </a:r>
            <a:endParaRPr lang="ru-RU" sz="1800">
              <a:solidFill>
                <a:srgbClr val="000000"/>
              </a:solidFill>
              <a:latin typeface="Times New Roman"/>
              <a:ea typeface="Arial Unicode MS"/>
              <a:cs typeface="Arial Unicode MS"/>
            </a:endParaRPr>
          </a:p>
        </p:txBody>
      </p:sp>
      <p:sp>
        <p:nvSpPr>
          <p:cNvPr id="9" name="TextBox 8"/>
          <p:cNvSpPr txBox="1"/>
          <p:nvPr/>
        </p:nvSpPr>
        <p:spPr bwMode="auto">
          <a:xfrm>
            <a:off x="6096000" y="4556975"/>
            <a:ext cx="6146800" cy="369332"/>
          </a:xfrm>
          <a:prstGeom prst="rect">
            <a:avLst/>
          </a:prstGeom>
          <a:noFill/>
        </p:spPr>
        <p:txBody>
          <a:bodyPr wrap="square">
            <a:spAutoFit/>
          </a:bodyPr>
          <a:lstStyle/>
          <a:p>
            <a:pPr>
              <a:defRPr/>
            </a:pPr>
            <a:r>
              <a:rPr lang="ru-RU" sz="1800" b="1">
                <a:solidFill>
                  <a:srgbClr val="000000"/>
                </a:solidFill>
                <a:latin typeface="Times New Roman"/>
                <a:ea typeface="Arial Unicode MS"/>
                <a:cs typeface="Arial Unicode MS"/>
              </a:rPr>
              <a:t>Группа </a:t>
            </a:r>
            <a:r>
              <a:rPr lang="ru-RU" sz="1800" b="1" u="sng">
                <a:solidFill>
                  <a:srgbClr val="000000"/>
                </a:solidFill>
                <a:latin typeface="Times New Roman"/>
                <a:ea typeface="Arial Unicode MS"/>
                <a:cs typeface="Arial Unicode MS"/>
              </a:rPr>
              <a:t>124/14</a:t>
            </a:r>
            <a:r>
              <a:rPr lang="ru-RU"/>
              <a:t> </a:t>
            </a: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 name="Прямоугольник 3"/>
          <p:cNvSpPr/>
          <p:nvPr/>
        </p:nvSpPr>
        <p:spPr bwMode="auto">
          <a:xfrm>
            <a:off x="11625542" y="6009538"/>
            <a:ext cx="389850" cy="584775"/>
          </a:xfrm>
          <a:prstGeom prst="rect">
            <a:avLst/>
          </a:prstGeom>
        </p:spPr>
        <p:txBody>
          <a:bodyPr wrap="none">
            <a:spAutoFit/>
          </a:bodyPr>
          <a:lstStyle/>
          <a:p>
            <a:pPr>
              <a:defRPr/>
            </a:pPr>
            <a:r>
              <a:rPr lang="ru-RU" sz="3200">
                <a:latin typeface="Times New Roman"/>
                <a:cs typeface="Times New Roman"/>
              </a:rPr>
              <a:t>2</a:t>
            </a:r>
            <a:endParaRPr lang="ru-RU" sz="3200"/>
          </a:p>
        </p:txBody>
      </p:sp>
      <p:pic>
        <p:nvPicPr>
          <p:cNvPr id="1030" name="Picture 6" descr="Early Detection Of Breast Cancer Saves Lives"/>
          <p:cNvPicPr>
            <a:picLocks noChangeAspect="1" noChangeArrowheads="1"/>
          </p:cNvPicPr>
          <p:nvPr/>
        </p:nvPicPr>
        <p:blipFill>
          <a:blip r:embed="rId3"/>
          <a:stretch/>
        </p:blipFill>
        <p:spPr bwMode="auto">
          <a:xfrm>
            <a:off x="434270" y="2057400"/>
            <a:ext cx="5423701" cy="3403601"/>
          </a:xfrm>
          <a:prstGeom prst="rect">
            <a:avLst/>
          </a:prstGeom>
          <a:noFill/>
        </p:spPr>
      </p:pic>
      <p:pic>
        <p:nvPicPr>
          <p:cNvPr id="7" name="Рисунок 6"/>
          <p:cNvPicPr>
            <a:picLocks noChangeAspect="1"/>
          </p:cNvPicPr>
          <p:nvPr/>
        </p:nvPicPr>
        <p:blipFill>
          <a:blip r:embed="rId4"/>
          <a:stretch/>
        </p:blipFill>
        <p:spPr bwMode="auto">
          <a:xfrm>
            <a:off x="6159749" y="2346783"/>
            <a:ext cx="5597981" cy="2930071"/>
          </a:xfrm>
          <a:prstGeom prst="rect">
            <a:avLst/>
          </a:prstGeom>
        </p:spPr>
      </p:pic>
      <p:sp>
        <p:nvSpPr>
          <p:cNvPr id="6" name="Rectangle 4"/>
          <p:cNvSpPr>
            <a:spLocks noChangeArrowheads="1"/>
          </p:cNvSpPr>
          <p:nvPr/>
        </p:nvSpPr>
        <p:spPr bwMode="auto">
          <a:xfrm>
            <a:off x="1662037" y="374693"/>
            <a:ext cx="7436651" cy="646331"/>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ru-RU" sz="3600" b="1">
                <a:solidFill>
                  <a:schemeClr val="tx2"/>
                </a:solidFill>
                <a:latin typeface="+mn-lt"/>
              </a:rPr>
              <a:t>Проблематика и актуальность</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 name="Прямоугольник 3"/>
          <p:cNvSpPr/>
          <p:nvPr/>
        </p:nvSpPr>
        <p:spPr bwMode="auto">
          <a:xfrm>
            <a:off x="11625542" y="6009538"/>
            <a:ext cx="389850" cy="584775"/>
          </a:xfrm>
          <a:prstGeom prst="rect">
            <a:avLst/>
          </a:prstGeom>
        </p:spPr>
        <p:txBody>
          <a:bodyPr wrap="none">
            <a:spAutoFit/>
          </a:bodyPr>
          <a:lstStyle/>
          <a:p>
            <a:pPr>
              <a:defRPr/>
            </a:pPr>
            <a:r>
              <a:rPr lang="ru-RU" sz="3200">
                <a:latin typeface="Times New Roman"/>
                <a:cs typeface="Times New Roman"/>
              </a:rPr>
              <a:t>2</a:t>
            </a:r>
            <a:endParaRPr lang="ru-RU" sz="3200"/>
          </a:p>
        </p:txBody>
      </p:sp>
      <p:sp>
        <p:nvSpPr>
          <p:cNvPr id="5" name="TextBox 4"/>
          <p:cNvSpPr txBox="1"/>
          <p:nvPr/>
        </p:nvSpPr>
        <p:spPr bwMode="auto">
          <a:xfrm>
            <a:off x="665775" y="1192280"/>
            <a:ext cx="4031569" cy="646331"/>
          </a:xfrm>
          <a:prstGeom prst="rect">
            <a:avLst/>
          </a:prstGeom>
          <a:noFill/>
        </p:spPr>
        <p:txBody>
          <a:bodyPr wrap="square">
            <a:spAutoFit/>
          </a:bodyPr>
          <a:lstStyle/>
          <a:p>
            <a:pPr>
              <a:defRPr/>
            </a:pPr>
            <a:r>
              <a:rPr lang="ru-RU" sz="1800" b="1">
                <a:latin typeface="+mj-lt"/>
                <a:ea typeface="Calibri"/>
                <a:cs typeface="Times New Roman"/>
              </a:rPr>
              <a:t>Ультразвуковое исследование</a:t>
            </a:r>
            <a:r>
              <a:rPr lang="en-US" sz="1800" b="1">
                <a:latin typeface="+mj-lt"/>
                <a:ea typeface="Calibri"/>
                <a:cs typeface="Times New Roman"/>
              </a:rPr>
              <a:t> (2D </a:t>
            </a:r>
            <a:r>
              <a:rPr lang="ru-RU" sz="1800" b="1">
                <a:latin typeface="+mj-lt"/>
                <a:ea typeface="Calibri"/>
                <a:cs typeface="Times New Roman"/>
              </a:rPr>
              <a:t>УЗИ</a:t>
            </a:r>
            <a:r>
              <a:rPr lang="en-US" sz="1800" b="1">
                <a:latin typeface="+mj-lt"/>
                <a:ea typeface="Calibri"/>
                <a:cs typeface="Times New Roman"/>
              </a:rPr>
              <a:t>)</a:t>
            </a:r>
            <a:endParaRPr lang="ru-RU"/>
          </a:p>
        </p:txBody>
      </p:sp>
      <p:pic>
        <p:nvPicPr>
          <p:cNvPr id="6" name="Рисунок 5"/>
          <p:cNvPicPr>
            <a:picLocks noChangeAspect="1"/>
          </p:cNvPicPr>
          <p:nvPr/>
        </p:nvPicPr>
        <p:blipFill>
          <a:blip r:embed="rId3"/>
          <a:stretch/>
        </p:blipFill>
        <p:spPr bwMode="auto">
          <a:xfrm rot="5400000">
            <a:off x="131949" y="2377055"/>
            <a:ext cx="4271372" cy="3203718"/>
          </a:xfrm>
          <a:prstGeom prst="rect">
            <a:avLst/>
          </a:prstGeom>
        </p:spPr>
      </p:pic>
      <p:pic>
        <p:nvPicPr>
          <p:cNvPr id="9" name="Рисунок 8"/>
          <p:cNvPicPr>
            <a:picLocks noChangeAspect="1"/>
          </p:cNvPicPr>
          <p:nvPr/>
        </p:nvPicPr>
        <p:blipFill>
          <a:blip r:embed="rId4"/>
          <a:stretch/>
        </p:blipFill>
        <p:spPr bwMode="auto">
          <a:xfrm>
            <a:off x="4216151" y="2139032"/>
            <a:ext cx="4303606" cy="3896725"/>
          </a:xfrm>
          <a:prstGeom prst="rect">
            <a:avLst/>
          </a:prstGeom>
        </p:spPr>
      </p:pic>
      <p:sp>
        <p:nvSpPr>
          <p:cNvPr id="11" name="TextBox 10"/>
          <p:cNvSpPr txBox="1"/>
          <p:nvPr/>
        </p:nvSpPr>
        <p:spPr bwMode="auto">
          <a:xfrm>
            <a:off x="4441213" y="1321445"/>
            <a:ext cx="4425201" cy="923330"/>
          </a:xfrm>
          <a:prstGeom prst="rect">
            <a:avLst/>
          </a:prstGeom>
          <a:noFill/>
        </p:spPr>
        <p:txBody>
          <a:bodyPr wrap="square">
            <a:spAutoFit/>
          </a:bodyPr>
          <a:lstStyle/>
          <a:p>
            <a:pPr>
              <a:defRPr/>
            </a:pPr>
            <a:r>
              <a:rPr lang="ru-RU" sz="1800" b="1">
                <a:solidFill>
                  <a:schemeClr val="tx1"/>
                </a:solidFill>
                <a:latin typeface="+mj-lt"/>
                <a:ea typeface="Calibri"/>
              </a:rPr>
              <a:t>Автоматизированное объемное ультразвуковое сканирование (3D УЗИ</a:t>
            </a:r>
            <a:endParaRPr lang="ru-RU"/>
          </a:p>
        </p:txBody>
      </p:sp>
      <p:pic>
        <p:nvPicPr>
          <p:cNvPr id="12" name="Picture 11"/>
          <p:cNvPicPr>
            <a:picLocks noChangeAspect="1" noGrp="1"/>
          </p:cNvPicPr>
          <p:nvPr>
            <p:ph idx="1"/>
          </p:nvPr>
        </p:nvPicPr>
        <p:blipFill>
          <a:blip r:embed="rId5"/>
          <a:stretch/>
        </p:blipFill>
        <p:spPr bwMode="auto">
          <a:xfrm>
            <a:off x="8769853" y="1955795"/>
            <a:ext cx="3245539" cy="3237524"/>
          </a:xfrm>
          <a:prstGeom prst="rect">
            <a:avLst/>
          </a:prstGeom>
        </p:spPr>
      </p:pic>
      <p:sp>
        <p:nvSpPr>
          <p:cNvPr id="13" name="Прямоугольник 12"/>
          <p:cNvSpPr/>
          <p:nvPr/>
        </p:nvSpPr>
        <p:spPr bwMode="auto">
          <a:xfrm>
            <a:off x="8866413" y="1375578"/>
            <a:ext cx="3412545" cy="461665"/>
          </a:xfrm>
          <a:prstGeom prst="rect">
            <a:avLst/>
          </a:prstGeom>
        </p:spPr>
        <p:txBody>
          <a:bodyPr wrap="square">
            <a:spAutoFit/>
          </a:bodyPr>
          <a:lstStyle/>
          <a:p>
            <a:pPr>
              <a:defRPr/>
            </a:pPr>
            <a:r>
              <a:rPr lang="ru-RU" sz="2400">
                <a:ea typeface="Calibri"/>
                <a:cs typeface="Times New Roman"/>
              </a:rPr>
              <a:t>Маммография</a:t>
            </a:r>
            <a:endParaRPr lang="ru-RU" sz="2400"/>
          </a:p>
        </p:txBody>
      </p:sp>
      <p:sp>
        <p:nvSpPr>
          <p:cNvPr id="8" name="Rectangle 4"/>
          <p:cNvSpPr>
            <a:spLocks noChangeArrowheads="1"/>
          </p:cNvSpPr>
          <p:nvPr/>
        </p:nvSpPr>
        <p:spPr bwMode="auto">
          <a:xfrm>
            <a:off x="1662037" y="374693"/>
            <a:ext cx="7436651" cy="646331"/>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ru-RU" sz="3600" b="1">
                <a:solidFill>
                  <a:schemeClr val="tx2"/>
                </a:solidFill>
                <a:latin typeface="+mn-lt"/>
              </a:rPr>
              <a:t>Проблематика и актуальность</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Rectangle 4"/>
          <p:cNvSpPr>
            <a:spLocks noChangeArrowheads="1"/>
          </p:cNvSpPr>
          <p:nvPr/>
        </p:nvSpPr>
        <p:spPr bwMode="auto">
          <a:xfrm>
            <a:off x="1613051" y="586964"/>
            <a:ext cx="7436651" cy="646331"/>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ru-RU" sz="3600" b="1">
                <a:solidFill>
                  <a:schemeClr val="tx2"/>
                </a:solidFill>
                <a:latin typeface="+mn-lt"/>
              </a:rPr>
              <a:t>Проблематика и актуальность</a:t>
            </a:r>
            <a:endParaRPr/>
          </a:p>
        </p:txBody>
      </p:sp>
      <p:sp>
        <p:nvSpPr>
          <p:cNvPr id="3" name="Овал 2"/>
          <p:cNvSpPr/>
          <p:nvPr/>
        </p:nvSpPr>
        <p:spPr bwMode="auto">
          <a:xfrm>
            <a:off x="4580162" y="4344381"/>
            <a:ext cx="2280557" cy="1087202"/>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defRPr/>
            </a:pPr>
            <a:r>
              <a:rPr lang="ru-RU" sz="1800">
                <a:latin typeface="Times New Roman"/>
                <a:ea typeface="Calibri"/>
                <a:cs typeface="Times New Roman"/>
              </a:rPr>
              <a:t>8.08 - 9.16% </a:t>
            </a:r>
            <a:endParaRPr lang="ru-RU"/>
          </a:p>
        </p:txBody>
      </p:sp>
      <p:pic>
        <p:nvPicPr>
          <p:cNvPr id="5" name="Рисунок 4"/>
          <p:cNvPicPr>
            <a:picLocks noChangeAspect="1"/>
          </p:cNvPicPr>
          <p:nvPr/>
        </p:nvPicPr>
        <p:blipFill>
          <a:blip r:embed="rId3"/>
          <a:stretch/>
        </p:blipFill>
        <p:spPr bwMode="auto">
          <a:xfrm rot="5400000">
            <a:off x="164606" y="2785270"/>
            <a:ext cx="4271372" cy="3203718"/>
          </a:xfrm>
          <a:prstGeom prst="rect">
            <a:avLst/>
          </a:prstGeom>
        </p:spPr>
      </p:pic>
      <p:sp>
        <p:nvSpPr>
          <p:cNvPr id="6" name="TextBox 5"/>
          <p:cNvSpPr txBox="1"/>
          <p:nvPr/>
        </p:nvSpPr>
        <p:spPr bwMode="auto">
          <a:xfrm>
            <a:off x="545873" y="1426417"/>
            <a:ext cx="4031569" cy="646331"/>
          </a:xfrm>
          <a:prstGeom prst="rect">
            <a:avLst/>
          </a:prstGeom>
          <a:noFill/>
        </p:spPr>
        <p:txBody>
          <a:bodyPr wrap="square">
            <a:spAutoFit/>
          </a:bodyPr>
          <a:lstStyle/>
          <a:p>
            <a:pPr>
              <a:defRPr/>
            </a:pPr>
            <a:r>
              <a:rPr lang="ru-RU" sz="1800" b="1">
                <a:latin typeface="+mj-lt"/>
                <a:ea typeface="Calibri"/>
                <a:cs typeface="Times New Roman"/>
              </a:rPr>
              <a:t>Ультразвуковое исследование</a:t>
            </a:r>
            <a:r>
              <a:rPr lang="en-US" sz="1800" b="1">
                <a:latin typeface="+mj-lt"/>
                <a:ea typeface="Calibri"/>
                <a:cs typeface="Times New Roman"/>
              </a:rPr>
              <a:t> (2D </a:t>
            </a:r>
            <a:r>
              <a:rPr lang="ru-RU" sz="1800" b="1">
                <a:latin typeface="+mj-lt"/>
                <a:ea typeface="Calibri"/>
                <a:cs typeface="Times New Roman"/>
              </a:rPr>
              <a:t>УЗИ</a:t>
            </a:r>
            <a:r>
              <a:rPr lang="en-US" sz="1800" b="1">
                <a:latin typeface="+mj-lt"/>
                <a:ea typeface="Calibri"/>
                <a:cs typeface="Times New Roman"/>
              </a:rPr>
              <a:t>)</a:t>
            </a:r>
            <a:endParaRPr lang="ru-RU"/>
          </a:p>
        </p:txBody>
      </p:sp>
      <p:pic>
        <p:nvPicPr>
          <p:cNvPr id="7" name="Рисунок 6"/>
          <p:cNvPicPr>
            <a:picLocks noChangeAspect="1"/>
          </p:cNvPicPr>
          <p:nvPr/>
        </p:nvPicPr>
        <p:blipFill>
          <a:blip r:embed="rId4"/>
          <a:stretch/>
        </p:blipFill>
        <p:spPr bwMode="auto">
          <a:xfrm>
            <a:off x="7189961" y="2438765"/>
            <a:ext cx="4303606" cy="3896725"/>
          </a:xfrm>
          <a:prstGeom prst="rect">
            <a:avLst/>
          </a:prstGeom>
        </p:spPr>
      </p:pic>
      <p:sp>
        <p:nvSpPr>
          <p:cNvPr id="8" name="TextBox 7"/>
          <p:cNvSpPr txBox="1"/>
          <p:nvPr/>
        </p:nvSpPr>
        <p:spPr bwMode="auto">
          <a:xfrm>
            <a:off x="7068366" y="1287917"/>
            <a:ext cx="4425201" cy="923330"/>
          </a:xfrm>
          <a:prstGeom prst="rect">
            <a:avLst/>
          </a:prstGeom>
          <a:noFill/>
        </p:spPr>
        <p:txBody>
          <a:bodyPr wrap="square">
            <a:spAutoFit/>
          </a:bodyPr>
          <a:lstStyle/>
          <a:p>
            <a:pPr>
              <a:defRPr/>
            </a:pPr>
            <a:r>
              <a:rPr lang="ru-RU" sz="1800" b="1">
                <a:solidFill>
                  <a:schemeClr val="tx1"/>
                </a:solidFill>
                <a:latin typeface="+mj-lt"/>
                <a:ea typeface="Calibri"/>
              </a:rPr>
              <a:t>Автоматизированное объемное ультразвуковое сканирование (3D УЗИ</a:t>
            </a:r>
            <a:endParaRPr lang="ru-RU"/>
          </a:p>
        </p:txBody>
      </p:sp>
      <p:sp>
        <p:nvSpPr>
          <p:cNvPr id="10" name="Овал 9"/>
          <p:cNvSpPr/>
          <p:nvPr/>
        </p:nvSpPr>
        <p:spPr bwMode="auto">
          <a:xfrm>
            <a:off x="4577442" y="1426417"/>
            <a:ext cx="2280557" cy="1087202"/>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defRPr/>
            </a:pPr>
            <a:r>
              <a:rPr lang="ru-RU">
                <a:latin typeface="Times New Roman"/>
                <a:cs typeface="Times New Roman"/>
              </a:rPr>
              <a:t>2794</a:t>
            </a:r>
            <a:endParaRPr lang="ru-RU"/>
          </a:p>
        </p:txBody>
      </p:sp>
      <p:sp>
        <p:nvSpPr>
          <p:cNvPr id="11" name="Стрелка вниз 10"/>
          <p:cNvSpPr/>
          <p:nvPr/>
        </p:nvSpPr>
        <p:spPr bwMode="auto">
          <a:xfrm>
            <a:off x="5331376" y="2808514"/>
            <a:ext cx="764624" cy="1143000"/>
          </a:xfrm>
          <a:prstGeom prst="downArrow">
            <a:avLst>
              <a:gd name="adj1" fmla="val 5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5" name="TextBox 4"/>
          <p:cNvSpPr txBox="1"/>
          <p:nvPr/>
        </p:nvSpPr>
        <p:spPr bwMode="auto">
          <a:xfrm>
            <a:off x="814685" y="2226854"/>
            <a:ext cx="11003280" cy="1823576"/>
          </a:xfrm>
          <a:prstGeom prst="rect">
            <a:avLst/>
          </a:prstGeom>
          <a:noFill/>
        </p:spPr>
        <p:txBody>
          <a:bodyPr wrap="square" rtlCol="0">
            <a:spAutoFit/>
          </a:bodyPr>
          <a:lstStyle/>
          <a:p>
            <a:pPr indent="270510" algn="just">
              <a:lnSpc>
                <a:spcPct val="150000"/>
              </a:lnSpc>
              <a:spcBef>
                <a:spcPts val="900"/>
              </a:spcBef>
              <a:spcAft>
                <a:spcPts val="900"/>
              </a:spcAft>
              <a:defRPr/>
            </a:pPr>
            <a:r>
              <a:rPr lang="ru-RU" sz="1800">
                <a:ea typeface="Calibri"/>
                <a:cs typeface="Times New Roman"/>
              </a:rPr>
              <a:t>Необходимо разработать информационно-аналитическую систему (интерактивный </a:t>
            </a:r>
            <a:r>
              <a:rPr lang="ru-RU" sz="1800">
                <a:ea typeface="Calibri"/>
                <a:cs typeface="Times New Roman"/>
              </a:rPr>
              <a:t>дашборд</a:t>
            </a:r>
            <a:r>
              <a:rPr lang="ru-RU" sz="1800">
                <a:ea typeface="Calibri"/>
                <a:cs typeface="Times New Roman"/>
              </a:rPr>
              <a:t>), позволяющий пользователям получать доступ к результатам исследований рака молочной железы.</a:t>
            </a:r>
            <a:endParaRPr/>
          </a:p>
          <a:p>
            <a:pPr algn="just">
              <a:defRPr/>
            </a:pPr>
            <a:endParaRPr lang="ru-RU" sz="2400">
              <a:cs typeface="Times New Roman"/>
            </a:endParaRPr>
          </a:p>
        </p:txBody>
      </p:sp>
      <p:sp>
        <p:nvSpPr>
          <p:cNvPr id="6" name="TextBox 5"/>
          <p:cNvSpPr txBox="1"/>
          <p:nvPr/>
        </p:nvSpPr>
        <p:spPr bwMode="auto">
          <a:xfrm>
            <a:off x="11623040" y="6041727"/>
            <a:ext cx="389850" cy="584775"/>
          </a:xfrm>
          <a:prstGeom prst="rect">
            <a:avLst/>
          </a:prstGeom>
          <a:noFill/>
        </p:spPr>
        <p:txBody>
          <a:bodyPr wrap="none" rtlCol="0">
            <a:spAutoFit/>
          </a:bodyPr>
          <a:lstStyle/>
          <a:p>
            <a:pPr>
              <a:defRPr/>
            </a:pPr>
            <a:r>
              <a:rPr lang="ru-RU" sz="3200">
                <a:latin typeface="Times New Roman"/>
                <a:cs typeface="Times New Roman"/>
              </a:rPr>
              <a:t>3</a:t>
            </a:r>
            <a:endParaRPr/>
          </a:p>
        </p:txBody>
      </p:sp>
      <p:sp>
        <p:nvSpPr>
          <p:cNvPr id="2" name="Rectangle 4"/>
          <p:cNvSpPr>
            <a:spLocks noChangeArrowheads="1"/>
          </p:cNvSpPr>
          <p:nvPr/>
        </p:nvSpPr>
        <p:spPr bwMode="auto">
          <a:xfrm>
            <a:off x="2057578" y="531325"/>
            <a:ext cx="1313180" cy="646331"/>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ru-RU" sz="3600" b="1">
                <a:solidFill>
                  <a:schemeClr val="tx2"/>
                </a:solidFill>
                <a:latin typeface="+mn-lt"/>
              </a:rPr>
              <a:t>Цель</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3" name="TextBox 2"/>
          <p:cNvSpPr txBox="1"/>
          <p:nvPr/>
        </p:nvSpPr>
        <p:spPr bwMode="auto">
          <a:xfrm>
            <a:off x="1469571" y="900070"/>
            <a:ext cx="9829800" cy="4662880"/>
          </a:xfrm>
          <a:prstGeom prst="rect">
            <a:avLst/>
          </a:prstGeom>
          <a:noFill/>
        </p:spPr>
        <p:txBody>
          <a:bodyPr wrap="square">
            <a:spAutoFit/>
          </a:bodyPr>
          <a:lstStyle/>
          <a:p>
            <a:pPr marL="342900" lvl="0" indent="-342900" algn="just">
              <a:lnSpc>
                <a:spcPct val="150000"/>
              </a:lnSpc>
              <a:spcBef>
                <a:spcPts val="180"/>
              </a:spcBef>
              <a:spcAft>
                <a:spcPts val="180"/>
              </a:spcAft>
              <a:buFont typeface="+mj-lt"/>
              <a:buAutoNum type="arabicPeriod"/>
              <a:defRPr/>
            </a:pPr>
            <a:r>
              <a:rPr lang="ru-RU" sz="1400">
                <a:ea typeface="Calibri"/>
                <a:cs typeface="Times New Roman"/>
              </a:rPr>
              <a:t>Провести сбор и обработку данных.</a:t>
            </a:r>
            <a:endParaRPr/>
          </a:p>
          <a:p>
            <a:pPr marL="342900" lvl="0" indent="-342900" algn="just">
              <a:lnSpc>
                <a:spcPct val="150000"/>
              </a:lnSpc>
              <a:spcBef>
                <a:spcPts val="180"/>
              </a:spcBef>
              <a:spcAft>
                <a:spcPts val="180"/>
              </a:spcAft>
              <a:buFont typeface="+mj-lt"/>
              <a:buAutoNum type="arabicPeriod"/>
              <a:defRPr/>
            </a:pPr>
            <a:r>
              <a:rPr lang="ru-RU" sz="1400">
                <a:ea typeface="Calibri"/>
                <a:cs typeface="Times New Roman"/>
              </a:rPr>
              <a:t>Провести исследовательский анализ данных для выявления тенденций, распределений и аномалий.</a:t>
            </a:r>
            <a:endParaRPr/>
          </a:p>
          <a:p>
            <a:pPr marL="342900" lvl="0" indent="-342900" algn="just">
              <a:lnSpc>
                <a:spcPct val="150000"/>
              </a:lnSpc>
              <a:spcBef>
                <a:spcPts val="180"/>
              </a:spcBef>
              <a:spcAft>
                <a:spcPts val="180"/>
              </a:spcAft>
              <a:buFont typeface="+mj-lt"/>
              <a:buAutoNum type="arabicPeriod"/>
              <a:defRPr/>
            </a:pPr>
            <a:r>
              <a:rPr lang="ru-RU" sz="1400">
                <a:ea typeface="Calibri"/>
                <a:cs typeface="Times New Roman"/>
              </a:rPr>
              <a:t>Использовать методы статистического анализа и машинного обучения для определения взаимосвязей между потенциальными факторами маршрутизации пациента.</a:t>
            </a:r>
            <a:endParaRPr/>
          </a:p>
          <a:p>
            <a:pPr marL="342900" lvl="0" indent="-342900" algn="just">
              <a:lnSpc>
                <a:spcPct val="150000"/>
              </a:lnSpc>
              <a:spcBef>
                <a:spcPts val="180"/>
              </a:spcBef>
              <a:spcAft>
                <a:spcPts val="180"/>
              </a:spcAft>
              <a:buFont typeface="+mj-lt"/>
              <a:buAutoNum type="arabicPeriod"/>
              <a:defRPr/>
            </a:pPr>
            <a:r>
              <a:rPr lang="ru-RU" sz="1400">
                <a:ea typeface="Calibri"/>
                <a:cs typeface="Times New Roman"/>
              </a:rPr>
              <a:t>Подготовить результаты анализа в виде блокнота </a:t>
            </a:r>
            <a:r>
              <a:rPr lang="en-US" sz="1400">
                <a:ea typeface="Calibri"/>
                <a:cs typeface="Times New Roman"/>
              </a:rPr>
              <a:t>Jupyter</a:t>
            </a:r>
            <a:r>
              <a:rPr lang="en-US" sz="1400">
                <a:ea typeface="Calibri"/>
                <a:cs typeface="Times New Roman"/>
              </a:rPr>
              <a:t> Notebook</a:t>
            </a:r>
            <a:r>
              <a:rPr lang="ru-RU" sz="1400">
                <a:ea typeface="Calibri"/>
                <a:cs typeface="Times New Roman"/>
              </a:rPr>
              <a:t>.</a:t>
            </a:r>
            <a:endParaRPr/>
          </a:p>
          <a:p>
            <a:pPr marL="342900" lvl="0" indent="-342900" algn="just">
              <a:lnSpc>
                <a:spcPct val="150000"/>
              </a:lnSpc>
              <a:spcBef>
                <a:spcPts val="180"/>
              </a:spcBef>
              <a:spcAft>
                <a:spcPts val="180"/>
              </a:spcAft>
              <a:buFont typeface="+mj-lt"/>
              <a:buAutoNum type="arabicPeriod"/>
              <a:defRPr/>
            </a:pPr>
            <a:r>
              <a:rPr lang="ru-RU" sz="1400">
                <a:ea typeface="Calibri"/>
                <a:cs typeface="Times New Roman"/>
              </a:rPr>
              <a:t>Разработать интерактивный </a:t>
            </a:r>
            <a:r>
              <a:rPr lang="ru-RU" sz="1400">
                <a:ea typeface="Calibri"/>
                <a:cs typeface="Times New Roman"/>
              </a:rPr>
              <a:t>дашборд</a:t>
            </a:r>
            <a:r>
              <a:rPr lang="ru-RU" sz="1400">
                <a:ea typeface="Calibri"/>
                <a:cs typeface="Times New Roman"/>
              </a:rPr>
              <a:t> для представления результатов исследования средствами </a:t>
            </a:r>
            <a:r>
              <a:rPr lang="en-US" sz="1400">
                <a:ea typeface="Calibri"/>
                <a:cs typeface="Times New Roman"/>
              </a:rPr>
              <a:t>Python</a:t>
            </a:r>
            <a:r>
              <a:rPr lang="ru-RU" sz="1400">
                <a:ea typeface="Calibri"/>
                <a:cs typeface="Times New Roman"/>
              </a:rPr>
              <a:t> библиотек (</a:t>
            </a:r>
            <a:r>
              <a:rPr lang="en-US" sz="1400">
                <a:ea typeface="Calibri"/>
                <a:cs typeface="Times New Roman"/>
              </a:rPr>
              <a:t>Pandas</a:t>
            </a:r>
            <a:r>
              <a:rPr lang="ru-RU" sz="1400">
                <a:ea typeface="Calibri"/>
                <a:cs typeface="Times New Roman"/>
              </a:rPr>
              <a:t>, </a:t>
            </a:r>
            <a:r>
              <a:rPr lang="en-US" sz="1400">
                <a:ea typeface="Calibri"/>
                <a:cs typeface="Times New Roman"/>
              </a:rPr>
              <a:t>Numpy</a:t>
            </a:r>
            <a:r>
              <a:rPr lang="ru-RU" sz="1400">
                <a:ea typeface="Calibri"/>
                <a:cs typeface="Times New Roman"/>
              </a:rPr>
              <a:t>, </a:t>
            </a:r>
            <a:r>
              <a:rPr lang="en-US" sz="1400">
                <a:ea typeface="Calibri"/>
                <a:cs typeface="Times New Roman"/>
              </a:rPr>
              <a:t>Matplotlib</a:t>
            </a:r>
            <a:r>
              <a:rPr lang="ru-RU" sz="1400">
                <a:ea typeface="Calibri"/>
                <a:cs typeface="Times New Roman"/>
              </a:rPr>
              <a:t>, </a:t>
            </a:r>
            <a:r>
              <a:rPr lang="en-US" sz="1400">
                <a:ea typeface="Calibri"/>
                <a:cs typeface="Times New Roman"/>
              </a:rPr>
              <a:t>Seaborn</a:t>
            </a:r>
            <a:r>
              <a:rPr lang="ru-RU" sz="1400">
                <a:ea typeface="Calibri"/>
                <a:cs typeface="Times New Roman"/>
              </a:rPr>
              <a:t>, </a:t>
            </a:r>
            <a:r>
              <a:rPr lang="en-US" sz="1400">
                <a:ea typeface="Calibri"/>
                <a:cs typeface="Times New Roman"/>
              </a:rPr>
              <a:t>Skikit</a:t>
            </a:r>
            <a:r>
              <a:rPr lang="ru-RU" sz="1400">
                <a:ea typeface="Calibri"/>
                <a:cs typeface="Times New Roman"/>
              </a:rPr>
              <a:t>-</a:t>
            </a:r>
            <a:r>
              <a:rPr lang="en-US" sz="1400">
                <a:ea typeface="Calibri"/>
                <a:cs typeface="Times New Roman"/>
              </a:rPr>
              <a:t>Learn</a:t>
            </a:r>
            <a:r>
              <a:rPr lang="ru-RU" sz="1400">
                <a:ea typeface="Calibri"/>
                <a:cs typeface="Times New Roman"/>
              </a:rPr>
              <a:t>, </a:t>
            </a:r>
            <a:r>
              <a:rPr lang="en-US" sz="1400">
                <a:ea typeface="Calibri"/>
                <a:cs typeface="Times New Roman"/>
              </a:rPr>
              <a:t>Statsmodels</a:t>
            </a:r>
            <a:r>
              <a:rPr lang="ru-RU" sz="1400">
                <a:ea typeface="Calibri"/>
                <a:cs typeface="Times New Roman"/>
              </a:rPr>
              <a:t>, </a:t>
            </a:r>
            <a:r>
              <a:rPr lang="en-US" sz="1400">
                <a:ea typeface="Calibri"/>
                <a:cs typeface="Times New Roman"/>
              </a:rPr>
              <a:t>Plotly</a:t>
            </a:r>
            <a:r>
              <a:rPr lang="ru-RU" sz="1400">
                <a:ea typeface="Calibri"/>
                <a:cs typeface="Times New Roman"/>
              </a:rPr>
              <a:t>, </a:t>
            </a:r>
            <a:r>
              <a:rPr lang="en-US" sz="1400">
                <a:ea typeface="Calibri"/>
                <a:cs typeface="Times New Roman"/>
              </a:rPr>
              <a:t>Dash</a:t>
            </a:r>
            <a:r>
              <a:rPr lang="ru-RU" sz="1400">
                <a:ea typeface="Calibri"/>
                <a:cs typeface="Times New Roman"/>
              </a:rPr>
              <a:t> и другими).</a:t>
            </a:r>
            <a:endParaRPr/>
          </a:p>
          <a:p>
            <a:pPr marL="342900" lvl="0" indent="-342900" algn="just">
              <a:lnSpc>
                <a:spcPct val="150000"/>
              </a:lnSpc>
              <a:spcBef>
                <a:spcPts val="180"/>
              </a:spcBef>
              <a:spcAft>
                <a:spcPts val="180"/>
              </a:spcAft>
              <a:buFont typeface="+mj-lt"/>
              <a:buAutoNum type="arabicPeriod"/>
              <a:defRPr/>
            </a:pPr>
            <a:r>
              <a:rPr lang="ru-RU" sz="1400">
                <a:ea typeface="Calibri"/>
                <a:cs typeface="Times New Roman"/>
              </a:rPr>
              <a:t>Разработать модель машинного обучения, способную определять с минимальной погрешностью маршрутизацию пациента.</a:t>
            </a:r>
            <a:endParaRPr/>
          </a:p>
          <a:p>
            <a:pPr marL="342900" lvl="0" indent="-342900" algn="just">
              <a:lnSpc>
                <a:spcPct val="150000"/>
              </a:lnSpc>
              <a:spcBef>
                <a:spcPts val="180"/>
              </a:spcBef>
              <a:spcAft>
                <a:spcPts val="180"/>
              </a:spcAft>
              <a:buFont typeface="+mj-lt"/>
              <a:buAutoNum type="arabicPeriod"/>
              <a:defRPr/>
            </a:pPr>
            <a:r>
              <a:rPr lang="ru-RU" sz="1400">
                <a:ea typeface="Calibri"/>
                <a:cs typeface="Times New Roman"/>
              </a:rPr>
              <a:t>Интегрировать модель машинного обучения в приложение.</a:t>
            </a:r>
            <a:endParaRPr/>
          </a:p>
          <a:p>
            <a:pPr marL="342900" lvl="0" indent="-342900" algn="just">
              <a:lnSpc>
                <a:spcPct val="150000"/>
              </a:lnSpc>
              <a:spcBef>
                <a:spcPts val="180"/>
              </a:spcBef>
              <a:spcAft>
                <a:spcPts val="180"/>
              </a:spcAft>
              <a:buFont typeface="+mj-lt"/>
              <a:buAutoNum type="arabicPeriod"/>
              <a:defRPr/>
            </a:pPr>
            <a:r>
              <a:rPr lang="ru-RU" sz="1400">
                <a:ea typeface="Calibri"/>
                <a:cs typeface="Times New Roman"/>
              </a:rPr>
              <a:t>Разработать интерактивную форму (как часть информационно-аналитической системы), для использования предсказательной модели машинного обучения.</a:t>
            </a:r>
            <a:endParaRPr/>
          </a:p>
          <a:p>
            <a:pPr marL="342900" lvl="0" indent="-342900" algn="just">
              <a:lnSpc>
                <a:spcPct val="150000"/>
              </a:lnSpc>
              <a:spcBef>
                <a:spcPts val="180"/>
              </a:spcBef>
              <a:spcAft>
                <a:spcPts val="180"/>
              </a:spcAft>
              <a:buFont typeface="+mj-lt"/>
              <a:buAutoNum type="arabicPeriod"/>
              <a:defRPr/>
            </a:pPr>
            <a:r>
              <a:rPr lang="ru-RU" sz="1400">
                <a:ea typeface="Calibri"/>
                <a:cs typeface="Times New Roman"/>
              </a:rPr>
              <a:t>Развернуть приложение в облачном сервисе.</a:t>
            </a:r>
            <a:endParaRPr/>
          </a:p>
        </p:txBody>
      </p:sp>
      <p:sp>
        <p:nvSpPr>
          <p:cNvPr id="4" name="Rectangle 4"/>
          <p:cNvSpPr>
            <a:spLocks noChangeArrowheads="1"/>
          </p:cNvSpPr>
          <p:nvPr/>
        </p:nvSpPr>
        <p:spPr bwMode="auto">
          <a:xfrm>
            <a:off x="2413867" y="253739"/>
            <a:ext cx="1874231" cy="646331"/>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ru-RU" sz="3600" b="1">
                <a:solidFill>
                  <a:schemeClr val="tx2"/>
                </a:solidFill>
                <a:latin typeface="+mn-lt"/>
              </a:rPr>
              <a:t>Задачи</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 name="TextBox 3"/>
          <p:cNvSpPr txBox="1"/>
          <p:nvPr/>
        </p:nvSpPr>
        <p:spPr bwMode="auto">
          <a:xfrm>
            <a:off x="11623040" y="6041727"/>
            <a:ext cx="389850" cy="584775"/>
          </a:xfrm>
          <a:prstGeom prst="rect">
            <a:avLst/>
          </a:prstGeom>
          <a:noFill/>
        </p:spPr>
        <p:txBody>
          <a:bodyPr wrap="none" rtlCol="0">
            <a:spAutoFit/>
          </a:bodyPr>
          <a:lstStyle/>
          <a:p>
            <a:pPr>
              <a:defRPr/>
            </a:pPr>
            <a:r>
              <a:rPr lang="ru-RU" sz="3200">
                <a:latin typeface="Times New Roman"/>
                <a:cs typeface="Times New Roman"/>
              </a:rPr>
              <a:t>4</a:t>
            </a:r>
            <a:endParaRPr/>
          </a:p>
        </p:txBody>
      </p:sp>
      <p:sp>
        <p:nvSpPr>
          <p:cNvPr id="3" name="Объект 2"/>
          <p:cNvSpPr>
            <a:spLocks noGrp="1"/>
          </p:cNvSpPr>
          <p:nvPr>
            <p:ph idx="1"/>
          </p:nvPr>
        </p:nvSpPr>
        <p:spPr bwMode="auto"/>
        <p:txBody>
          <a:bodyPr>
            <a:normAutofit/>
          </a:bodyPr>
          <a:lstStyle/>
          <a:p>
            <a:pPr>
              <a:defRPr/>
            </a:pPr>
            <a:r>
              <a:rPr lang="ru-RU" sz="2400" b="1"/>
              <a:t>Языки программирования</a:t>
            </a:r>
            <a:r>
              <a:rPr lang="en-US" sz="2400" b="1"/>
              <a:t>:</a:t>
            </a:r>
            <a:r>
              <a:rPr lang="ru-RU" sz="2400" b="1"/>
              <a:t> </a:t>
            </a:r>
            <a:r>
              <a:rPr lang="en-US" sz="2400"/>
              <a:t>Python</a:t>
            </a:r>
            <a:r>
              <a:rPr lang="ru-RU" sz="2400"/>
              <a:t>, </a:t>
            </a:r>
            <a:r>
              <a:rPr lang="en-US" sz="2400"/>
              <a:t>R</a:t>
            </a:r>
            <a:endParaRPr/>
          </a:p>
          <a:p>
            <a:pPr lvl="1">
              <a:defRPr/>
            </a:pPr>
            <a:r>
              <a:rPr lang="ru-RU" sz="2000" b="1"/>
              <a:t>Библиотеки </a:t>
            </a:r>
            <a:r>
              <a:rPr lang="en-US" sz="2000" b="1"/>
              <a:t>Python</a:t>
            </a:r>
            <a:r>
              <a:rPr lang="ru-RU" sz="2000" b="1"/>
              <a:t>: </a:t>
            </a:r>
            <a:r>
              <a:rPr lang="en-US" sz="2000">
                <a:ea typeface="Calibri"/>
                <a:cs typeface="Times New Roman"/>
              </a:rPr>
              <a:t>Pandas</a:t>
            </a:r>
            <a:r>
              <a:rPr lang="ru-RU" sz="2000">
                <a:ea typeface="Calibri"/>
                <a:cs typeface="Times New Roman"/>
              </a:rPr>
              <a:t>, </a:t>
            </a:r>
            <a:r>
              <a:rPr lang="en-US" sz="2000">
                <a:ea typeface="Calibri"/>
                <a:cs typeface="Times New Roman"/>
              </a:rPr>
              <a:t>Numpy</a:t>
            </a:r>
            <a:r>
              <a:rPr lang="ru-RU" sz="2000">
                <a:ea typeface="Calibri"/>
                <a:cs typeface="Times New Roman"/>
              </a:rPr>
              <a:t>, </a:t>
            </a:r>
            <a:r>
              <a:rPr lang="en-US" sz="2000">
                <a:ea typeface="Calibri"/>
                <a:cs typeface="Times New Roman"/>
              </a:rPr>
              <a:t>Matplotlib</a:t>
            </a:r>
            <a:r>
              <a:rPr lang="ru-RU" sz="2000">
                <a:ea typeface="Calibri"/>
                <a:cs typeface="Times New Roman"/>
              </a:rPr>
              <a:t>, </a:t>
            </a:r>
            <a:r>
              <a:rPr lang="en-US" sz="2000">
                <a:ea typeface="Calibri"/>
                <a:cs typeface="Times New Roman"/>
              </a:rPr>
              <a:t>Seaborn</a:t>
            </a:r>
            <a:r>
              <a:rPr lang="ru-RU" sz="2000">
                <a:ea typeface="Calibri"/>
                <a:cs typeface="Times New Roman"/>
              </a:rPr>
              <a:t>, </a:t>
            </a:r>
            <a:r>
              <a:rPr lang="en-US" sz="2000">
                <a:ea typeface="Calibri"/>
                <a:cs typeface="Times New Roman"/>
              </a:rPr>
              <a:t>Skikit</a:t>
            </a:r>
            <a:r>
              <a:rPr lang="ru-RU" sz="2000">
                <a:ea typeface="Calibri"/>
                <a:cs typeface="Times New Roman"/>
              </a:rPr>
              <a:t>-</a:t>
            </a:r>
            <a:r>
              <a:rPr lang="en-US" sz="2000">
                <a:ea typeface="Calibri"/>
                <a:cs typeface="Times New Roman"/>
              </a:rPr>
              <a:t>Learn</a:t>
            </a:r>
            <a:r>
              <a:rPr lang="ru-RU" sz="2000">
                <a:ea typeface="Calibri"/>
                <a:cs typeface="Times New Roman"/>
              </a:rPr>
              <a:t>, </a:t>
            </a:r>
            <a:r>
              <a:rPr lang="en-US" sz="2000">
                <a:ea typeface="Calibri"/>
                <a:cs typeface="Times New Roman"/>
              </a:rPr>
              <a:t>Statsmodels</a:t>
            </a:r>
            <a:r>
              <a:rPr lang="ru-RU" sz="2000">
                <a:ea typeface="Calibri"/>
                <a:cs typeface="Times New Roman"/>
              </a:rPr>
              <a:t>, </a:t>
            </a:r>
            <a:r>
              <a:rPr lang="en-US" sz="2000">
                <a:ea typeface="Calibri"/>
                <a:cs typeface="Times New Roman"/>
              </a:rPr>
              <a:t>Plotly</a:t>
            </a:r>
            <a:endParaRPr lang="en-US" sz="2000">
              <a:ea typeface="Calibri"/>
              <a:cs typeface="Times New Roman"/>
            </a:endParaRPr>
          </a:p>
          <a:p>
            <a:pPr lvl="1">
              <a:defRPr/>
            </a:pPr>
            <a:r>
              <a:rPr lang="ru-RU" sz="2000" b="1"/>
              <a:t>Библиотеки </a:t>
            </a:r>
            <a:r>
              <a:rPr lang="en-US" sz="2000" b="1"/>
              <a:t>R</a:t>
            </a:r>
            <a:r>
              <a:rPr lang="ru-RU" sz="2000" b="1"/>
              <a:t>: </a:t>
            </a:r>
            <a:r>
              <a:rPr lang="en-US" sz="2000">
                <a:ea typeface="Calibri"/>
                <a:cs typeface="Times New Roman"/>
              </a:rPr>
              <a:t>ggplot2</a:t>
            </a:r>
            <a:r>
              <a:rPr lang="ru-RU" sz="2000">
                <a:ea typeface="Calibri"/>
                <a:cs typeface="Times New Roman"/>
              </a:rPr>
              <a:t>, </a:t>
            </a:r>
            <a:r>
              <a:rPr lang="en-US" sz="2000">
                <a:ea typeface="Calibri"/>
                <a:cs typeface="Times New Roman"/>
              </a:rPr>
              <a:t>caret</a:t>
            </a:r>
            <a:r>
              <a:rPr lang="ru-RU" sz="2000">
                <a:ea typeface="Calibri"/>
                <a:cs typeface="Times New Roman"/>
              </a:rPr>
              <a:t>, </a:t>
            </a:r>
            <a:r>
              <a:rPr lang="en-US" sz="2000">
                <a:ea typeface="Calibri"/>
                <a:cs typeface="Times New Roman"/>
              </a:rPr>
              <a:t>tidyverse</a:t>
            </a:r>
            <a:r>
              <a:rPr lang="ru-RU" sz="2000">
                <a:ea typeface="Calibri"/>
                <a:cs typeface="Times New Roman"/>
              </a:rPr>
              <a:t>, </a:t>
            </a:r>
            <a:r>
              <a:rPr lang="en-US" sz="2000">
                <a:ea typeface="Calibri"/>
                <a:cs typeface="Times New Roman"/>
              </a:rPr>
              <a:t>tidytext</a:t>
            </a:r>
            <a:endParaRPr lang="en-US" sz="2000"/>
          </a:p>
          <a:p>
            <a:pPr>
              <a:defRPr/>
            </a:pPr>
            <a:r>
              <a:rPr lang="ru-RU" sz="2400" b="1"/>
              <a:t>Фреймворк</a:t>
            </a:r>
            <a:r>
              <a:rPr lang="en-US" sz="2400" b="1"/>
              <a:t>:</a:t>
            </a:r>
            <a:r>
              <a:rPr lang="ru-RU" sz="2400" b="1"/>
              <a:t> </a:t>
            </a:r>
            <a:r>
              <a:rPr lang="en-US" sz="2400">
                <a:ea typeface="Calibri"/>
                <a:cs typeface="Times New Roman"/>
              </a:rPr>
              <a:t>Dash</a:t>
            </a:r>
            <a:endParaRPr lang="en-US" sz="2400"/>
          </a:p>
        </p:txBody>
      </p:sp>
      <p:sp>
        <p:nvSpPr>
          <p:cNvPr id="5" name="Rectangle 4"/>
          <p:cNvSpPr>
            <a:spLocks noChangeArrowheads="1"/>
          </p:cNvSpPr>
          <p:nvPr/>
        </p:nvSpPr>
        <p:spPr bwMode="auto">
          <a:xfrm>
            <a:off x="1905724" y="470277"/>
            <a:ext cx="5960286" cy="646331"/>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ru-RU" sz="3600" b="1">
                <a:solidFill>
                  <a:schemeClr val="tx2"/>
                </a:solidFill>
                <a:latin typeface="+mn-lt"/>
              </a:rPr>
              <a:t>Программные средства</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 name="Rectangle 4"/>
          <p:cNvSpPr>
            <a:spLocks noChangeArrowheads="1"/>
          </p:cNvSpPr>
          <p:nvPr/>
        </p:nvSpPr>
        <p:spPr bwMode="auto">
          <a:xfrm>
            <a:off x="2041895" y="323320"/>
            <a:ext cx="5328703" cy="646331"/>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ru-RU" sz="3600" b="1">
                <a:solidFill>
                  <a:schemeClr val="tx2"/>
                </a:solidFill>
                <a:latin typeface="+mn-lt"/>
              </a:rPr>
              <a:t>Материалы и методы</a:t>
            </a:r>
            <a:endParaRPr/>
          </a:p>
        </p:txBody>
      </p:sp>
      <p:sp>
        <p:nvSpPr>
          <p:cNvPr id="5" name="TextBox 4"/>
          <p:cNvSpPr txBox="1"/>
          <p:nvPr/>
        </p:nvSpPr>
        <p:spPr bwMode="auto">
          <a:xfrm>
            <a:off x="11623040" y="6041727"/>
            <a:ext cx="389850" cy="584775"/>
          </a:xfrm>
          <a:prstGeom prst="rect">
            <a:avLst/>
          </a:prstGeom>
          <a:noFill/>
        </p:spPr>
        <p:txBody>
          <a:bodyPr wrap="none" rtlCol="0">
            <a:spAutoFit/>
          </a:bodyPr>
          <a:lstStyle/>
          <a:p>
            <a:pPr>
              <a:defRPr/>
            </a:pPr>
            <a:r>
              <a:rPr lang="ru-RU" sz="3200">
                <a:latin typeface="Times New Roman"/>
                <a:cs typeface="Times New Roman"/>
              </a:rPr>
              <a:t>5</a:t>
            </a:r>
            <a:endParaRPr/>
          </a:p>
        </p:txBody>
      </p:sp>
      <p:pic>
        <p:nvPicPr>
          <p:cNvPr id="6" name="Рисунок 5"/>
          <p:cNvPicPr>
            <a:picLocks noChangeAspect="1"/>
          </p:cNvPicPr>
          <p:nvPr/>
        </p:nvPicPr>
        <p:blipFill>
          <a:blip r:embed="rId3"/>
          <a:stretch/>
        </p:blipFill>
        <p:spPr bwMode="auto">
          <a:xfrm>
            <a:off x="2321690" y="916060"/>
            <a:ext cx="9301350" cy="4211112"/>
          </a:xfrm>
          <a:prstGeom prst="rect">
            <a:avLst/>
          </a:prstGeom>
        </p:spPr>
      </p:pic>
      <p:sp>
        <p:nvSpPr>
          <p:cNvPr id="7" name="Стрелка вниз 6"/>
          <p:cNvSpPr/>
          <p:nvPr/>
        </p:nvSpPr>
        <p:spPr bwMode="auto">
          <a:xfrm>
            <a:off x="4555671" y="4359729"/>
            <a:ext cx="881743" cy="767443"/>
          </a:xfrm>
          <a:prstGeom prst="downArrow">
            <a:avLst>
              <a:gd name="adj1" fmla="val 50000"/>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9" name="Овал 8"/>
          <p:cNvSpPr/>
          <p:nvPr/>
        </p:nvSpPr>
        <p:spPr bwMode="auto">
          <a:xfrm>
            <a:off x="9036404" y="5520038"/>
            <a:ext cx="1990065" cy="63681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defRPr/>
            </a:pPr>
            <a:r>
              <a:rPr lang="ru-RU"/>
              <a:t>Файл .</a:t>
            </a:r>
            <a:r>
              <a:rPr lang="en-US"/>
              <a:t>csv</a:t>
            </a:r>
            <a:endParaRPr lang="ru-RU"/>
          </a:p>
        </p:txBody>
      </p:sp>
      <p:sp>
        <p:nvSpPr>
          <p:cNvPr id="10" name="Овал 9"/>
          <p:cNvSpPr/>
          <p:nvPr/>
        </p:nvSpPr>
        <p:spPr bwMode="auto">
          <a:xfrm>
            <a:off x="3894317" y="5127172"/>
            <a:ext cx="2201683" cy="636814"/>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defRPr/>
            </a:pPr>
            <a:r>
              <a:rPr lang="ru-RU"/>
              <a:t>Данные заключений</a:t>
            </a:r>
            <a:endParaRPr/>
          </a:p>
        </p:txBody>
      </p:sp>
      <p:sp>
        <p:nvSpPr>
          <p:cNvPr id="11" name="Стрелка вниз 10"/>
          <p:cNvSpPr/>
          <p:nvPr/>
        </p:nvSpPr>
        <p:spPr bwMode="auto">
          <a:xfrm rot="16199999">
            <a:off x="6336039" y="4545787"/>
            <a:ext cx="2416632" cy="2201682"/>
          </a:xfrm>
          <a:prstGeom prst="downArrow">
            <a:avLst>
              <a:gd name="adj1" fmla="val 50000"/>
              <a:gd name="adj2" fmla="val 514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12" name="TextBox 11"/>
          <p:cNvSpPr txBox="1"/>
          <p:nvPr/>
        </p:nvSpPr>
        <p:spPr bwMode="auto">
          <a:xfrm>
            <a:off x="6370723" y="5386063"/>
            <a:ext cx="1999750" cy="523220"/>
          </a:xfrm>
          <a:prstGeom prst="rect">
            <a:avLst/>
          </a:prstGeom>
          <a:noFill/>
        </p:spPr>
        <p:txBody>
          <a:bodyPr wrap="square" rtlCol="0">
            <a:spAutoFit/>
          </a:bodyPr>
          <a:lstStyle/>
          <a:p>
            <a:pPr algn="ctr">
              <a:defRPr/>
            </a:pPr>
            <a:r>
              <a:rPr lang="ru-RU" sz="1400" b="0" i="0" u="none" strike="noStrike">
                <a:solidFill>
                  <a:schemeClr val="bg1"/>
                </a:solidFill>
                <a:latin typeface="Helvetica Neue"/>
              </a:rPr>
              <a:t>извлечение данных из текста</a:t>
            </a:r>
            <a:endParaRPr lang="ru-RU" sz="140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5" name="Rectangle 4"/>
          <p:cNvSpPr>
            <a:spLocks noChangeArrowheads="1"/>
          </p:cNvSpPr>
          <p:nvPr/>
        </p:nvSpPr>
        <p:spPr bwMode="auto">
          <a:xfrm>
            <a:off x="2293477" y="293203"/>
            <a:ext cx="2048959" cy="646331"/>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ru-RU" sz="3600" b="1">
                <a:solidFill>
                  <a:schemeClr val="tx2"/>
                </a:solidFill>
                <a:latin typeface="+mn-lt"/>
              </a:rPr>
              <a:t>Данные</a:t>
            </a:r>
            <a:endParaRPr/>
          </a:p>
        </p:txBody>
      </p:sp>
      <p:sp>
        <p:nvSpPr>
          <p:cNvPr id="11" name="TextBox 10"/>
          <p:cNvSpPr txBox="1"/>
          <p:nvPr/>
        </p:nvSpPr>
        <p:spPr bwMode="auto">
          <a:xfrm>
            <a:off x="11623040" y="6041727"/>
            <a:ext cx="389850" cy="584775"/>
          </a:xfrm>
          <a:prstGeom prst="rect">
            <a:avLst/>
          </a:prstGeom>
          <a:noFill/>
        </p:spPr>
        <p:txBody>
          <a:bodyPr wrap="none" rtlCol="0">
            <a:spAutoFit/>
          </a:bodyPr>
          <a:lstStyle/>
          <a:p>
            <a:pPr>
              <a:defRPr/>
            </a:pPr>
            <a:r>
              <a:rPr lang="ru-RU" sz="3200">
                <a:latin typeface="Times New Roman"/>
                <a:cs typeface="Times New Roman"/>
              </a:rPr>
              <a:t>6</a:t>
            </a:r>
            <a:endParaRPr/>
          </a:p>
        </p:txBody>
      </p:sp>
      <p:pic>
        <p:nvPicPr>
          <p:cNvPr id="4" name="Рисунок 3"/>
          <p:cNvPicPr>
            <a:picLocks noChangeAspect="1"/>
          </p:cNvPicPr>
          <p:nvPr/>
        </p:nvPicPr>
        <p:blipFill>
          <a:blip r:embed="rId3"/>
          <a:stretch/>
        </p:blipFill>
        <p:spPr bwMode="auto">
          <a:xfrm>
            <a:off x="5229231" y="616368"/>
            <a:ext cx="5240669" cy="573132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4" name="Picture"/>
          <p:cNvPicPr/>
          <p:nvPr/>
        </p:nvPicPr>
        <p:blipFill>
          <a:blip r:embed="rId3"/>
          <a:stretch/>
        </p:blipFill>
        <p:spPr bwMode="auto">
          <a:xfrm>
            <a:off x="6888031" y="2004245"/>
            <a:ext cx="4501833" cy="3923025"/>
          </a:xfrm>
          <a:prstGeom prst="rect">
            <a:avLst/>
          </a:prstGeom>
          <a:noFill/>
          <a:ln w="9525">
            <a:noFill/>
            <a:headEnd/>
            <a:tailEnd/>
          </a:ln>
        </p:spPr>
      </p:pic>
      <p:sp>
        <p:nvSpPr>
          <p:cNvPr id="5" name="Rectangle 4"/>
          <p:cNvSpPr>
            <a:spLocks noChangeArrowheads="1"/>
          </p:cNvSpPr>
          <p:nvPr/>
        </p:nvSpPr>
        <p:spPr bwMode="auto">
          <a:xfrm>
            <a:off x="2003661" y="554460"/>
            <a:ext cx="7135287" cy="646331"/>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ru-RU" sz="3600" b="1">
                <a:solidFill>
                  <a:schemeClr val="tx2"/>
                </a:solidFill>
                <a:latin typeface="+mn-lt"/>
              </a:rPr>
              <a:t>Модель машинного обучения</a:t>
            </a:r>
            <a:endParaRPr/>
          </a:p>
        </p:txBody>
      </p:sp>
      <p:pic>
        <p:nvPicPr>
          <p:cNvPr id="6" name="Picture"/>
          <p:cNvPicPr/>
          <p:nvPr/>
        </p:nvPicPr>
        <p:blipFill>
          <a:blip r:embed="rId4"/>
          <a:stretch/>
        </p:blipFill>
        <p:spPr bwMode="auto">
          <a:xfrm>
            <a:off x="1224643" y="4657634"/>
            <a:ext cx="5334000" cy="1102360"/>
          </a:xfrm>
          <a:prstGeom prst="rect">
            <a:avLst/>
          </a:prstGeom>
          <a:noFill/>
          <a:ln w="9525">
            <a:noFill/>
            <a:headEnd/>
            <a:tailEnd/>
          </a:ln>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4" name="Picture"/>
          <p:cNvPicPr/>
          <p:nvPr/>
        </p:nvPicPr>
        <p:blipFill>
          <a:blip r:embed="rId3"/>
          <a:stretch/>
        </p:blipFill>
        <p:spPr bwMode="auto">
          <a:xfrm>
            <a:off x="2086739" y="2240643"/>
            <a:ext cx="9098332" cy="2706914"/>
          </a:xfrm>
          <a:prstGeom prst="rect">
            <a:avLst/>
          </a:prstGeom>
          <a:noFill/>
          <a:ln w="9525">
            <a:noFill/>
            <a:headEnd/>
            <a:tailEnd/>
          </a:ln>
        </p:spPr>
      </p:pic>
      <p:sp>
        <p:nvSpPr>
          <p:cNvPr id="5" name="Rectangle 4"/>
          <p:cNvSpPr>
            <a:spLocks noChangeArrowheads="1"/>
          </p:cNvSpPr>
          <p:nvPr/>
        </p:nvSpPr>
        <p:spPr bwMode="auto">
          <a:xfrm>
            <a:off x="1780684" y="475647"/>
            <a:ext cx="6434775" cy="646331"/>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ru-RU" sz="3600" b="1">
                <a:solidFill>
                  <a:schemeClr val="tx2"/>
                </a:solidFill>
                <a:latin typeface="+mn-lt"/>
              </a:rPr>
              <a:t>Интерактивный </a:t>
            </a:r>
            <a:r>
              <a:rPr lang="en-US" sz="3600" b="1">
                <a:solidFill>
                  <a:schemeClr val="tx2"/>
                </a:solidFill>
                <a:latin typeface="+mn-lt"/>
              </a:rPr>
              <a:t>dashboard</a:t>
            </a:r>
            <a:endParaRPr lang="ru-RU" sz="3600" b="1">
              <a:solidFill>
                <a:schemeClr val="tx2"/>
              </a:solidFill>
              <a:latin typeface="+mn-lt"/>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 name="Rectangle 4"/>
          <p:cNvSpPr>
            <a:spLocks noChangeArrowheads="1"/>
          </p:cNvSpPr>
          <p:nvPr/>
        </p:nvSpPr>
        <p:spPr bwMode="auto">
          <a:xfrm>
            <a:off x="2079812" y="263376"/>
            <a:ext cx="4628190" cy="646331"/>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ru-RU" sz="3600" b="1">
                <a:solidFill>
                  <a:schemeClr val="tx2"/>
                </a:solidFill>
                <a:latin typeface="+mn-lt"/>
              </a:rPr>
              <a:t>Функциональность</a:t>
            </a:r>
            <a:endParaRPr/>
          </a:p>
        </p:txBody>
      </p:sp>
      <p:sp>
        <p:nvSpPr>
          <p:cNvPr id="5" name="TextBox 4"/>
          <p:cNvSpPr txBox="1"/>
          <p:nvPr/>
        </p:nvSpPr>
        <p:spPr bwMode="auto">
          <a:xfrm>
            <a:off x="11623040" y="6041727"/>
            <a:ext cx="389850" cy="584775"/>
          </a:xfrm>
          <a:prstGeom prst="rect">
            <a:avLst/>
          </a:prstGeom>
          <a:noFill/>
        </p:spPr>
        <p:txBody>
          <a:bodyPr wrap="none" rtlCol="0">
            <a:spAutoFit/>
          </a:bodyPr>
          <a:lstStyle/>
          <a:p>
            <a:pPr>
              <a:defRPr/>
            </a:pPr>
            <a:r>
              <a:rPr lang="ru-RU" sz="3200">
                <a:latin typeface="Times New Roman"/>
                <a:cs typeface="Times New Roman"/>
              </a:rPr>
              <a:t>7</a:t>
            </a:r>
            <a:endParaRPr/>
          </a:p>
        </p:txBody>
      </p:sp>
      <p:pic>
        <p:nvPicPr>
          <p:cNvPr id="3" name="Picture"/>
          <p:cNvPicPr/>
          <p:nvPr/>
        </p:nvPicPr>
        <p:blipFill>
          <a:blip r:embed="rId3"/>
          <a:stretch/>
        </p:blipFill>
        <p:spPr bwMode="auto">
          <a:xfrm>
            <a:off x="2079812" y="1452677"/>
            <a:ext cx="9543227" cy="3952645"/>
          </a:xfrm>
          <a:prstGeom prst="rect">
            <a:avLst/>
          </a:prstGeom>
          <a:noFill/>
          <a:ln w="9525">
            <a:noFill/>
            <a:headEnd/>
            <a:tailEnd/>
          </a:ln>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4" name="Picture"/>
          <p:cNvPicPr>
            <a:picLocks noGrp="1"/>
          </p:cNvPicPr>
          <p:nvPr>
            <p:ph idx="1"/>
          </p:nvPr>
        </p:nvPicPr>
        <p:blipFill>
          <a:blip r:embed="rId3"/>
          <a:stretch/>
        </p:blipFill>
        <p:spPr bwMode="auto">
          <a:xfrm>
            <a:off x="444308" y="1366158"/>
            <a:ext cx="6669506" cy="3778250"/>
          </a:xfrm>
          <a:prstGeom prst="rect">
            <a:avLst/>
          </a:prstGeom>
          <a:noFill/>
          <a:ln w="9525">
            <a:noFill/>
            <a:headEnd/>
            <a:tailEnd/>
          </a:ln>
        </p:spPr>
      </p:pic>
      <p:sp>
        <p:nvSpPr>
          <p:cNvPr id="5" name="Rectangle 4"/>
          <p:cNvSpPr>
            <a:spLocks noChangeArrowheads="1" noGrp="1"/>
          </p:cNvSpPr>
          <p:nvPr>
            <p:ph type="title"/>
          </p:nvPr>
        </p:nvSpPr>
        <p:spPr bwMode="auto">
          <a:xfrm>
            <a:off x="2941615" y="476027"/>
            <a:ext cx="3381055" cy="646331"/>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ru-RU" sz="3600" b="1">
                <a:solidFill>
                  <a:schemeClr val="tx2"/>
                </a:solidFill>
                <a:latin typeface="+mn-lt"/>
              </a:rPr>
              <a:t>Визуализация</a:t>
            </a:r>
            <a:endParaRPr/>
          </a:p>
        </p:txBody>
      </p:sp>
      <p:pic>
        <p:nvPicPr>
          <p:cNvPr id="7" name="Рисунок 6"/>
          <p:cNvPicPr>
            <a:picLocks noChangeAspect="1"/>
          </p:cNvPicPr>
          <p:nvPr/>
        </p:nvPicPr>
        <p:blipFill>
          <a:blip r:embed="rId4"/>
          <a:stretch/>
        </p:blipFill>
        <p:spPr bwMode="auto">
          <a:xfrm>
            <a:off x="4343401" y="3255283"/>
            <a:ext cx="7567576" cy="290041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 name="TextBox 3"/>
          <p:cNvSpPr txBox="1"/>
          <p:nvPr/>
        </p:nvSpPr>
        <p:spPr bwMode="auto">
          <a:xfrm>
            <a:off x="11623040" y="6041727"/>
            <a:ext cx="389850" cy="584775"/>
          </a:xfrm>
          <a:prstGeom prst="rect">
            <a:avLst/>
          </a:prstGeom>
          <a:noFill/>
        </p:spPr>
        <p:txBody>
          <a:bodyPr wrap="none" rtlCol="0">
            <a:spAutoFit/>
          </a:bodyPr>
          <a:lstStyle/>
          <a:p>
            <a:pPr>
              <a:defRPr/>
            </a:pPr>
            <a:r>
              <a:rPr lang="ru-RU" sz="3200">
                <a:latin typeface="Times New Roman"/>
                <a:cs typeface="Times New Roman"/>
              </a:rPr>
              <a:t>8</a:t>
            </a:r>
            <a:endParaRPr/>
          </a:p>
        </p:txBody>
      </p:sp>
      <p:sp>
        <p:nvSpPr>
          <p:cNvPr id="5" name="Rectangle 4"/>
          <p:cNvSpPr>
            <a:spLocks noChangeArrowheads="1"/>
          </p:cNvSpPr>
          <p:nvPr/>
        </p:nvSpPr>
        <p:spPr bwMode="auto">
          <a:xfrm>
            <a:off x="2575484" y="417153"/>
            <a:ext cx="3520516" cy="707886"/>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ru-RU" sz="4000" b="1">
                <a:solidFill>
                  <a:schemeClr val="tx2"/>
                </a:solidFill>
                <a:latin typeface="+mn-lt"/>
              </a:rPr>
              <a:t>Вероятность</a:t>
            </a:r>
            <a:endParaRPr/>
          </a:p>
        </p:txBody>
      </p:sp>
      <p:pic>
        <p:nvPicPr>
          <p:cNvPr id="2" name="Picture"/>
          <p:cNvPicPr/>
          <p:nvPr/>
        </p:nvPicPr>
        <p:blipFill>
          <a:blip r:embed="rId3"/>
          <a:stretch/>
        </p:blipFill>
        <p:spPr bwMode="auto">
          <a:xfrm>
            <a:off x="1569579" y="1128689"/>
            <a:ext cx="5894614" cy="4600621"/>
          </a:xfrm>
          <a:prstGeom prst="rect">
            <a:avLst/>
          </a:prstGeom>
          <a:noFill/>
          <a:ln w="9525">
            <a:noFill/>
            <a:headEnd/>
            <a:tailEnd/>
          </a:ln>
        </p:spPr>
      </p:pic>
      <p:pic>
        <p:nvPicPr>
          <p:cNvPr id="6" name="Picture"/>
          <p:cNvPicPr/>
          <p:nvPr/>
        </p:nvPicPr>
        <p:blipFill>
          <a:blip r:embed="rId4"/>
          <a:stretch/>
        </p:blipFill>
        <p:spPr bwMode="auto">
          <a:xfrm>
            <a:off x="4584408" y="2956851"/>
            <a:ext cx="7233557" cy="3084876"/>
          </a:xfrm>
          <a:prstGeom prst="rect">
            <a:avLst/>
          </a:prstGeom>
          <a:noFill/>
          <a:ln w="9525">
            <a:noFill/>
            <a:headEnd/>
            <a:tailEnd/>
          </a:ln>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4" name="Picture"/>
          <p:cNvPicPr/>
          <p:nvPr/>
        </p:nvPicPr>
        <p:blipFill>
          <a:blip r:embed="rId3"/>
          <a:stretch/>
        </p:blipFill>
        <p:spPr bwMode="auto">
          <a:xfrm>
            <a:off x="3788230" y="1644877"/>
            <a:ext cx="6645728" cy="4347709"/>
          </a:xfrm>
          <a:prstGeom prst="rect">
            <a:avLst/>
          </a:prstGeom>
          <a:noFill/>
          <a:ln w="9525">
            <a:noFill/>
            <a:headEnd/>
            <a:tailEnd/>
          </a:ln>
        </p:spPr>
      </p:pic>
      <p:sp>
        <p:nvSpPr>
          <p:cNvPr id="7" name="Rectangle 4"/>
          <p:cNvSpPr>
            <a:spLocks noChangeArrowheads="1"/>
          </p:cNvSpPr>
          <p:nvPr/>
        </p:nvSpPr>
        <p:spPr bwMode="auto">
          <a:xfrm>
            <a:off x="1855832" y="511471"/>
            <a:ext cx="6723315" cy="707886"/>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lgn="ctr">
              <a:defRPr/>
            </a:pPr>
            <a:r>
              <a:rPr lang="ru-RU" sz="4000" b="1">
                <a:solidFill>
                  <a:schemeClr val="tx2"/>
                </a:solidFill>
                <a:latin typeface="+mn-lt"/>
              </a:rPr>
              <a:t>Информационное табло</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Заголовок 1"/>
          <p:cNvSpPr>
            <a:spLocks noGrp="1"/>
          </p:cNvSpPr>
          <p:nvPr>
            <p:ph type="title"/>
          </p:nvPr>
        </p:nvSpPr>
        <p:spPr bwMode="auto">
          <a:xfrm>
            <a:off x="1774328" y="250931"/>
            <a:ext cx="7712572" cy="749509"/>
          </a:xfrm>
        </p:spPr>
        <p:txBody>
          <a:bodyPr>
            <a:normAutofit fontScale="90000"/>
          </a:bodyPr>
          <a:lstStyle/>
          <a:p>
            <a:pPr algn="ctr">
              <a:defRPr/>
            </a:pPr>
            <a:r>
              <a:rPr lang="ru-RU" b="1">
                <a:solidFill>
                  <a:schemeClr val="tx2"/>
                </a:solidFill>
                <a:latin typeface="+mn-lt"/>
              </a:rPr>
              <a:t>Интеграция машинного обучения</a:t>
            </a:r>
            <a:br>
              <a:rPr lang="ru-RU" b="1">
                <a:solidFill>
                  <a:schemeClr val="tx2"/>
                </a:solidFill>
                <a:latin typeface="Times New Roman"/>
              </a:rPr>
            </a:br>
            <a:endParaRPr lang="ru-RU"/>
          </a:p>
        </p:txBody>
      </p:sp>
      <p:sp>
        <p:nvSpPr>
          <p:cNvPr id="5" name="Прямоугольник 4"/>
          <p:cNvSpPr/>
          <p:nvPr/>
        </p:nvSpPr>
        <p:spPr bwMode="auto">
          <a:xfrm>
            <a:off x="11625543" y="5906178"/>
            <a:ext cx="389850" cy="584775"/>
          </a:xfrm>
          <a:prstGeom prst="rect">
            <a:avLst/>
          </a:prstGeom>
        </p:spPr>
        <p:txBody>
          <a:bodyPr wrap="none">
            <a:spAutoFit/>
          </a:bodyPr>
          <a:lstStyle/>
          <a:p>
            <a:pPr>
              <a:defRPr/>
            </a:pPr>
            <a:r>
              <a:rPr lang="ru-RU" sz="3200">
                <a:latin typeface="Times New Roman"/>
                <a:cs typeface="Times New Roman"/>
              </a:rPr>
              <a:t>9</a:t>
            </a:r>
            <a:endParaRPr lang="ru-RU" sz="3200"/>
          </a:p>
        </p:txBody>
      </p:sp>
      <p:pic>
        <p:nvPicPr>
          <p:cNvPr id="7" name="Picture"/>
          <p:cNvPicPr/>
          <p:nvPr/>
        </p:nvPicPr>
        <p:blipFill>
          <a:blip r:embed="rId3"/>
          <a:stretch/>
        </p:blipFill>
        <p:spPr bwMode="auto">
          <a:xfrm>
            <a:off x="1143002" y="1278730"/>
            <a:ext cx="5334000" cy="2557780"/>
          </a:xfrm>
          <a:prstGeom prst="rect">
            <a:avLst/>
          </a:prstGeom>
          <a:noFill/>
          <a:ln w="9525">
            <a:noFill/>
            <a:headEnd/>
            <a:tailEnd/>
          </a:ln>
        </p:spPr>
      </p:pic>
      <p:pic>
        <p:nvPicPr>
          <p:cNvPr id="8" name="Picture"/>
          <p:cNvPicPr/>
          <p:nvPr/>
        </p:nvPicPr>
        <p:blipFill>
          <a:blip r:embed="rId4"/>
          <a:stretch/>
        </p:blipFill>
        <p:spPr bwMode="auto">
          <a:xfrm>
            <a:off x="5323115" y="3836510"/>
            <a:ext cx="6122814" cy="2557779"/>
          </a:xfrm>
          <a:prstGeom prst="rect">
            <a:avLst/>
          </a:prstGeom>
          <a:noFill/>
          <a:ln w="9525">
            <a:noFill/>
            <a:headEnd/>
            <a:tailEnd/>
          </a:ln>
        </p:spPr>
      </p:pic>
      <p:sp>
        <p:nvSpPr>
          <p:cNvPr id="9" name="Прямоугольник 8"/>
          <p:cNvSpPr/>
          <p:nvPr/>
        </p:nvSpPr>
        <p:spPr bwMode="auto">
          <a:xfrm>
            <a:off x="5339443" y="4114800"/>
            <a:ext cx="1338943" cy="359229"/>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3" name="Объект 2"/>
          <p:cNvSpPr>
            <a:spLocks noGrp="1"/>
          </p:cNvSpPr>
          <p:nvPr>
            <p:ph idx="1"/>
          </p:nvPr>
        </p:nvSpPr>
        <p:spPr bwMode="auto">
          <a:xfrm>
            <a:off x="3209699" y="2318657"/>
            <a:ext cx="4072844" cy="1110343"/>
          </a:xfrm>
        </p:spPr>
        <p:txBody>
          <a:bodyPr/>
          <a:lstStyle/>
          <a:p>
            <a:pPr>
              <a:defRPr/>
            </a:pPr>
            <a:r>
              <a:rPr lang="ru-RU" sz="1800" u="sng">
                <a:solidFill>
                  <a:srgbClr val="0000FF"/>
                </a:solidFill>
                <a:latin typeface="Times New Roman"/>
                <a:ea typeface="Calibri"/>
                <a:cs typeface="Times New Roman"/>
                <a:hlinkClick r:id="rId3" tooltip="http://217.18.63.8/"/>
              </a:rPr>
              <a:t>http://217.18.63.8/</a:t>
            </a:r>
            <a:r>
              <a:rPr lang="ru-RU" sz="1800">
                <a:latin typeface="Times New Roman"/>
                <a:ea typeface="Calibri"/>
                <a:cs typeface="Times New Roman"/>
              </a:rPr>
              <a:t>.</a:t>
            </a:r>
            <a:endParaRPr lang="ru-RU" sz="1800">
              <a:latin typeface="Calibri"/>
              <a:ea typeface="Calibri"/>
              <a:cs typeface="Times New Roman"/>
            </a:endParaRPr>
          </a:p>
          <a:p>
            <a:pPr>
              <a:defRPr/>
            </a:pPr>
            <a:endParaRPr lang="ru-RU"/>
          </a:p>
        </p:txBody>
      </p:sp>
      <p:pic>
        <p:nvPicPr>
          <p:cNvPr id="5" name="Рисунок 4"/>
          <p:cNvPicPr>
            <a:picLocks noChangeAspect="1"/>
          </p:cNvPicPr>
          <p:nvPr/>
        </p:nvPicPr>
        <p:blipFill>
          <a:blip r:embed="rId4"/>
          <a:stretch/>
        </p:blipFill>
        <p:spPr bwMode="auto">
          <a:xfrm>
            <a:off x="2948442" y="3429000"/>
            <a:ext cx="7772400" cy="1362650"/>
          </a:xfrm>
          <a:prstGeom prst="rect">
            <a:avLst/>
          </a:prstGeom>
        </p:spPr>
      </p:pic>
      <p:sp>
        <p:nvSpPr>
          <p:cNvPr id="8" name="Заголовок 1"/>
          <p:cNvSpPr txBox="1"/>
          <p:nvPr/>
        </p:nvSpPr>
        <p:spPr bwMode="auto">
          <a:xfrm>
            <a:off x="1921285" y="877201"/>
            <a:ext cx="7187138" cy="1027799"/>
          </a:xfrm>
          <a:prstGeom prst="rect">
            <a:avLst/>
          </a:prstGeom>
        </p:spPr>
        <p:txBody>
          <a:bodyPr vert="horz" lIns="91440" tIns="45720" rIns="91440" bIns="45720" rtlCol="0" anchor="t">
            <a:normAutofit fontScale="90000" lnSpcReduction="10000"/>
          </a:bodyPr>
          <a:lstStyle>
            <a:lvl1pPr algn="l" defTabSz="457200">
              <a:spcBef>
                <a:spcPts val="0"/>
              </a:spcBef>
              <a:buNone/>
              <a:defRPr sz="3600">
                <a:solidFill>
                  <a:schemeClr val="tx1">
                    <a:lumMod val="85000"/>
                    <a:lumOff val="15000"/>
                  </a:schemeClr>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defRPr/>
            </a:pPr>
            <a:r>
              <a:rPr lang="ru-RU" b="1">
                <a:solidFill>
                  <a:schemeClr val="tx2"/>
                </a:solidFill>
                <a:latin typeface="+mn-lt"/>
              </a:rPr>
              <a:t>РАЗВЕРТЫВАНИЕ ПРИЛОЖЕНИЯ</a:t>
            </a:r>
            <a:br>
              <a:rPr lang="ru-RU" b="1">
                <a:solidFill>
                  <a:schemeClr val="tx2"/>
                </a:solidFill>
                <a:latin typeface="Times New Roman"/>
              </a:rPr>
            </a:br>
            <a:endParaRPr lang="ru-RU"/>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8" name="TextBox 7"/>
          <p:cNvSpPr txBox="1"/>
          <p:nvPr/>
        </p:nvSpPr>
        <p:spPr bwMode="auto">
          <a:xfrm>
            <a:off x="11623040" y="6041727"/>
            <a:ext cx="579774" cy="584775"/>
          </a:xfrm>
          <a:prstGeom prst="rect">
            <a:avLst/>
          </a:prstGeom>
          <a:noFill/>
        </p:spPr>
        <p:txBody>
          <a:bodyPr wrap="none" rtlCol="0">
            <a:spAutoFit/>
          </a:bodyPr>
          <a:lstStyle/>
          <a:p>
            <a:pPr>
              <a:defRPr/>
            </a:pPr>
            <a:r>
              <a:rPr lang="ru-RU" sz="3200">
                <a:latin typeface="Times New Roman"/>
                <a:cs typeface="Times New Roman"/>
              </a:rPr>
              <a:t>11</a:t>
            </a:r>
            <a:endParaRPr/>
          </a:p>
        </p:txBody>
      </p:sp>
      <p:sp>
        <p:nvSpPr>
          <p:cNvPr id="2" name="Заголовок 1"/>
          <p:cNvSpPr>
            <a:spLocks noGrp="1"/>
          </p:cNvSpPr>
          <p:nvPr>
            <p:ph type="title"/>
          </p:nvPr>
        </p:nvSpPr>
        <p:spPr bwMode="auto">
          <a:xfrm>
            <a:off x="2592926" y="624110"/>
            <a:ext cx="2697531" cy="698504"/>
          </a:xfrm>
        </p:spPr>
        <p:txBody>
          <a:bodyPr>
            <a:normAutofit/>
          </a:bodyPr>
          <a:lstStyle/>
          <a:p>
            <a:pPr>
              <a:defRPr/>
            </a:pPr>
            <a:r>
              <a:rPr lang="ru-RU" b="1">
                <a:solidFill>
                  <a:schemeClr val="tx2"/>
                </a:solidFill>
                <a:latin typeface="+mn-lt"/>
              </a:rPr>
              <a:t>ВЫВОДЫ</a:t>
            </a:r>
            <a:endParaRPr lang="ru-RU"/>
          </a:p>
        </p:txBody>
      </p:sp>
      <p:sp>
        <p:nvSpPr>
          <p:cNvPr id="3" name="Объект 2"/>
          <p:cNvSpPr>
            <a:spLocks noGrp="1"/>
          </p:cNvSpPr>
          <p:nvPr>
            <p:ph idx="1"/>
          </p:nvPr>
        </p:nvSpPr>
        <p:spPr bwMode="auto"/>
        <p:txBody>
          <a:bodyPr>
            <a:normAutofit fontScale="92500" lnSpcReduction="10000"/>
          </a:bodyPr>
          <a:lstStyle/>
          <a:p>
            <a:pPr lvl="0">
              <a:defRPr/>
            </a:pPr>
            <a:r>
              <a:rPr lang="ru-RU"/>
              <a:t>Все поставленные задачи выполнены </a:t>
            </a:r>
            <a:endParaRPr/>
          </a:p>
          <a:p>
            <a:pPr lvl="0">
              <a:defRPr/>
            </a:pPr>
            <a:r>
              <a:rPr lang="ru-RU">
                <a:ea typeface="Calibri"/>
              </a:rPr>
              <a:t>П</a:t>
            </a:r>
            <a:r>
              <a:rPr lang="ru-RU" sz="1800">
                <a:ea typeface="Calibri"/>
              </a:rPr>
              <a:t>риложение можно охарактеризовать как продукт, обладающий минимальными, но достаточными для удовлетворения первых потребителей функциями</a:t>
            </a:r>
            <a:r>
              <a:rPr lang="ru-RU"/>
              <a:t> </a:t>
            </a:r>
            <a:endParaRPr/>
          </a:p>
          <a:p>
            <a:pPr lvl="0">
              <a:defRPr/>
            </a:pPr>
            <a:r>
              <a:rPr lang="ru-RU" sz="1800">
                <a:ea typeface="Calibri"/>
              </a:rPr>
              <a:t>Для дальнейшего развития проекта требуется замена исходно таблицы .</a:t>
            </a:r>
            <a:r>
              <a:rPr lang="ru-RU" sz="1800">
                <a:ea typeface="Calibri"/>
              </a:rPr>
              <a:t>csv</a:t>
            </a:r>
            <a:r>
              <a:rPr lang="ru-RU" sz="1800">
                <a:ea typeface="Calibri"/>
              </a:rPr>
              <a:t> на реляционную базу данных. </a:t>
            </a:r>
            <a:endParaRPr lang="ru-RU" sz="1800">
              <a:ea typeface="Calibri"/>
            </a:endParaRPr>
          </a:p>
          <a:p>
            <a:pPr lvl="0">
              <a:defRPr/>
            </a:pPr>
            <a:r>
              <a:rPr lang="ru-RU" sz="1800">
                <a:ea typeface="Calibri"/>
              </a:rPr>
              <a:t>Так же перспективным направлением является разработка систем глубокого обучения изображений</a:t>
            </a:r>
            <a:r>
              <a:rPr lang="ru-RU"/>
              <a:t> </a:t>
            </a:r>
            <a:endParaRPr/>
          </a:p>
          <a:p>
            <a:pPr lvl="0">
              <a:defRPr/>
            </a:pPr>
            <a:r>
              <a:rPr lang="ru-RU">
                <a:ea typeface="Calibri"/>
              </a:rPr>
              <a:t>Р</a:t>
            </a:r>
            <a:r>
              <a:rPr lang="ru-RU" sz="1800">
                <a:ea typeface="Calibri"/>
              </a:rPr>
              <a:t>азвитие автоматизированных систем предсказания непосредственного обнаружения интересующего образования </a:t>
            </a:r>
            <a:endParaRPr lang="ru-RU" sz="1800">
              <a:ea typeface="Calibri"/>
            </a:endParaRPr>
          </a:p>
          <a:p>
            <a:pPr lvl="0">
              <a:defRPr/>
            </a:pPr>
            <a:r>
              <a:rPr lang="ru-RU"/>
              <a:t>Развитие </a:t>
            </a:r>
            <a:r>
              <a:rPr lang="ru-RU" sz="1800">
                <a:ea typeface="Calibri"/>
              </a:rPr>
              <a:t>систем предсказания организационной работы</a:t>
            </a:r>
            <a:endParaRPr/>
          </a:p>
          <a:p>
            <a:pPr lvl="0">
              <a:defRPr/>
            </a:pPr>
            <a:r>
              <a:rPr lang="ru-RU"/>
              <a:t>Потенциал для научного применения</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 name="Rectangle 2"/>
          <p:cNvSpPr>
            <a:spLocks noChangeArrowheads="1"/>
          </p:cNvSpPr>
          <p:nvPr/>
        </p:nvSpPr>
        <p:spPr bwMode="auto">
          <a:xfrm>
            <a:off x="2468880" y="2529839"/>
            <a:ext cx="6543779" cy="707886"/>
          </a:xfrm>
          <a:prstGeom prst="rect">
            <a:avLst/>
          </a:prstGeom>
          <a:noFill/>
          <a:ln>
            <a:noFill/>
          </a:ln>
          <a:effectLst/>
        </p:spPr>
        <p:txBody>
          <a:bodyPr wrap="none">
            <a:spAutoFit/>
          </a:bodyPr>
          <a:lstStyle>
            <a:lvl1pPr>
              <a:defRPr sz="2400">
                <a:solidFill>
                  <a:schemeClr val="tx1"/>
                </a:solidFill>
                <a:latin typeface="Tahoma"/>
              </a:defRPr>
            </a:lvl1pPr>
            <a:lvl2pPr marL="742950" indent="-285750">
              <a:defRPr sz="2400">
                <a:solidFill>
                  <a:schemeClr val="tx1"/>
                </a:solidFill>
                <a:latin typeface="Tahoma"/>
              </a:defRPr>
            </a:lvl2pPr>
            <a:lvl3pPr marL="1143000" indent="-228600">
              <a:defRPr sz="2400">
                <a:solidFill>
                  <a:schemeClr val="tx1"/>
                </a:solidFill>
                <a:latin typeface="Tahoma"/>
              </a:defRPr>
            </a:lvl3pPr>
            <a:lvl4pPr marL="1600200" indent="-228600">
              <a:defRPr sz="2400">
                <a:solidFill>
                  <a:schemeClr val="tx1"/>
                </a:solidFill>
                <a:latin typeface="Tahoma"/>
              </a:defRPr>
            </a:lvl4pPr>
            <a:lvl5pPr marL="2057400" indent="-228600">
              <a:defRPr sz="2400">
                <a:solidFill>
                  <a:schemeClr val="tx1"/>
                </a:solidFill>
                <a:latin typeface="Tahoma"/>
              </a:defRPr>
            </a:lvl5pPr>
            <a:lvl6pPr marL="2514600" indent="-228600">
              <a:spcBef>
                <a:spcPts val="0"/>
              </a:spcBef>
              <a:spcAft>
                <a:spcPts val="0"/>
              </a:spcAft>
              <a:defRPr sz="2400">
                <a:solidFill>
                  <a:schemeClr val="tx1"/>
                </a:solidFill>
                <a:latin typeface="Tahoma"/>
              </a:defRPr>
            </a:lvl6pPr>
            <a:lvl7pPr marL="2971800" indent="-228600">
              <a:spcBef>
                <a:spcPts val="0"/>
              </a:spcBef>
              <a:spcAft>
                <a:spcPts val="0"/>
              </a:spcAft>
              <a:defRPr sz="2400">
                <a:solidFill>
                  <a:schemeClr val="tx1"/>
                </a:solidFill>
                <a:latin typeface="Tahoma"/>
              </a:defRPr>
            </a:lvl7pPr>
            <a:lvl8pPr marL="3429000" indent="-228600">
              <a:spcBef>
                <a:spcPts val="0"/>
              </a:spcBef>
              <a:spcAft>
                <a:spcPts val="0"/>
              </a:spcAft>
              <a:defRPr sz="2400">
                <a:solidFill>
                  <a:schemeClr val="tx1"/>
                </a:solidFill>
                <a:latin typeface="Tahoma"/>
              </a:defRPr>
            </a:lvl8pPr>
            <a:lvl9pPr marL="3886200" indent="-228600">
              <a:spcBef>
                <a:spcPts val="0"/>
              </a:spcBef>
              <a:spcAft>
                <a:spcPts val="0"/>
              </a:spcAft>
              <a:defRPr sz="2400">
                <a:solidFill>
                  <a:schemeClr val="tx1"/>
                </a:solidFill>
                <a:latin typeface="Tahoma"/>
              </a:defRPr>
            </a:lvl9pPr>
          </a:lstStyle>
          <a:p>
            <a:pPr>
              <a:defRPr/>
            </a:pPr>
            <a:r>
              <a:rPr lang="ru-RU" sz="4000" b="1">
                <a:solidFill>
                  <a:schemeClr val="tx2"/>
                </a:solidFill>
                <a:latin typeface="+mn-lt"/>
              </a:rPr>
              <a:t>СПАСИБО ЗА ВНИМАНИЕ</a:t>
            </a:r>
            <a:endParaRPr/>
          </a:p>
        </p:txBody>
      </p:sp>
      <p:sp>
        <p:nvSpPr>
          <p:cNvPr id="5" name="TextBox 4"/>
          <p:cNvSpPr txBox="1"/>
          <p:nvPr/>
        </p:nvSpPr>
        <p:spPr bwMode="auto">
          <a:xfrm>
            <a:off x="11623040" y="6041727"/>
            <a:ext cx="595035" cy="584775"/>
          </a:xfrm>
          <a:prstGeom prst="rect">
            <a:avLst/>
          </a:prstGeom>
          <a:noFill/>
        </p:spPr>
        <p:txBody>
          <a:bodyPr wrap="none" rtlCol="0">
            <a:spAutoFit/>
          </a:bodyPr>
          <a:lstStyle/>
          <a:p>
            <a:pPr>
              <a:defRPr/>
            </a:pPr>
            <a:r>
              <a:rPr lang="ru-RU" sz="3200">
                <a:latin typeface="Times New Roman"/>
                <a:cs typeface="Times New Roman"/>
              </a:rPr>
              <a:t>12</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Легкий дым">
  <a:themeElements>
    <a:clrScheme name="Легкий дым">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Легкий дым">
      <a:majorFont>
        <a:latin typeface="Century Gothic"/>
        <a:ea typeface="Arial"/>
        <a:cs typeface="Arial"/>
      </a:majorFont>
      <a:minorFont>
        <a:latin typeface="Century Gothic"/>
        <a:ea typeface="Arial"/>
        <a:cs typeface="Arial"/>
      </a:minorFont>
    </a:fontScheme>
    <a:fmtScheme name="Легкий дым">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90000"/>
                <a:lumMod val="120000"/>
              </a:schemeClr>
            </a:gs>
            <a:gs pos="100000">
              <a:schemeClr val="phClr">
                <a:shade val="98000"/>
                <a:satMod val="120000"/>
                <a:lumMod val="98000"/>
              </a:schemeClr>
            </a:gs>
          </a:gsLst>
          <a:lin ang="5400000" scaled="0"/>
        </a:gradFill>
        <a:gradFill>
          <a:gsLst>
            <a:gs pos="0">
              <a:schemeClr val="phClr">
                <a:tint val="90000"/>
                <a:satMod val="92000"/>
                <a:lumMod val="120000"/>
              </a:schemeClr>
            </a:gs>
            <a:gs pos="100000">
              <a:schemeClr val="phClr">
                <a:shade val="98000"/>
                <a:satMod val="120000"/>
                <a:lumMod val="98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Arial"/>
        <a:cs typeface="Arial"/>
      </a:majorFont>
      <a:minorFont>
        <a:latin typeface="Calibri"/>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{AB0F6778-C1BE-8243-963E-DD2F3771AA18}tf10001069</Template>
  <TotalTime>0</TotalTime>
  <Words>0</Words>
  <Application>R7-Office/2024.1.1.375</Application>
  <DocSecurity>0</DocSecurity>
  <PresentationFormat>Широкоэкранный</PresentationFormat>
  <Paragraphs>0</Paragraphs>
  <Slides>19</Slides>
  <Notes>19</Notes>
  <HiddenSlides>0</HiddenSlides>
  <MMClips>2</MMClips>
  <ScaleCrop>0</ScaleCrop>
  <HeadingPairs>
    <vt:vector size="4" baseType="variant">
      <vt:variant>
        <vt:lpstr>Theme</vt:lpstr>
      </vt:variant>
      <vt:variant>
        <vt:i4>1</vt:i4>
      </vt:variant>
      <vt:variant>
        <vt:lpstr>Slide Titles</vt:lpstr>
      </vt:variant>
      <vt:variant>
        <vt:i4>19</vt:i4>
      </vt:variant>
    </vt:vector>
  </HeadingPairs>
  <TitlesOfParts>
    <vt:vector size="20"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Юрий</dc:creator>
  <cp:keywords/>
  <dc:description/>
  <dc:identifier/>
  <dc:language/>
  <cp:lastModifiedBy>Андрей Повалий</cp:lastModifiedBy>
  <cp:revision>67</cp:revision>
  <dcterms:created xsi:type="dcterms:W3CDTF">2019-07-24T12:59:31Z</dcterms:created>
  <dcterms:modified xsi:type="dcterms:W3CDTF">2025-06-13T06:08:33Z</dcterms:modified>
  <cp:category/>
  <cp:contentStatus/>
  <cp:version/>
</cp:coreProperties>
</file>